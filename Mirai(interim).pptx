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4" r:id="rId25"/>
    <p:sldId id="275" r:id="rId26"/>
    <p:sldId id="276" r:id="rId27"/>
    <p:sldId id="277" r:id="rId28"/>
    <p:sldId id="278" r:id="rId29"/>
    <p:sldId id="279" r:id="rId30"/>
    <p:sldId id="280" r:id="rId31"/>
    <p:sldId id="281" r:id="rId32"/>
    <p:sldId id="282" r:id="rId33"/>
    <p:sldId id="283" r:id="rId34"/>
    <p:sldId id="272" r:id="rId20"/>
    <p:sldId id="273"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27.xml"/><Relationship Id="rId21" Type="http://schemas.openxmlformats.org/officeDocument/2006/relationships/slide" Target="slides/slide28.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ableStyles" Target="tableStyles.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not the product. The panel are clinicians: the sentence they will remember is "the chart is ready before the patient sits down." Everything that follows is evidence for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Let them recognise the patient. Ask: how many of your 3:40 patients arrive like this? The point is not that doctors are slow. It is that the record is scattered, unsummarised and silent about what another department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frustrations, one root cause: the record exists but cannot be read quickly. Name the cost explicitly. Time is throughput. Money is repeat investigations and length of consult. Attention is the one they care about most: a decision made without the full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reframe. They have been sold "digital transformation" before and it meant replacing systems. Mirai does not. The hospital systems stay the system of record. Mirai is a reading layer that receives finalised results, the same way a lab sends a result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Paint the outcome. The three feelings are: calm (you are present with the patient), certainty (nothing from another department is missing), safety (allergy first, warning at prescribing). The tiles are the doctor home screen: they are the targets we designed to, and what the pilot will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screens, one principle: the QR identifies the patient; authentication and authorisation decide what the doctor can see. This is why the QR is safe to print on a card for patients without phones. Note the last caption: the hospital already holds the records it created, so its doctors get value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screen top to bottom. Priya Sharma, 34, type 2 diabetes. Point out that the brief ends with a suggested focus, not a diagnosis. Point 4 is the one to slow down on: the source line, the original PDF one tap away, and the fact that nothing generated ever enters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a hospital with departments. The same patient opened by two doctors produces two different briefs, each with the visuals that specialty needs. Neither doctor had to ask the other what changed. Emphasise: the beta-blocker up-titration from the opening story is on the endocrinologist’s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a clinician interrogates a record. The first answer is the important one: when there is no record, the system says there is no record. That behaviour, refusing rather than inventing, is what makes the AI usable in a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Senior clinicians will ask about safety before they ask about features. Show the allergy warning firing on the prescribing screen. Show that emergency access exists, is constrained, and is reviewed. Then the two sentences that matter: everything is audited, and the AI never writes 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Consent is a first-class object in Mirai: scoped by grantee, category, duration and purpose, and evaluated on every read. That is the Digital Personal Data Protection Act posture expressed as product behaviour rather than as a policy document. The "treating organisations" card matters to a hospital: your own records stay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person on the panel who runs the hospital. Three integrations on the admin screen: a modern LIS over FHIR, PACS over webhooks, and a legacy HIS over files. The error queue is the honest part: it shows failures instead of hiding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objections out loud before they do. The first one is the one that decides the room: the answer is grounding, claim-level verification, refusal over invention, citations, and the rule that the AI never writes to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Residency, contracts and the self-hosted option cover the data-sovereignty question. The liability answer is deliberately simple: nothing changes about who is responsible; what changes is that the responsible clinician now has the complete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grid. Let it sit and answer questions from it. The three targets at the bottom are engineering service-level objectives from the architecture, and the pilot will report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answers "why has nobody done this". The identity layer, the legal framework, the model capability and the device are all recent. Mirai is the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next step small and concrete. Two departments that already share patients, so the shared-care value shows in weeks. The ask has three parts and the first is not money: their clinical judgment shaping the test sets is what makes the AI safe in their hospital. State the investment figure verbally.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opening sentence. Then stop talking and take questions. The phone on screen is the cardiologist’s view of Ravi, the patient from slide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principle: the party that gains clinician time pays. Hospitals and labs are the payers; the patient holds the consent and never pays for the record. The numbering on the cards is used on the following slides.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tier table is the platform’s own isolation model priced. Pooled is self-serve and cheap because it is cheap to run. Dedicated is procurement-grade because residency, keys and identity federation are custom. Seats are counted on use, not on payroll, which is what a hospital will accept.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Per-brief pricing is honest because the brief is the unit of value. The pass-through structure means a cheaper model lowers the hospital’s bill, not only ours. Pre-computation on report.finalized is what makes the unit economics work.</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cheapest tenant to onboard and the one that most improves the hospital product. The pricing unit is the report because that is what the lab already counts.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plainly: we do not monetise the patient’s consent. The family plan exists because families ask for it, and it is priced to cover itself.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5 is the commercial engine: every enterprise contract is earned against thresholds the hospital’s own clinicians set. Model 6 is the same platform sold as a licence to bodies that must own their cell. Dedicated cells are a post-MVP tier; say so if asked.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are deliberately last. They depend on consent tooling that is a future capability in the design and on a legal review under the DPDPA. The revenue share with the hospital keeps the fiduciary aligned rather than bypassed.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 only on the slide; rupee figures belong in the term sheet after the pilot baseline, because seat counts and brief volumes are what the pilot measures.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page for questions. The readiness column is honest: models 1 to 3 rest on designed components; 4 to 6 on partly designed or commercial motions; 7 and 8 on future capabilities.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Year 1 is the pilot converting to a subscription. Year 2 is repeatable enterprise sales gated by measured thresholds, plus dedicated cells for networks and government. Year 3 is the consent-driven platform, deliberately last. The margin question is the AI cost per brief; pre-computation on report.finalized keeps it down.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60.png"/><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5.png"/><Relationship Id="rId3" Type="http://schemas.openxmlformats.org/officeDocument/2006/relationships/image" Target="../media/image67.png"/><Relationship Id="rId4" Type="http://schemas.openxmlformats.org/officeDocument/2006/relationships/image" Target="../media/image68.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46.png"/><Relationship Id="rId4"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10.png"/><Relationship Id="rId6"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4.png"/><Relationship Id="rId4" Type="http://schemas.openxmlformats.org/officeDocument/2006/relationships/image" Target="../media/image42.png"/><Relationship Id="rId5" Type="http://schemas.openxmlformats.org/officeDocument/2006/relationships/image" Target="../media/image75.png"/><Relationship Id="rId6"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png"/><Relationship Id="rId3" Type="http://schemas.openxmlformats.org/officeDocument/2006/relationships/image" Target="../media/image11.png"/><Relationship Id="rId4" Type="http://schemas.openxmlformats.org/officeDocument/2006/relationships/image" Target="../media/image43.png"/><Relationship Id="rId5" Type="http://schemas.openxmlformats.org/officeDocument/2006/relationships/image" Target="../media/image77.png"/><Relationship Id="rId6"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2.png"/><Relationship Id="rId3" Type="http://schemas.openxmlformats.org/officeDocument/2006/relationships/image" Target="../media/image58.png"/><Relationship Id="rId4"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0.png"/><Relationship Id="rId3" Type="http://schemas.openxmlformats.org/officeDocument/2006/relationships/image" Target="../media/image6.png"/><Relationship Id="rId4" Type="http://schemas.openxmlformats.org/officeDocument/2006/relationships/image" Target="../media/image81.png"/><Relationship Id="rId5"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notesSlide" Target="../notesSlides/notesSlide28.xml"/></Relationships>
</file>

<file path=ppt/slides/_rels/slide27.xml.rels><?xml version='1.0' encoding='UTF-8' standalone='yes'?>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28.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5.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2303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48640" y="685800"/>
            <a:ext cx="566928" cy="566928"/>
          </a:xfrm>
          <a:prstGeom prst="rect">
            <a:avLst/>
          </a:prstGeom>
        </p:spPr>
      </p:pic>
      <p:sp>
        <p:nvSpPr>
          <p:cNvPr id="3" name="Text 0"/>
          <p:cNvSpPr/>
          <p:nvPr/>
        </p:nvSpPr>
        <p:spPr>
          <a:xfrm>
            <a:off x="1261872" y="713232"/>
            <a:ext cx="2743200" cy="54864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Mirai</a:t>
            </a:r>
            <a:endParaRPr lang="en-US" sz="3000" dirty="0"/>
          </a:p>
        </p:txBody>
      </p:sp>
      <p:sp>
        <p:nvSpPr>
          <p:cNvPr id="4" name="Text 1"/>
          <p:cNvSpPr/>
          <p:nvPr/>
        </p:nvSpPr>
        <p:spPr>
          <a:xfrm>
            <a:off x="548640" y="2148840"/>
            <a:ext cx="6583680" cy="2011680"/>
          </a:xfrm>
          <a:prstGeom prst="rect">
            <a:avLst/>
          </a:prstGeom>
          <a:noFill/>
        </p:spPr>
        <p:txBody>
          <a:bodyPr wrap="square" lIns="0" tIns="0" rIns="0" bIns="0" rtlCol="0" anchor="t"/>
          <a:lstStyle/>
          <a:p>
            <a:pPr marL="0" indent="0">
              <a:lnSpc>
                <a:spcPct val="105000"/>
              </a:lnSpc>
              <a:buNone/>
            </a:pPr>
            <a:r>
              <a:rPr lang="en-US" sz="4400" dirty="0">
                <a:solidFill>
                  <a:srgbClr val="FFFFFF"/>
                </a:solidFill>
                <a:latin typeface="Cambria" pitchFamily="34" charset="0"/>
                <a:ea typeface="Cambria" pitchFamily="34" charset="-122"/>
                <a:cs typeface="Cambria" pitchFamily="34" charset="-120"/>
              </a:rPr>
              <a:t>The chart is ready before the patient sits down.</a:t>
            </a:r>
            <a:endParaRPr lang="en-US" sz="4400" dirty="0"/>
          </a:p>
        </p:txBody>
      </p:sp>
      <p:sp>
        <p:nvSpPr>
          <p:cNvPr id="5" name="Text 2"/>
          <p:cNvSpPr/>
          <p:nvPr/>
        </p:nvSpPr>
        <p:spPr>
          <a:xfrm>
            <a:off x="548640" y="4343400"/>
            <a:ext cx="6583680" cy="365760"/>
          </a:xfrm>
          <a:prstGeom prst="rect">
            <a:avLst/>
          </a:prstGeom>
          <a:noFill/>
        </p:spPr>
        <p:txBody>
          <a:bodyPr wrap="square" lIns="0" tIns="0" rIns="0" bIns="0" rtlCol="0" anchor="t"/>
          <a:lstStyle/>
          <a:p>
            <a:pPr marL="0" indent="0">
              <a:buNone/>
            </a:pPr>
            <a:r>
              <a:rPr lang="en-US" sz="1600" dirty="0">
                <a:solidFill>
                  <a:srgbClr val="61AFDA"/>
                </a:solidFill>
                <a:latin typeface="Calibri" pitchFamily="34" charset="0"/>
                <a:ea typeface="Calibri" pitchFamily="34" charset="-122"/>
                <a:cs typeface="Calibri" pitchFamily="34" charset="-120"/>
              </a:rPr>
              <a:t>One patient · one identity · one QR · complete history · controlled access</a:t>
            </a:r>
            <a:endParaRPr lang="en-US" sz="1600" dirty="0"/>
          </a:p>
        </p:txBody>
      </p:sp>
      <p:sp>
        <p:nvSpPr>
          <p:cNvPr id="6" name="Text 3"/>
          <p:cNvSpPr/>
          <p:nvPr/>
        </p:nvSpPr>
        <p:spPr>
          <a:xfrm>
            <a:off x="548640" y="4754880"/>
            <a:ext cx="6400800" cy="640080"/>
          </a:xfrm>
          <a:prstGeom prst="rect">
            <a:avLst/>
          </a:prstGeom>
          <a:noFill/>
        </p:spPr>
        <p:txBody>
          <a:bodyPr wrap="square" lIns="0" tIns="0" rIns="0" bIns="0" rtlCol="0" anchor="t"/>
          <a:lstStyle/>
          <a:p>
            <a:pPr marL="0" indent="0">
              <a:lnSpc>
                <a:spcPct val="115000"/>
              </a:lnSpc>
              <a:buNone/>
            </a:pPr>
            <a:r>
              <a:rPr lang="en-US" sz="1400" dirty="0">
                <a:solidFill>
                  <a:srgbClr val="C9D3DC"/>
                </a:solidFill>
                <a:latin typeface="Calibri" pitchFamily="34" charset="0"/>
                <a:ea typeface="Calibri" pitchFamily="34" charset="-122"/>
                <a:cs typeface="Calibri" pitchFamily="34" charset="-120"/>
              </a:rPr>
              <a:t>A patient-centric health record with clinical AI, built on top of the hospital systems you already run.</a:t>
            </a:r>
            <a:endParaRPr lang="en-US" sz="1400" dirty="0"/>
          </a:p>
        </p:txBody>
      </p:sp>
      <p:sp>
        <p:nvSpPr>
          <p:cNvPr id="7" name="Text 4"/>
          <p:cNvSpPr/>
          <p:nvPr/>
        </p:nvSpPr>
        <p:spPr>
          <a:xfrm>
            <a:off x="548640" y="6035040"/>
            <a:ext cx="6400800" cy="274320"/>
          </a:xfrm>
          <a:prstGeom prst="rect">
            <a:avLst/>
          </a:prstGeom>
          <a:noFill/>
        </p:spPr>
        <p:txBody>
          <a:bodyPr wrap="square" lIns="0" tIns="0" rIns="0" bIns="0" rtlCol="0" anchor="t"/>
          <a:lstStyle/>
          <a:p>
            <a:pPr marL="0" indent="0">
              <a:buNone/>
            </a:pPr>
            <a:r>
              <a:rPr lang="en-US" sz="1100" dirty="0">
                <a:solidFill>
                  <a:srgbClr val="8FA1B0"/>
                </a:solidFill>
                <a:latin typeface="Calibri" pitchFamily="34" charset="0"/>
                <a:ea typeface="Calibri" pitchFamily="34" charset="-122"/>
                <a:cs typeface="Calibri" pitchFamily="34" charset="-120"/>
              </a:rPr>
              <a:t>Briefing for the clinical investor panel · September 2026</a:t>
            </a:r>
            <a:endParaRPr lang="en-US" sz="1100" dirty="0"/>
          </a:p>
        </p:txBody>
      </p:sp>
      <p:pic>
        <p:nvPicPr>
          <p:cNvPr id="8" name="Image 1" descr="preencoded.png"/>
          <p:cNvPicPr>
            <a:picLocks noChangeAspect="1"/>
          </p:cNvPicPr>
          <p:nvPr/>
        </p:nvPicPr>
        <p:blipFill>
          <a:blip r:embed="rId2"/>
          <a:stretch>
            <a:fillRect/>
          </a:stretch>
        </p:blipFill>
        <p:spPr>
          <a:xfrm>
            <a:off x="7635240" y="1417320"/>
            <a:ext cx="2313202" cy="5029200"/>
          </a:xfrm>
          <a:prstGeom prst="rect">
            <a:avLst/>
          </a:prstGeom>
          <a:effectLst>
            <a:outerShdw blurRad="101600" dist="25400" dir="5400000" algn="bl" rotWithShape="0">
              <a:srgbClr val="22303C">
                <a:alpha val="10000"/>
              </a:srgbClr>
            </a:outerShdw>
          </a:effectLst>
        </p:spPr>
      </p:pic>
      <p:pic>
        <p:nvPicPr>
          <p:cNvPr id="9" name="Image 2" descr="preencoded.png"/>
          <p:cNvPicPr>
            <a:picLocks noChangeAspect="1"/>
          </p:cNvPicPr>
          <p:nvPr/>
        </p:nvPicPr>
        <p:blipFill>
          <a:blip r:embed="rId3"/>
          <a:stretch>
            <a:fillRect/>
          </a:stretch>
        </p:blipFill>
        <p:spPr>
          <a:xfrm>
            <a:off x="9281160" y="685800"/>
            <a:ext cx="2691726" cy="5852160"/>
          </a:xfrm>
          <a:prstGeom prst="rect">
            <a:avLst/>
          </a:prstGeom>
          <a:effectLst>
            <a:outerShdw blurRad="101600" dist="25400" dir="5400000" algn="bl" rotWithShape="0">
              <a:srgbClr val="22303C">
                <a:alpha val="1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OPD, TODAY</a:t>
            </a:r>
            <a:endParaRPr lang="en-US" sz="1050" dirty="0"/>
          </a:p>
        </p:txBody>
      </p:sp>
      <p:sp>
        <p:nvSpPr>
          <p:cNvPr id="3" name="Text 1"/>
          <p:cNvSpPr/>
          <p:nvPr/>
        </p:nvSpPr>
        <p:spPr>
          <a:xfrm>
            <a:off x="548640" y="822960"/>
            <a:ext cx="7498080" cy="1554480"/>
          </a:xfrm>
          <a:prstGeom prst="rect">
            <a:avLst/>
          </a:prstGeom>
          <a:noFill/>
        </p:spPr>
        <p:txBody>
          <a:bodyPr wrap="square" lIns="0" tIns="0" rIns="0" bIns="0" rtlCol="0" anchor="t"/>
          <a:lstStyle/>
          <a:p>
            <a:pPr marL="0" indent="0">
              <a:lnSpc>
                <a:spcPct val="108000"/>
              </a:lnSpc>
              <a:buNone/>
            </a:pPr>
            <a:r>
              <a:rPr lang="en-US" sz="3000" dirty="0">
                <a:solidFill>
                  <a:srgbClr val="22303C"/>
                </a:solidFill>
                <a:latin typeface="Cambria" pitchFamily="34" charset="0"/>
                <a:ea typeface="Cambria" pitchFamily="34" charset="-122"/>
                <a:cs typeface="Cambria" pitchFamily="34" charset="-120"/>
              </a:rPr>
              <a:t>Ravi, 62. Stented in February. Diabetic since 2019. He is your 3:40 patient.</a:t>
            </a:r>
            <a:endParaRPr lang="en-US" sz="3000" dirty="0"/>
          </a:p>
        </p:txBody>
      </p:sp>
      <p:sp>
        <p:nvSpPr>
          <p:cNvPr id="4" name="Text 2"/>
          <p:cNvSpPr/>
          <p:nvPr/>
        </p:nvSpPr>
        <p:spPr>
          <a:xfrm>
            <a:off x="548640" y="2514600"/>
            <a:ext cx="6035040" cy="2103120"/>
          </a:xfrm>
          <a:prstGeom prst="rect">
            <a:avLst/>
          </a:prstGeom>
          <a:noFill/>
        </p:spPr>
        <p:txBody>
          <a:bodyPr wrap="square" lIns="0" tIns="0" rIns="0" bIns="0" rtlCol="0" anchor="t"/>
          <a:lstStyle/>
          <a:p>
            <a:pPr marL="0" indent="0">
              <a:lnSpc>
                <a:spcPct val="120000"/>
              </a:lnSpc>
              <a:buNone/>
            </a:pPr>
            <a:r>
              <a:rPr lang="en-US" sz="1500" dirty="0">
                <a:solidFill>
                  <a:srgbClr val="3A4756"/>
                </a:solidFill>
                <a:latin typeface="Calibri" pitchFamily="34" charset="0"/>
                <a:ea typeface="Calibri" pitchFamily="34" charset="-122"/>
                <a:cs typeface="Calibri" pitchFamily="34" charset="-120"/>
              </a:rPr>
              <a:t>He arrives with a carry bag: an angiogram report from another hospital, two WhatsApp photos of prescriptions, a discharge summary from February, and last week’s HbA1c from a lab you do not use.</a:t>
            </a:r>
            <a:endParaRPr lang="en-US" sz="1500" dirty="0"/>
          </a:p>
          <a:p>
            <a:pPr marL="0" indent="0">
              <a:lnSpc>
                <a:spcPct val="120000"/>
              </a:lnSpc>
              <a:buNone/>
            </a:pPr>
            <a:r>
              <a:rPr lang="en-US" sz="600" dirty="0">
                <a:solidFill>
                  <a:srgbClr val="3A4756"/>
                </a:solidFill>
                <a:latin typeface="Calibri" pitchFamily="34" charset="0"/>
                <a:ea typeface="Calibri" pitchFamily="34" charset="-122"/>
                <a:cs typeface="Calibri" pitchFamily="34" charset="-120"/>
              </a:rPr>
              <a:t> </a:t>
            </a:r>
            <a:endParaRPr lang="en-US" sz="1500" dirty="0"/>
          </a:p>
          <a:p>
            <a:pPr marL="0" indent="0">
              <a:lnSpc>
                <a:spcPct val="120000"/>
              </a:lnSpc>
              <a:buNone/>
            </a:pPr>
            <a:r>
              <a:rPr lang="en-US" sz="1500" dirty="0">
                <a:solidFill>
                  <a:srgbClr val="3A4756"/>
                </a:solidFill>
                <a:latin typeface="Calibri" pitchFamily="34" charset="0"/>
                <a:ea typeface="Calibri" pitchFamily="34" charset="-122"/>
                <a:cs typeface="Calibri" pitchFamily="34" charset="-120"/>
              </a:rPr>
              <a:t>His cardiologist changed the beta-blocker dose on the 20th. Nobody told you. The file says nothing.</a:t>
            </a:r>
            <a:endParaRPr lang="en-US" sz="1500" dirty="0"/>
          </a:p>
          <a:p>
            <a:pPr marL="0" indent="0">
              <a:lnSpc>
                <a:spcPct val="120000"/>
              </a:lnSpc>
              <a:buNone/>
            </a:pPr>
            <a:r>
              <a:rPr lang="en-US" sz="600" dirty="0">
                <a:solidFill>
                  <a:srgbClr val="3A4756"/>
                </a:solidFill>
                <a:latin typeface="Calibri" pitchFamily="34" charset="0"/>
                <a:ea typeface="Calibri" pitchFamily="34" charset="-122"/>
                <a:cs typeface="Calibri" pitchFamily="34" charset="-120"/>
              </a:rPr>
              <a:t> </a:t>
            </a:r>
            <a:endParaRPr lang="en-US" sz="1500" dirty="0"/>
          </a:p>
          <a:p>
            <a:pPr marL="0" indent="0">
              <a:lnSpc>
                <a:spcPct val="120000"/>
              </a:lnSpc>
              <a:buNone/>
            </a:pPr>
            <a:r>
              <a:rPr lang="en-US" sz="1500" b="1" dirty="0">
                <a:solidFill>
                  <a:srgbClr val="3A4756"/>
                </a:solidFill>
                <a:latin typeface="Calibri" pitchFamily="34" charset="0"/>
                <a:ea typeface="Calibri" pitchFamily="34" charset="-122"/>
                <a:cs typeface="Calibri" pitchFamily="34" charset="-120"/>
              </a:rPr>
              <a:t>You have eight minutes. The first four go to reading.</a:t>
            </a:r>
            <a:endParaRPr lang="en-US" sz="1500" dirty="0"/>
          </a:p>
        </p:txBody>
      </p:sp>
      <p:sp>
        <p:nvSpPr>
          <p:cNvPr id="5" name="Shape 3"/>
          <p:cNvSpPr/>
          <p:nvPr/>
        </p:nvSpPr>
        <p:spPr>
          <a:xfrm>
            <a:off x="7726680" y="868680"/>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6" name="Image 0" descr="preencoded.png"/>
          <p:cNvPicPr>
            <a:picLocks noChangeAspect="1"/>
          </p:cNvPicPr>
          <p:nvPr/>
        </p:nvPicPr>
        <p:blipFill>
          <a:blip r:embed="rId1"/>
          <a:stretch>
            <a:fillRect/>
          </a:stretch>
        </p:blipFill>
        <p:spPr>
          <a:xfrm>
            <a:off x="7882128" y="1024128"/>
            <a:ext cx="365760" cy="365760"/>
          </a:xfrm>
          <a:prstGeom prst="rect">
            <a:avLst/>
          </a:prstGeom>
        </p:spPr>
      </p:pic>
      <p:sp>
        <p:nvSpPr>
          <p:cNvPr id="7" name="Text 4"/>
          <p:cNvSpPr/>
          <p:nvPr/>
        </p:nvSpPr>
        <p:spPr>
          <a:xfrm>
            <a:off x="8366760" y="987552"/>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Angiogram report</a:t>
            </a:r>
            <a:endParaRPr lang="en-US" sz="1350" dirty="0"/>
          </a:p>
        </p:txBody>
      </p:sp>
      <p:sp>
        <p:nvSpPr>
          <p:cNvPr id="8" name="Text 5"/>
          <p:cNvSpPr/>
          <p:nvPr/>
        </p:nvSpPr>
        <p:spPr>
          <a:xfrm>
            <a:off x="8366760" y="1234440"/>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Other hospital · paper</a:t>
            </a:r>
            <a:endParaRPr lang="en-US" sz="1100" dirty="0"/>
          </a:p>
        </p:txBody>
      </p:sp>
      <p:sp>
        <p:nvSpPr>
          <p:cNvPr id="9" name="Shape 6"/>
          <p:cNvSpPr/>
          <p:nvPr/>
        </p:nvSpPr>
        <p:spPr>
          <a:xfrm>
            <a:off x="7726680" y="1655064"/>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0" name="Image 1" descr="preencoded.png"/>
          <p:cNvPicPr>
            <a:picLocks noChangeAspect="1"/>
          </p:cNvPicPr>
          <p:nvPr/>
        </p:nvPicPr>
        <p:blipFill>
          <a:blip r:embed="rId2"/>
          <a:stretch>
            <a:fillRect/>
          </a:stretch>
        </p:blipFill>
        <p:spPr>
          <a:xfrm>
            <a:off x="7882128" y="1810512"/>
            <a:ext cx="365760" cy="365760"/>
          </a:xfrm>
          <a:prstGeom prst="rect">
            <a:avLst/>
          </a:prstGeom>
        </p:spPr>
      </p:pic>
      <p:sp>
        <p:nvSpPr>
          <p:cNvPr id="11" name="Text 7"/>
          <p:cNvSpPr/>
          <p:nvPr/>
        </p:nvSpPr>
        <p:spPr>
          <a:xfrm>
            <a:off x="8366760" y="1773936"/>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Prescription</a:t>
            </a:r>
            <a:endParaRPr lang="en-US" sz="1350" dirty="0"/>
          </a:p>
        </p:txBody>
      </p:sp>
      <p:sp>
        <p:nvSpPr>
          <p:cNvPr id="12" name="Text 8"/>
          <p:cNvSpPr/>
          <p:nvPr/>
        </p:nvSpPr>
        <p:spPr>
          <a:xfrm>
            <a:off x="8366760" y="2020824"/>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WhatsApp photo</a:t>
            </a:r>
            <a:endParaRPr lang="en-US" sz="1100" dirty="0"/>
          </a:p>
        </p:txBody>
      </p:sp>
      <p:sp>
        <p:nvSpPr>
          <p:cNvPr id="13" name="Shape 9"/>
          <p:cNvSpPr/>
          <p:nvPr/>
        </p:nvSpPr>
        <p:spPr>
          <a:xfrm>
            <a:off x="7726680" y="2441448"/>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4" name="Image 2" descr="preencoded.png"/>
          <p:cNvPicPr>
            <a:picLocks noChangeAspect="1"/>
          </p:cNvPicPr>
          <p:nvPr/>
        </p:nvPicPr>
        <p:blipFill>
          <a:blip r:embed="rId1"/>
          <a:stretch>
            <a:fillRect/>
          </a:stretch>
        </p:blipFill>
        <p:spPr>
          <a:xfrm>
            <a:off x="7882128" y="2596896"/>
            <a:ext cx="365760" cy="365760"/>
          </a:xfrm>
          <a:prstGeom prst="rect">
            <a:avLst/>
          </a:prstGeom>
        </p:spPr>
      </p:pic>
      <p:sp>
        <p:nvSpPr>
          <p:cNvPr id="15" name="Text 10"/>
          <p:cNvSpPr/>
          <p:nvPr/>
        </p:nvSpPr>
        <p:spPr>
          <a:xfrm>
            <a:off x="8366760" y="2560320"/>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Discharge summary</a:t>
            </a:r>
            <a:endParaRPr lang="en-US" sz="1350" dirty="0"/>
          </a:p>
        </p:txBody>
      </p:sp>
      <p:sp>
        <p:nvSpPr>
          <p:cNvPr id="16" name="Text 11"/>
          <p:cNvSpPr/>
          <p:nvPr/>
        </p:nvSpPr>
        <p:spPr>
          <a:xfrm>
            <a:off x="8366760" y="2807208"/>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February · scanned PDF</a:t>
            </a:r>
            <a:endParaRPr lang="en-US" sz="1100" dirty="0"/>
          </a:p>
        </p:txBody>
      </p:sp>
      <p:sp>
        <p:nvSpPr>
          <p:cNvPr id="17" name="Shape 12"/>
          <p:cNvSpPr/>
          <p:nvPr/>
        </p:nvSpPr>
        <p:spPr>
          <a:xfrm>
            <a:off x="7726680" y="3227832"/>
            <a:ext cx="3931920" cy="676656"/>
          </a:xfrm>
          <a:prstGeom prst="roundRect">
            <a:avLst>
              <a:gd name="adj" fmla="val 1621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8" name="Image 3" descr="preencoded.png"/>
          <p:cNvPicPr>
            <a:picLocks noChangeAspect="1"/>
          </p:cNvPicPr>
          <p:nvPr/>
        </p:nvPicPr>
        <p:blipFill>
          <a:blip r:embed="rId3"/>
          <a:stretch>
            <a:fillRect/>
          </a:stretch>
        </p:blipFill>
        <p:spPr>
          <a:xfrm>
            <a:off x="7882128" y="3383280"/>
            <a:ext cx="365760" cy="365760"/>
          </a:xfrm>
          <a:prstGeom prst="rect">
            <a:avLst/>
          </a:prstGeom>
        </p:spPr>
      </p:pic>
      <p:sp>
        <p:nvSpPr>
          <p:cNvPr id="19" name="Text 13"/>
          <p:cNvSpPr/>
          <p:nvPr/>
        </p:nvSpPr>
        <p:spPr>
          <a:xfrm>
            <a:off x="8366760" y="3346704"/>
            <a:ext cx="320040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HbA1c</a:t>
            </a:r>
            <a:endParaRPr lang="en-US" sz="1350" dirty="0"/>
          </a:p>
        </p:txBody>
      </p:sp>
      <p:sp>
        <p:nvSpPr>
          <p:cNvPr id="20" name="Text 14"/>
          <p:cNvSpPr/>
          <p:nvPr/>
        </p:nvSpPr>
        <p:spPr>
          <a:xfrm>
            <a:off x="8366760" y="3593592"/>
            <a:ext cx="3200400" cy="256032"/>
          </a:xfrm>
          <a:prstGeom prst="rect">
            <a:avLst/>
          </a:prstGeom>
          <a:noFill/>
        </p:spPr>
        <p:txBody>
          <a:bodyPr wrap="square" lIns="0" tIns="0" rIns="0" bIns="0" rtlCol="0" anchor="t"/>
          <a:lstStyle/>
          <a:p>
            <a:pPr marL="0" indent="0">
              <a:buNone/>
            </a:pPr>
            <a:r>
              <a:rPr lang="en-US" sz="1100" dirty="0">
                <a:solidFill>
                  <a:srgbClr val="7D868E"/>
                </a:solidFill>
                <a:latin typeface="Calibri" pitchFamily="34" charset="0"/>
                <a:ea typeface="Calibri" pitchFamily="34" charset="-122"/>
                <a:cs typeface="Calibri" pitchFamily="34" charset="-120"/>
              </a:rPr>
              <a:t>Outside lab · SMS link</a:t>
            </a:r>
            <a:endParaRPr lang="en-US" sz="1100" dirty="0"/>
          </a:p>
        </p:txBody>
      </p:sp>
      <p:sp>
        <p:nvSpPr>
          <p:cNvPr id="21" name="Shape 15"/>
          <p:cNvSpPr/>
          <p:nvPr/>
        </p:nvSpPr>
        <p:spPr>
          <a:xfrm>
            <a:off x="7726680" y="4014216"/>
            <a:ext cx="3931920" cy="676656"/>
          </a:xfrm>
          <a:prstGeom prst="roundRect">
            <a:avLst>
              <a:gd name="adj" fmla="val 16216"/>
            </a:avLst>
          </a:prstGeom>
          <a:solidFill>
            <a:srgbClr val="FFE7E4"/>
          </a:solidFill>
          <a:ln w="9525">
            <a:solidFill>
              <a:srgbClr val="F2B8B5"/>
            </a:solidFill>
            <a:prstDash val="solid"/>
          </a:ln>
          <a:effectLst>
            <a:outerShdw blurRad="101600" dist="25400" dir="5400000" algn="bl" rotWithShape="0">
              <a:srgbClr val="22303C">
                <a:alpha val="10000"/>
              </a:srgbClr>
            </a:outerShdw>
          </a:effectLst>
        </p:spPr>
      </p:sp>
      <p:pic>
        <p:nvPicPr>
          <p:cNvPr id="22" name="Image 4" descr="preencoded.png"/>
          <p:cNvPicPr>
            <a:picLocks noChangeAspect="1"/>
          </p:cNvPicPr>
          <p:nvPr/>
        </p:nvPicPr>
        <p:blipFill>
          <a:blip r:embed="rId4"/>
          <a:stretch>
            <a:fillRect/>
          </a:stretch>
        </p:blipFill>
        <p:spPr>
          <a:xfrm>
            <a:off x="7882128" y="4169664"/>
            <a:ext cx="365760" cy="365760"/>
          </a:xfrm>
          <a:prstGeom prst="rect">
            <a:avLst/>
          </a:prstGeom>
        </p:spPr>
      </p:pic>
      <p:sp>
        <p:nvSpPr>
          <p:cNvPr id="23" name="Text 16"/>
          <p:cNvSpPr/>
          <p:nvPr/>
        </p:nvSpPr>
        <p:spPr>
          <a:xfrm>
            <a:off x="8366760" y="4133088"/>
            <a:ext cx="3200400" cy="274320"/>
          </a:xfrm>
          <a:prstGeom prst="rect">
            <a:avLst/>
          </a:prstGeom>
          <a:noFill/>
        </p:spPr>
        <p:txBody>
          <a:bodyPr wrap="square" lIns="0" tIns="0" rIns="0" bIns="0" rtlCol="0" anchor="t"/>
          <a:lstStyle/>
          <a:p>
            <a:pPr marL="0" indent="0">
              <a:buNone/>
            </a:pPr>
            <a:r>
              <a:rPr lang="en-US" sz="1350" b="1" dirty="0">
                <a:solidFill>
                  <a:srgbClr val="8D1A1E"/>
                </a:solidFill>
                <a:latin typeface="Calibri" pitchFamily="34" charset="0"/>
                <a:ea typeface="Calibri" pitchFamily="34" charset="-122"/>
                <a:cs typeface="Calibri" pitchFamily="34" charset="-120"/>
              </a:rPr>
              <a:t>Beta-blocker change</a:t>
            </a:r>
            <a:endParaRPr lang="en-US" sz="1350" dirty="0"/>
          </a:p>
        </p:txBody>
      </p:sp>
      <p:sp>
        <p:nvSpPr>
          <p:cNvPr id="24" name="Text 17"/>
          <p:cNvSpPr/>
          <p:nvPr/>
        </p:nvSpPr>
        <p:spPr>
          <a:xfrm>
            <a:off x="8366760" y="4379976"/>
            <a:ext cx="3200400" cy="256032"/>
          </a:xfrm>
          <a:prstGeom prst="rect">
            <a:avLst/>
          </a:prstGeom>
          <a:noFill/>
        </p:spPr>
        <p:txBody>
          <a:bodyPr wrap="square" lIns="0" tIns="0" rIns="0" bIns="0" rtlCol="0" anchor="t"/>
          <a:lstStyle/>
          <a:p>
            <a:pPr marL="0" indent="0">
              <a:buNone/>
            </a:pPr>
            <a:r>
              <a:rPr lang="en-US" sz="1100" dirty="0">
                <a:solidFill>
                  <a:srgbClr val="8D1A1E"/>
                </a:solidFill>
                <a:latin typeface="Calibri" pitchFamily="34" charset="0"/>
                <a:ea typeface="Calibri" pitchFamily="34" charset="-122"/>
                <a:cs typeface="Calibri" pitchFamily="34" charset="-120"/>
              </a:rPr>
              <a:t>Cardiology OPD · not in your file</a:t>
            </a:r>
            <a:endParaRPr lang="en-US" sz="1100" dirty="0"/>
          </a:p>
        </p:txBody>
      </p:sp>
      <p:sp>
        <p:nvSpPr>
          <p:cNvPr id="25" name="Shape 18"/>
          <p:cNvSpPr/>
          <p:nvPr/>
        </p:nvSpPr>
        <p:spPr>
          <a:xfrm>
            <a:off x="548640" y="5074920"/>
            <a:ext cx="2131101" cy="566928"/>
          </a:xfrm>
          <a:prstGeom prst="roundRect">
            <a:avLst>
              <a:gd name="adj" fmla="val 12903"/>
            </a:avLst>
          </a:prstGeom>
          <a:solidFill>
            <a:srgbClr val="E4DFD5"/>
          </a:solidFill>
          <a:ln w="12700">
            <a:solidFill>
              <a:srgbClr val="E4DFD5"/>
            </a:solidFill>
            <a:prstDash val="solid"/>
          </a:ln>
        </p:spPr>
      </p:sp>
      <p:sp>
        <p:nvSpPr>
          <p:cNvPr id="26" name="Text 19"/>
          <p:cNvSpPr/>
          <p:nvPr/>
        </p:nvSpPr>
        <p:spPr>
          <a:xfrm>
            <a:off x="658368" y="5074920"/>
            <a:ext cx="1911645" cy="566928"/>
          </a:xfrm>
          <a:prstGeom prst="rect">
            <a:avLst/>
          </a:prstGeom>
          <a:noFill/>
        </p:spPr>
        <p:txBody>
          <a:bodyPr wrap="square" lIns="0" tIns="0" rIns="0" bIns="0" rtlCol="0" anchor="ctr"/>
          <a:lstStyle/>
          <a:p>
            <a:pPr marL="0" indent="0" algn="ctr">
              <a:buNone/>
            </a:pPr>
            <a:r>
              <a:rPr lang="en-US" sz="1250" b="1" dirty="0">
                <a:solidFill>
                  <a:srgbClr val="5C6873"/>
                </a:solidFill>
                <a:latin typeface="Calibri" pitchFamily="34" charset="0"/>
                <a:ea typeface="Calibri" pitchFamily="34" charset="-122"/>
                <a:cs typeface="Calibri" pitchFamily="34" charset="-120"/>
              </a:rPr>
              <a:t>Find the papers</a:t>
            </a:r>
            <a:endParaRPr lang="en-US" sz="1250" dirty="0"/>
          </a:p>
        </p:txBody>
      </p:sp>
      <p:sp>
        <p:nvSpPr>
          <p:cNvPr id="27" name="Shape 20"/>
          <p:cNvSpPr/>
          <p:nvPr/>
        </p:nvSpPr>
        <p:spPr>
          <a:xfrm>
            <a:off x="2789469" y="5074920"/>
            <a:ext cx="2131101" cy="566928"/>
          </a:xfrm>
          <a:prstGeom prst="roundRect">
            <a:avLst>
              <a:gd name="adj" fmla="val 12903"/>
            </a:avLst>
          </a:prstGeom>
          <a:solidFill>
            <a:srgbClr val="E4DFD5"/>
          </a:solidFill>
          <a:ln w="12700">
            <a:solidFill>
              <a:srgbClr val="E4DFD5"/>
            </a:solidFill>
            <a:prstDash val="solid"/>
          </a:ln>
        </p:spPr>
      </p:sp>
      <p:sp>
        <p:nvSpPr>
          <p:cNvPr id="28" name="Text 21"/>
          <p:cNvSpPr/>
          <p:nvPr/>
        </p:nvSpPr>
        <p:spPr>
          <a:xfrm>
            <a:off x="2899197" y="5074920"/>
            <a:ext cx="1911645" cy="566928"/>
          </a:xfrm>
          <a:prstGeom prst="rect">
            <a:avLst/>
          </a:prstGeom>
          <a:noFill/>
        </p:spPr>
        <p:txBody>
          <a:bodyPr wrap="square" lIns="0" tIns="0" rIns="0" bIns="0" rtlCol="0" anchor="ctr"/>
          <a:lstStyle/>
          <a:p>
            <a:pPr marL="0" indent="0" algn="ctr">
              <a:buNone/>
            </a:pPr>
            <a:r>
              <a:rPr lang="en-US" sz="1250" b="1" dirty="0">
                <a:solidFill>
                  <a:srgbClr val="5C6873"/>
                </a:solidFill>
                <a:latin typeface="Calibri" pitchFamily="34" charset="0"/>
                <a:ea typeface="Calibri" pitchFamily="34" charset="-122"/>
                <a:cs typeface="Calibri" pitchFamily="34" charset="-120"/>
              </a:rPr>
              <a:t>Read them</a:t>
            </a:r>
            <a:endParaRPr lang="en-US" sz="1250" dirty="0"/>
          </a:p>
        </p:txBody>
      </p:sp>
      <p:sp>
        <p:nvSpPr>
          <p:cNvPr id="29" name="Shape 22"/>
          <p:cNvSpPr/>
          <p:nvPr/>
        </p:nvSpPr>
        <p:spPr>
          <a:xfrm>
            <a:off x="5030297" y="5074920"/>
            <a:ext cx="2131101" cy="566928"/>
          </a:xfrm>
          <a:prstGeom prst="roundRect">
            <a:avLst>
              <a:gd name="adj" fmla="val 12903"/>
            </a:avLst>
          </a:prstGeom>
          <a:solidFill>
            <a:srgbClr val="E4DFD5"/>
          </a:solidFill>
          <a:ln w="12700">
            <a:solidFill>
              <a:srgbClr val="E4DFD5"/>
            </a:solidFill>
            <a:prstDash val="solid"/>
          </a:ln>
        </p:spPr>
      </p:sp>
      <p:sp>
        <p:nvSpPr>
          <p:cNvPr id="30" name="Text 23"/>
          <p:cNvSpPr/>
          <p:nvPr/>
        </p:nvSpPr>
        <p:spPr>
          <a:xfrm>
            <a:off x="5140025" y="5074920"/>
            <a:ext cx="1911645" cy="566928"/>
          </a:xfrm>
          <a:prstGeom prst="rect">
            <a:avLst/>
          </a:prstGeom>
          <a:noFill/>
        </p:spPr>
        <p:txBody>
          <a:bodyPr wrap="square" lIns="0" tIns="0" rIns="0" bIns="0" rtlCol="0" anchor="ctr"/>
          <a:lstStyle/>
          <a:p>
            <a:pPr marL="0" indent="0" algn="ctr">
              <a:buNone/>
            </a:pPr>
            <a:r>
              <a:rPr lang="en-US" sz="1250" b="1" dirty="0">
                <a:solidFill>
                  <a:srgbClr val="5C6873"/>
                </a:solidFill>
                <a:latin typeface="Calibri" pitchFamily="34" charset="0"/>
                <a:ea typeface="Calibri" pitchFamily="34" charset="-122"/>
                <a:cs typeface="Calibri" pitchFamily="34" charset="-120"/>
              </a:rPr>
              <a:t>Reconcile what changed</a:t>
            </a:r>
            <a:endParaRPr lang="en-US" sz="1250" dirty="0"/>
          </a:p>
        </p:txBody>
      </p:sp>
      <p:sp>
        <p:nvSpPr>
          <p:cNvPr id="31" name="Shape 24"/>
          <p:cNvSpPr/>
          <p:nvPr/>
        </p:nvSpPr>
        <p:spPr>
          <a:xfrm>
            <a:off x="7271126" y="5074920"/>
            <a:ext cx="2131101" cy="566928"/>
          </a:xfrm>
          <a:prstGeom prst="roundRect">
            <a:avLst>
              <a:gd name="adj" fmla="val 12903"/>
            </a:avLst>
          </a:prstGeom>
          <a:solidFill>
            <a:srgbClr val="0072A8"/>
          </a:solidFill>
          <a:ln w="12700">
            <a:solidFill>
              <a:srgbClr val="0072A8"/>
            </a:solidFill>
            <a:prstDash val="solid"/>
          </a:ln>
        </p:spPr>
      </p:sp>
      <p:sp>
        <p:nvSpPr>
          <p:cNvPr id="32" name="Text 25"/>
          <p:cNvSpPr/>
          <p:nvPr/>
        </p:nvSpPr>
        <p:spPr>
          <a:xfrm>
            <a:off x="7380854" y="5074920"/>
            <a:ext cx="1911645" cy="566928"/>
          </a:xfrm>
          <a:prstGeom prst="rect">
            <a:avLst/>
          </a:prstGeom>
          <a:noFill/>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Examine &amp; decide</a:t>
            </a:r>
            <a:endParaRPr lang="en-US" sz="1250" dirty="0"/>
          </a:p>
        </p:txBody>
      </p:sp>
      <p:sp>
        <p:nvSpPr>
          <p:cNvPr id="33" name="Shape 26"/>
          <p:cNvSpPr/>
          <p:nvPr/>
        </p:nvSpPr>
        <p:spPr>
          <a:xfrm>
            <a:off x="9511955" y="5074920"/>
            <a:ext cx="2131101" cy="566928"/>
          </a:xfrm>
          <a:prstGeom prst="roundRect">
            <a:avLst>
              <a:gd name="adj" fmla="val 12903"/>
            </a:avLst>
          </a:prstGeom>
          <a:solidFill>
            <a:srgbClr val="0072A8"/>
          </a:solidFill>
          <a:ln w="12700">
            <a:solidFill>
              <a:srgbClr val="0072A8"/>
            </a:solidFill>
            <a:prstDash val="solid"/>
          </a:ln>
        </p:spPr>
      </p:sp>
      <p:sp>
        <p:nvSpPr>
          <p:cNvPr id="34" name="Text 27"/>
          <p:cNvSpPr/>
          <p:nvPr/>
        </p:nvSpPr>
        <p:spPr>
          <a:xfrm>
            <a:off x="9621683" y="5074920"/>
            <a:ext cx="1911645" cy="566928"/>
          </a:xfrm>
          <a:prstGeom prst="rect">
            <a:avLst/>
          </a:prstGeom>
          <a:noFill/>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Write</a:t>
            </a:r>
            <a:endParaRPr lang="en-US" sz="1250" dirty="0"/>
          </a:p>
        </p:txBody>
      </p:sp>
      <p:sp>
        <p:nvSpPr>
          <p:cNvPr id="35" name="Text 28"/>
          <p:cNvSpPr/>
          <p:nvPr/>
        </p:nvSpPr>
        <p:spPr>
          <a:xfrm>
            <a:off x="548640" y="5733288"/>
            <a:ext cx="6612758" cy="274320"/>
          </a:xfrm>
          <a:prstGeom prst="rect">
            <a:avLst/>
          </a:prstGeom>
          <a:noFill/>
        </p:spPr>
        <p:txBody>
          <a:bodyPr wrap="square" lIns="0" tIns="0" rIns="0" bIns="0" rtlCol="0" anchor="t"/>
          <a:lstStyle/>
          <a:p>
            <a:pPr marL="0" indent="0" algn="ctr">
              <a:buNone/>
            </a:pPr>
            <a:r>
              <a:rPr lang="en-US" sz="1100" i="1" dirty="0">
                <a:solidFill>
                  <a:srgbClr val="7D868E"/>
                </a:solidFill>
                <a:latin typeface="Calibri" pitchFamily="34" charset="0"/>
                <a:ea typeface="Calibri" pitchFamily="34" charset="-122"/>
                <a:cs typeface="Calibri" pitchFamily="34" charset="-120"/>
              </a:rPr>
              <a:t>Time that is not medicine</a:t>
            </a:r>
            <a:endParaRPr lang="en-US" sz="1100" dirty="0"/>
          </a:p>
        </p:txBody>
      </p:sp>
      <p:sp>
        <p:nvSpPr>
          <p:cNvPr id="36" name="Text 29"/>
          <p:cNvSpPr/>
          <p:nvPr/>
        </p:nvSpPr>
        <p:spPr>
          <a:xfrm>
            <a:off x="7271126" y="5733288"/>
            <a:ext cx="4371929" cy="274320"/>
          </a:xfrm>
          <a:prstGeom prst="rect">
            <a:avLst/>
          </a:prstGeom>
          <a:noFill/>
        </p:spPr>
        <p:txBody>
          <a:bodyPr wrap="square" lIns="0" tIns="0" rIns="0" bIns="0" rtlCol="0" anchor="t"/>
          <a:lstStyle/>
          <a:p>
            <a:pPr marL="0" indent="0" algn="ctr">
              <a:buNone/>
            </a:pPr>
            <a:r>
              <a:rPr lang="en-US" sz="1100" i="1" dirty="0">
                <a:solidFill>
                  <a:srgbClr val="0072A8"/>
                </a:solidFill>
                <a:latin typeface="Calibri" pitchFamily="34" charset="0"/>
                <a:ea typeface="Calibri" pitchFamily="34" charset="-122"/>
                <a:cs typeface="Calibri" pitchFamily="34" charset="-120"/>
              </a:rPr>
              <a:t>Time that is medicine</a:t>
            </a:r>
            <a:endParaRPr lang="en-US" sz="1100" dirty="0"/>
          </a:p>
        </p:txBody>
      </p:sp>
      <p:sp>
        <p:nvSpPr>
          <p:cNvPr id="37" name="Text 3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FRUSTRATIONS</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The slowest part of the consult is reading.</a:t>
            </a:r>
            <a:endParaRPr lang="en-US" sz="3200" dirty="0"/>
          </a:p>
        </p:txBody>
      </p:sp>
      <p:sp>
        <p:nvSpPr>
          <p:cNvPr id="4" name="Shape 2"/>
          <p:cNvSpPr/>
          <p:nvPr/>
        </p:nvSpPr>
        <p:spPr>
          <a:xfrm>
            <a:off x="548640"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804672" y="2057400"/>
            <a:ext cx="566928" cy="566928"/>
          </a:xfrm>
          <a:prstGeom prst="rect">
            <a:avLst/>
          </a:prstGeom>
        </p:spPr>
      </p:pic>
      <p:sp>
        <p:nvSpPr>
          <p:cNvPr id="6" name="Text 3"/>
          <p:cNvSpPr/>
          <p:nvPr/>
        </p:nvSpPr>
        <p:spPr>
          <a:xfrm>
            <a:off x="804672"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Scattered</a:t>
            </a:r>
            <a:endParaRPr lang="en-US" sz="1700" dirty="0"/>
          </a:p>
        </p:txBody>
      </p:sp>
      <p:sp>
        <p:nvSpPr>
          <p:cNvPr id="7" name="Text 4"/>
          <p:cNvSpPr/>
          <p:nvPr/>
        </p:nvSpPr>
        <p:spPr>
          <a:xfrm>
            <a:off x="804672"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Paper, PDFs, WhatsApp photos, other hospitals’ letterheads. Every report in its own format, none of them in one place.</a:t>
            </a:r>
            <a:endParaRPr lang="en-US" sz="1250" dirty="0"/>
          </a:p>
        </p:txBody>
      </p:sp>
      <p:sp>
        <p:nvSpPr>
          <p:cNvPr id="8" name="Shape 5"/>
          <p:cNvSpPr/>
          <p:nvPr/>
        </p:nvSpPr>
        <p:spPr>
          <a:xfrm>
            <a:off x="3390824"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3646856" y="2057400"/>
            <a:ext cx="566928" cy="566928"/>
          </a:xfrm>
          <a:prstGeom prst="rect">
            <a:avLst/>
          </a:prstGeom>
        </p:spPr>
      </p:pic>
      <p:sp>
        <p:nvSpPr>
          <p:cNvPr id="10" name="Text 6"/>
          <p:cNvSpPr/>
          <p:nvPr/>
        </p:nvSpPr>
        <p:spPr>
          <a:xfrm>
            <a:off x="3646856"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Unsummarised</a:t>
            </a:r>
            <a:endParaRPr lang="en-US" sz="1700" dirty="0"/>
          </a:p>
        </p:txBody>
      </p:sp>
      <p:sp>
        <p:nvSpPr>
          <p:cNvPr id="11" name="Text 7"/>
          <p:cNvSpPr/>
          <p:nvPr/>
        </p:nvSpPr>
        <p:spPr>
          <a:xfrm>
            <a:off x="3646856"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You read the whole file to find the three numbers that matter today. Nothing tells you what changed since the last visit.</a:t>
            </a:r>
            <a:endParaRPr lang="en-US" sz="1250" dirty="0"/>
          </a:p>
        </p:txBody>
      </p:sp>
      <p:sp>
        <p:nvSpPr>
          <p:cNvPr id="12" name="Shape 8"/>
          <p:cNvSpPr/>
          <p:nvPr/>
        </p:nvSpPr>
        <p:spPr>
          <a:xfrm>
            <a:off x="6233008"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6489040" y="2057400"/>
            <a:ext cx="566928" cy="566928"/>
          </a:xfrm>
          <a:prstGeom prst="rect">
            <a:avLst/>
          </a:prstGeom>
        </p:spPr>
      </p:pic>
      <p:sp>
        <p:nvSpPr>
          <p:cNvPr id="14" name="Text 9"/>
          <p:cNvSpPr/>
          <p:nvPr/>
        </p:nvSpPr>
        <p:spPr>
          <a:xfrm>
            <a:off x="6489040"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Old systems</a:t>
            </a:r>
            <a:endParaRPr lang="en-US" sz="1700" dirty="0"/>
          </a:p>
        </p:txBody>
      </p:sp>
      <p:sp>
        <p:nvSpPr>
          <p:cNvPr id="15" name="Text 10"/>
          <p:cNvSpPr/>
          <p:nvPr/>
        </p:nvSpPr>
        <p:spPr>
          <a:xfrm>
            <a:off x="6489040"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The HIS was built for billing and admissions, not for clinicians. A lab trend is a dozen clicks; the discharge summary is a scan.</a:t>
            </a:r>
            <a:endParaRPr lang="en-US" sz="1250" dirty="0"/>
          </a:p>
        </p:txBody>
      </p:sp>
      <p:sp>
        <p:nvSpPr>
          <p:cNvPr id="16" name="Shape 11"/>
          <p:cNvSpPr/>
          <p:nvPr/>
        </p:nvSpPr>
        <p:spPr>
          <a:xfrm>
            <a:off x="9075191" y="1783080"/>
            <a:ext cx="2567864" cy="278892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7" name="Image 3" descr="preencoded.png"/>
          <p:cNvPicPr>
            <a:picLocks noChangeAspect="1"/>
          </p:cNvPicPr>
          <p:nvPr/>
        </p:nvPicPr>
        <p:blipFill>
          <a:blip r:embed="rId4"/>
          <a:stretch>
            <a:fillRect/>
          </a:stretch>
        </p:blipFill>
        <p:spPr>
          <a:xfrm>
            <a:off x="9331223" y="2057400"/>
            <a:ext cx="566928" cy="566928"/>
          </a:xfrm>
          <a:prstGeom prst="rect">
            <a:avLst/>
          </a:prstGeom>
        </p:spPr>
      </p:pic>
      <p:sp>
        <p:nvSpPr>
          <p:cNvPr id="18" name="Text 12"/>
          <p:cNvSpPr/>
          <p:nvPr/>
        </p:nvSpPr>
        <p:spPr>
          <a:xfrm>
            <a:off x="9331223" y="2788920"/>
            <a:ext cx="2110664" cy="365760"/>
          </a:xfrm>
          <a:prstGeom prst="rect">
            <a:avLst/>
          </a:prstGeom>
          <a:noFill/>
        </p:spPr>
        <p:txBody>
          <a:bodyPr wrap="square" lIns="0" tIns="0" rIns="0" bIns="0" rtlCol="0" anchor="t"/>
          <a:lstStyle/>
          <a:p>
            <a:pPr marL="0" indent="0">
              <a:buNone/>
            </a:pPr>
            <a:r>
              <a:rPr lang="en-US" sz="1700" b="1" dirty="0">
                <a:solidFill>
                  <a:srgbClr val="22303C"/>
                </a:solidFill>
                <a:latin typeface="Cambria" pitchFamily="34" charset="0"/>
                <a:ea typeface="Cambria" pitchFamily="34" charset="-122"/>
                <a:cs typeface="Cambria" pitchFamily="34" charset="-120"/>
              </a:rPr>
              <a:t>Siloed</a:t>
            </a:r>
            <a:endParaRPr lang="en-US" sz="1700" dirty="0"/>
          </a:p>
        </p:txBody>
      </p:sp>
      <p:sp>
        <p:nvSpPr>
          <p:cNvPr id="19" name="Text 13"/>
          <p:cNvSpPr/>
          <p:nvPr/>
        </p:nvSpPr>
        <p:spPr>
          <a:xfrm>
            <a:off x="9331223" y="3200400"/>
            <a:ext cx="2110664" cy="128016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A co-managed patient sees two specialists who never see each other’s notes, until something goes wrong.</a:t>
            </a:r>
            <a:endParaRPr lang="en-US" sz="1250" dirty="0"/>
          </a:p>
        </p:txBody>
      </p:sp>
      <p:sp>
        <p:nvSpPr>
          <p:cNvPr id="20" name="Shape 14"/>
          <p:cNvSpPr/>
          <p:nvPr/>
        </p:nvSpPr>
        <p:spPr>
          <a:xfrm>
            <a:off x="548640" y="4892040"/>
            <a:ext cx="11094415" cy="1188720"/>
          </a:xfrm>
          <a:prstGeom prst="roundRect">
            <a:avLst>
              <a:gd name="adj" fmla="val 9231"/>
            </a:avLst>
          </a:prstGeom>
          <a:solidFill>
            <a:srgbClr val="DFEEF7"/>
          </a:solidFill>
          <a:ln w="9525">
            <a:solidFill>
              <a:srgbClr val="DFEEF7"/>
            </a:solidFill>
            <a:prstDash val="solid"/>
          </a:ln>
        </p:spPr>
      </p:sp>
      <p:sp>
        <p:nvSpPr>
          <p:cNvPr id="21" name="Text 15"/>
          <p:cNvSpPr/>
          <p:nvPr/>
        </p:nvSpPr>
        <p:spPr>
          <a:xfrm>
            <a:off x="822960" y="5074920"/>
            <a:ext cx="2377440" cy="822960"/>
          </a:xfrm>
          <a:prstGeom prst="rect">
            <a:avLst/>
          </a:prstGeom>
          <a:noFill/>
        </p:spPr>
        <p:txBody>
          <a:bodyPr wrap="square" lIns="0" tIns="0" rIns="0" bIns="0" rtlCol="0" anchor="ctr"/>
          <a:lstStyle/>
          <a:p>
            <a:pPr marL="0" indent="0">
              <a:buNone/>
            </a:pPr>
            <a:r>
              <a:rPr lang="en-US" sz="1800" dirty="0">
                <a:solidFill>
                  <a:srgbClr val="22303C"/>
                </a:solidFill>
                <a:latin typeface="Cambria" pitchFamily="34" charset="0"/>
                <a:ea typeface="Cambria" pitchFamily="34" charset="-122"/>
                <a:cs typeface="Cambria" pitchFamily="34" charset="-120"/>
              </a:rPr>
              <a:t>Paid for three ways</a:t>
            </a:r>
            <a:endParaRPr lang="en-US" sz="1800" dirty="0"/>
          </a:p>
        </p:txBody>
      </p:sp>
      <p:pic>
        <p:nvPicPr>
          <p:cNvPr id="22" name="Image 4" descr="preencoded.png"/>
          <p:cNvPicPr>
            <a:picLocks noChangeAspect="1"/>
          </p:cNvPicPr>
          <p:nvPr/>
        </p:nvPicPr>
        <p:blipFill>
          <a:blip r:embed="rId5"/>
          <a:stretch>
            <a:fillRect/>
          </a:stretch>
        </p:blipFill>
        <p:spPr>
          <a:xfrm>
            <a:off x="3383280" y="5239512"/>
            <a:ext cx="457200" cy="457200"/>
          </a:xfrm>
          <a:prstGeom prst="rect">
            <a:avLst/>
          </a:prstGeom>
        </p:spPr>
      </p:pic>
      <p:sp>
        <p:nvSpPr>
          <p:cNvPr id="23" name="Text 16"/>
          <p:cNvSpPr/>
          <p:nvPr/>
        </p:nvSpPr>
        <p:spPr>
          <a:xfrm>
            <a:off x="3950208" y="5148072"/>
            <a:ext cx="219456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Time</a:t>
            </a:r>
            <a:endParaRPr lang="en-US" sz="1350" dirty="0"/>
          </a:p>
        </p:txBody>
      </p:sp>
      <p:sp>
        <p:nvSpPr>
          <p:cNvPr id="24" name="Text 17"/>
          <p:cNvSpPr/>
          <p:nvPr/>
        </p:nvSpPr>
        <p:spPr>
          <a:xfrm>
            <a:off x="3950208" y="5422392"/>
            <a:ext cx="2194560" cy="548640"/>
          </a:xfrm>
          <a:prstGeom prst="rect">
            <a:avLst/>
          </a:prstGeom>
          <a:noFill/>
        </p:spPr>
        <p:txBody>
          <a:bodyPr wrap="square" lIns="0" tIns="0" rIns="0" bIns="0" rtlCol="0" anchor="t"/>
          <a:lstStyle/>
          <a:p>
            <a:pPr marL="0" indent="0">
              <a:lnSpc>
                <a:spcPct val="110000"/>
              </a:lnSpc>
              <a:buNone/>
            </a:pPr>
            <a:r>
              <a:rPr lang="en-US" sz="1150" dirty="0">
                <a:solidFill>
                  <a:srgbClr val="3A4756"/>
                </a:solidFill>
                <a:latin typeface="Calibri" pitchFamily="34" charset="0"/>
                <a:ea typeface="Calibri" pitchFamily="34" charset="-122"/>
                <a:cs typeface="Calibri" pitchFamily="34" charset="-120"/>
              </a:rPr>
              <a:t>Fewer patients per OPD session.</a:t>
            </a:r>
            <a:endParaRPr lang="en-US" sz="1150" dirty="0"/>
          </a:p>
        </p:txBody>
      </p:sp>
      <p:pic>
        <p:nvPicPr>
          <p:cNvPr id="25" name="Image 5" descr="preencoded.png"/>
          <p:cNvPicPr>
            <a:picLocks noChangeAspect="1"/>
          </p:cNvPicPr>
          <p:nvPr/>
        </p:nvPicPr>
        <p:blipFill>
          <a:blip r:embed="rId6"/>
          <a:stretch>
            <a:fillRect/>
          </a:stretch>
        </p:blipFill>
        <p:spPr>
          <a:xfrm>
            <a:off x="6217920" y="5239512"/>
            <a:ext cx="457200" cy="457200"/>
          </a:xfrm>
          <a:prstGeom prst="rect">
            <a:avLst/>
          </a:prstGeom>
        </p:spPr>
      </p:pic>
      <p:sp>
        <p:nvSpPr>
          <p:cNvPr id="26" name="Text 18"/>
          <p:cNvSpPr/>
          <p:nvPr/>
        </p:nvSpPr>
        <p:spPr>
          <a:xfrm>
            <a:off x="6784848" y="5148072"/>
            <a:ext cx="219456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Money</a:t>
            </a:r>
            <a:endParaRPr lang="en-US" sz="1350" dirty="0"/>
          </a:p>
        </p:txBody>
      </p:sp>
      <p:sp>
        <p:nvSpPr>
          <p:cNvPr id="27" name="Text 19"/>
          <p:cNvSpPr/>
          <p:nvPr/>
        </p:nvSpPr>
        <p:spPr>
          <a:xfrm>
            <a:off x="6784848" y="5422392"/>
            <a:ext cx="2194560" cy="548640"/>
          </a:xfrm>
          <a:prstGeom prst="rect">
            <a:avLst/>
          </a:prstGeom>
          <a:noFill/>
        </p:spPr>
        <p:txBody>
          <a:bodyPr wrap="square" lIns="0" tIns="0" rIns="0" bIns="0" rtlCol="0" anchor="t"/>
          <a:lstStyle/>
          <a:p>
            <a:pPr marL="0" indent="0">
              <a:lnSpc>
                <a:spcPct val="110000"/>
              </a:lnSpc>
              <a:buNone/>
            </a:pPr>
            <a:r>
              <a:rPr lang="en-US" sz="1150" dirty="0">
                <a:solidFill>
                  <a:srgbClr val="3A4756"/>
                </a:solidFill>
                <a:latin typeface="Calibri" pitchFamily="34" charset="0"/>
                <a:ea typeface="Calibri" pitchFamily="34" charset="-122"/>
                <a:cs typeface="Calibri" pitchFamily="34" charset="-120"/>
              </a:rPr>
              <a:t>Investigations repeated because the report is in a bag at home.</a:t>
            </a:r>
            <a:endParaRPr lang="en-US" sz="1150" dirty="0"/>
          </a:p>
        </p:txBody>
      </p:sp>
      <p:pic>
        <p:nvPicPr>
          <p:cNvPr id="28" name="Image 6" descr="preencoded.png"/>
          <p:cNvPicPr>
            <a:picLocks noChangeAspect="1"/>
          </p:cNvPicPr>
          <p:nvPr/>
        </p:nvPicPr>
        <p:blipFill>
          <a:blip r:embed="rId7"/>
          <a:stretch>
            <a:fillRect/>
          </a:stretch>
        </p:blipFill>
        <p:spPr>
          <a:xfrm>
            <a:off x="9052560" y="5239512"/>
            <a:ext cx="457200" cy="457200"/>
          </a:xfrm>
          <a:prstGeom prst="rect">
            <a:avLst/>
          </a:prstGeom>
        </p:spPr>
      </p:pic>
      <p:sp>
        <p:nvSpPr>
          <p:cNvPr id="29" name="Text 20"/>
          <p:cNvSpPr/>
          <p:nvPr/>
        </p:nvSpPr>
        <p:spPr>
          <a:xfrm>
            <a:off x="9619488" y="5148072"/>
            <a:ext cx="2194560"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Attention</a:t>
            </a:r>
            <a:endParaRPr lang="en-US" sz="1350" dirty="0"/>
          </a:p>
        </p:txBody>
      </p:sp>
      <p:sp>
        <p:nvSpPr>
          <p:cNvPr id="30" name="Text 21"/>
          <p:cNvSpPr/>
          <p:nvPr/>
        </p:nvSpPr>
        <p:spPr>
          <a:xfrm>
            <a:off x="9619488" y="5422392"/>
            <a:ext cx="2194560" cy="548640"/>
          </a:xfrm>
          <a:prstGeom prst="rect">
            <a:avLst/>
          </a:prstGeom>
          <a:noFill/>
        </p:spPr>
        <p:txBody>
          <a:bodyPr wrap="square" lIns="0" tIns="0" rIns="0" bIns="0" rtlCol="0" anchor="t"/>
          <a:lstStyle/>
          <a:p>
            <a:pPr marL="0" indent="0">
              <a:lnSpc>
                <a:spcPct val="110000"/>
              </a:lnSpc>
              <a:buNone/>
            </a:pPr>
            <a:r>
              <a:rPr lang="en-US" sz="1150" dirty="0">
                <a:solidFill>
                  <a:srgbClr val="3A4756"/>
                </a:solidFill>
                <a:latin typeface="Calibri" pitchFamily="34" charset="0"/>
                <a:ea typeface="Calibri" pitchFamily="34" charset="-122"/>
                <a:cs typeface="Calibri" pitchFamily="34" charset="-120"/>
              </a:rPr>
              <a:t>Decisions made on an incomplete file.</a:t>
            </a:r>
            <a:endParaRPr lang="en-US" sz="1150" dirty="0"/>
          </a:p>
        </p:txBody>
      </p:sp>
      <p:sp>
        <p:nvSpPr>
          <p:cNvPr id="31" name="Text 22"/>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WHY IT IS STILL UNSOLVED</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Every previous answer meant starting over.</a:t>
            </a:r>
            <a:endParaRPr lang="en-US" sz="3200" dirty="0"/>
          </a:p>
        </p:txBody>
      </p:sp>
      <p:sp>
        <p:nvSpPr>
          <p:cNvPr id="4" name="Shape 2"/>
          <p:cNvSpPr/>
          <p:nvPr/>
        </p:nvSpPr>
        <p:spPr>
          <a:xfrm>
            <a:off x="548640" y="1783080"/>
            <a:ext cx="3429000" cy="2148840"/>
          </a:xfrm>
          <a:prstGeom prst="roundRect">
            <a:avLst>
              <a:gd name="adj" fmla="val 510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804672" y="2057400"/>
            <a:ext cx="512064" cy="512064"/>
          </a:xfrm>
          <a:prstGeom prst="rect">
            <a:avLst/>
          </a:prstGeom>
        </p:spPr>
      </p:pic>
      <p:sp>
        <p:nvSpPr>
          <p:cNvPr id="6" name="Text 3"/>
          <p:cNvSpPr/>
          <p:nvPr/>
        </p:nvSpPr>
        <p:spPr>
          <a:xfrm>
            <a:off x="1444752" y="2112264"/>
            <a:ext cx="2286000" cy="411480"/>
          </a:xfrm>
          <a:prstGeom prst="rect">
            <a:avLst/>
          </a:prstGeom>
          <a:noFill/>
        </p:spPr>
        <p:txBody>
          <a:bodyPr wrap="square" lIns="0" tIns="0" rIns="0" bIns="0" rtlCol="0" anchor="t"/>
          <a:lstStyle/>
          <a:p>
            <a:pPr marL="0" indent="0">
              <a:buNone/>
            </a:pPr>
            <a:r>
              <a:rPr lang="en-US" sz="1800" b="1" dirty="0">
                <a:solidFill>
                  <a:srgbClr val="22303C"/>
                </a:solidFill>
                <a:latin typeface="Cambria" pitchFamily="34" charset="0"/>
                <a:ea typeface="Cambria" pitchFamily="34" charset="-122"/>
                <a:cs typeface="Cambria" pitchFamily="34" charset="-120"/>
              </a:rPr>
              <a:t>Time</a:t>
            </a:r>
            <a:endParaRPr lang="en-US" sz="1800" dirty="0"/>
          </a:p>
        </p:txBody>
      </p:sp>
      <p:sp>
        <p:nvSpPr>
          <p:cNvPr id="7" name="Text 4"/>
          <p:cNvSpPr/>
          <p:nvPr/>
        </p:nvSpPr>
        <p:spPr>
          <a:xfrm>
            <a:off x="804672" y="2743200"/>
            <a:ext cx="2971800" cy="109728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Replacing the HIS means years of migration. Clinicians carry the disruption while the vendor carries the invoice.</a:t>
            </a:r>
            <a:endParaRPr lang="en-US" sz="1250" dirty="0"/>
          </a:p>
        </p:txBody>
      </p:sp>
      <p:sp>
        <p:nvSpPr>
          <p:cNvPr id="8" name="Shape 5"/>
          <p:cNvSpPr/>
          <p:nvPr/>
        </p:nvSpPr>
        <p:spPr>
          <a:xfrm>
            <a:off x="4206240" y="1783080"/>
            <a:ext cx="3429000" cy="2148840"/>
          </a:xfrm>
          <a:prstGeom prst="roundRect">
            <a:avLst>
              <a:gd name="adj" fmla="val 510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4462272" y="2057400"/>
            <a:ext cx="512064" cy="512064"/>
          </a:xfrm>
          <a:prstGeom prst="rect">
            <a:avLst/>
          </a:prstGeom>
        </p:spPr>
      </p:pic>
      <p:sp>
        <p:nvSpPr>
          <p:cNvPr id="10" name="Text 6"/>
          <p:cNvSpPr/>
          <p:nvPr/>
        </p:nvSpPr>
        <p:spPr>
          <a:xfrm>
            <a:off x="5102352" y="2112264"/>
            <a:ext cx="2286000" cy="411480"/>
          </a:xfrm>
          <a:prstGeom prst="rect">
            <a:avLst/>
          </a:prstGeom>
          <a:noFill/>
        </p:spPr>
        <p:txBody>
          <a:bodyPr wrap="square" lIns="0" tIns="0" rIns="0" bIns="0" rtlCol="0" anchor="t"/>
          <a:lstStyle/>
          <a:p>
            <a:pPr marL="0" indent="0">
              <a:buNone/>
            </a:pPr>
            <a:r>
              <a:rPr lang="en-US" sz="1800" b="1" dirty="0">
                <a:solidFill>
                  <a:srgbClr val="22303C"/>
                </a:solidFill>
                <a:latin typeface="Cambria" pitchFamily="34" charset="0"/>
                <a:ea typeface="Cambria" pitchFamily="34" charset="-122"/>
                <a:cs typeface="Cambria" pitchFamily="34" charset="-120"/>
              </a:rPr>
              <a:t>Money</a:t>
            </a:r>
            <a:endParaRPr lang="en-US" sz="1800" dirty="0"/>
          </a:p>
        </p:txBody>
      </p:sp>
      <p:sp>
        <p:nvSpPr>
          <p:cNvPr id="11" name="Text 7"/>
          <p:cNvSpPr/>
          <p:nvPr/>
        </p:nvSpPr>
        <p:spPr>
          <a:xfrm>
            <a:off x="4462272" y="2743200"/>
            <a:ext cx="2971800" cy="109728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Rip-and-replace costs crores, plus a change freeze. Most hospitals have just finished the last one.</a:t>
            </a:r>
            <a:endParaRPr lang="en-US" sz="1250" dirty="0"/>
          </a:p>
        </p:txBody>
      </p:sp>
      <p:sp>
        <p:nvSpPr>
          <p:cNvPr id="12" name="Shape 8"/>
          <p:cNvSpPr/>
          <p:nvPr/>
        </p:nvSpPr>
        <p:spPr>
          <a:xfrm>
            <a:off x="7863840" y="1783080"/>
            <a:ext cx="3429000" cy="2148840"/>
          </a:xfrm>
          <a:prstGeom prst="roundRect">
            <a:avLst>
              <a:gd name="adj" fmla="val 5106"/>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8119872" y="2057400"/>
            <a:ext cx="512064" cy="512064"/>
          </a:xfrm>
          <a:prstGeom prst="rect">
            <a:avLst/>
          </a:prstGeom>
        </p:spPr>
      </p:pic>
      <p:sp>
        <p:nvSpPr>
          <p:cNvPr id="14" name="Text 9"/>
          <p:cNvSpPr/>
          <p:nvPr/>
        </p:nvSpPr>
        <p:spPr>
          <a:xfrm>
            <a:off x="8759952" y="2112264"/>
            <a:ext cx="2286000" cy="411480"/>
          </a:xfrm>
          <a:prstGeom prst="rect">
            <a:avLst/>
          </a:prstGeom>
          <a:noFill/>
        </p:spPr>
        <p:txBody>
          <a:bodyPr wrap="square" lIns="0" tIns="0" rIns="0" bIns="0" rtlCol="0" anchor="t"/>
          <a:lstStyle/>
          <a:p>
            <a:pPr marL="0" indent="0">
              <a:buNone/>
            </a:pPr>
            <a:r>
              <a:rPr lang="en-US" sz="1800" b="1" dirty="0">
                <a:solidFill>
                  <a:srgbClr val="22303C"/>
                </a:solidFill>
                <a:latin typeface="Cambria" pitchFamily="34" charset="0"/>
                <a:ea typeface="Cambria" pitchFamily="34" charset="-122"/>
                <a:cs typeface="Cambria" pitchFamily="34" charset="-120"/>
              </a:rPr>
              <a:t>Effort</a:t>
            </a:r>
            <a:endParaRPr lang="en-US" sz="1800" dirty="0"/>
          </a:p>
        </p:txBody>
      </p:sp>
      <p:sp>
        <p:nvSpPr>
          <p:cNvPr id="15" name="Text 10"/>
          <p:cNvSpPr/>
          <p:nvPr/>
        </p:nvSpPr>
        <p:spPr>
          <a:xfrm>
            <a:off x="8119872" y="2743200"/>
            <a:ext cx="2971800" cy="1097280"/>
          </a:xfrm>
          <a:prstGeom prst="rect">
            <a:avLst/>
          </a:prstGeom>
          <a:noFill/>
        </p:spPr>
        <p:txBody>
          <a:bodyPr wrap="square" lIns="0" tIns="0" rIns="0" bIns="0" rtlCol="0" anchor="t"/>
          <a:lstStyle/>
          <a:p>
            <a:pPr marL="0" indent="0">
              <a:lnSpc>
                <a:spcPct val="115000"/>
              </a:lnSpc>
              <a:buNone/>
            </a:pPr>
            <a:r>
              <a:rPr lang="en-US" sz="1250" dirty="0">
                <a:solidFill>
                  <a:srgbClr val="3A4756"/>
                </a:solidFill>
                <a:latin typeface="Calibri" pitchFamily="34" charset="0"/>
                <a:ea typeface="Calibri" pitchFamily="34" charset="-122"/>
                <a:cs typeface="Calibri" pitchFamily="34" charset="-120"/>
              </a:rPr>
              <a:t>EMRs asked doctors to type more. Every minute typing is a minute not consulting, so the data never got entered.</a:t>
            </a:r>
            <a:endParaRPr lang="en-US" sz="1250" dirty="0"/>
          </a:p>
        </p:txBody>
      </p:sp>
      <p:sp>
        <p:nvSpPr>
          <p:cNvPr id="16" name="Shape 11"/>
          <p:cNvSpPr/>
          <p:nvPr/>
        </p:nvSpPr>
        <p:spPr>
          <a:xfrm>
            <a:off x="548640" y="4206240"/>
            <a:ext cx="6858000" cy="2057400"/>
          </a:xfrm>
          <a:prstGeom prst="roundRect">
            <a:avLst>
              <a:gd name="adj" fmla="val 5333"/>
            </a:avLst>
          </a:prstGeom>
          <a:solidFill>
            <a:srgbClr val="22303C"/>
          </a:solidFill>
          <a:ln w="9525">
            <a:solidFill>
              <a:srgbClr val="22303C"/>
            </a:solidFill>
            <a:prstDash val="solid"/>
          </a:ln>
        </p:spPr>
      </p:sp>
      <p:sp>
        <p:nvSpPr>
          <p:cNvPr id="17" name="Text 12"/>
          <p:cNvSpPr/>
          <p:nvPr/>
        </p:nvSpPr>
        <p:spPr>
          <a:xfrm>
            <a:off x="868680" y="4434840"/>
            <a:ext cx="2743200" cy="274320"/>
          </a:xfrm>
          <a:prstGeom prst="rect">
            <a:avLst/>
          </a:prstGeom>
          <a:noFill/>
        </p:spPr>
        <p:txBody>
          <a:bodyPr wrap="square" lIns="0" tIns="0" rIns="0" bIns="0" rtlCol="0" anchor="t"/>
          <a:lstStyle/>
          <a:p>
            <a:pPr marL="0" indent="0">
              <a:buNone/>
            </a:pPr>
            <a:r>
              <a:rPr lang="en-US" sz="1050" b="1" kern="0" spc="300" dirty="0">
                <a:solidFill>
                  <a:srgbClr val="61AFDA"/>
                </a:solidFill>
                <a:latin typeface="Calibri" pitchFamily="34" charset="0"/>
                <a:ea typeface="Calibri" pitchFamily="34" charset="-122"/>
                <a:cs typeface="Calibri" pitchFamily="34" charset="-120"/>
              </a:rPr>
              <a:t>The insight</a:t>
            </a:r>
            <a:endParaRPr lang="en-US" sz="1050" dirty="0"/>
          </a:p>
        </p:txBody>
      </p:sp>
      <p:sp>
        <p:nvSpPr>
          <p:cNvPr id="18" name="Text 13"/>
          <p:cNvSpPr/>
          <p:nvPr/>
        </p:nvSpPr>
        <p:spPr>
          <a:xfrm>
            <a:off x="868680" y="4754880"/>
            <a:ext cx="6217920" cy="1371600"/>
          </a:xfrm>
          <a:prstGeom prst="rect">
            <a:avLst/>
          </a:prstGeom>
          <a:noFill/>
        </p:spPr>
        <p:txBody>
          <a:bodyPr wrap="square" lIns="0" tIns="0" rIns="0" bIns="0" rtlCol="0" anchor="t"/>
          <a:lstStyle/>
          <a:p>
            <a:pPr marL="0" indent="0">
              <a:lnSpc>
                <a:spcPct val="115000"/>
              </a:lnSpc>
              <a:buNone/>
            </a:pPr>
            <a:r>
              <a:rPr lang="en-US" sz="1800" dirty="0">
                <a:solidFill>
                  <a:srgbClr val="FFFFFF"/>
                </a:solidFill>
                <a:latin typeface="Cambria" pitchFamily="34" charset="0"/>
                <a:ea typeface="Cambria" pitchFamily="34" charset="-122"/>
                <a:cs typeface="Cambria" pitchFamily="34" charset="-120"/>
              </a:rPr>
              <a:t>The records already exist. Every lab, discharge and prescription is finalised somewhere in your building. The problem is not creating data. It is reading it, in one place, in seconds.</a:t>
            </a:r>
            <a:endParaRPr lang="en-US" sz="1800" dirty="0"/>
          </a:p>
        </p:txBody>
      </p:sp>
      <p:sp>
        <p:nvSpPr>
          <p:cNvPr id="19" name="Shape 14"/>
          <p:cNvSpPr/>
          <p:nvPr/>
        </p:nvSpPr>
        <p:spPr>
          <a:xfrm>
            <a:off x="7818120" y="4206240"/>
            <a:ext cx="3840480" cy="603504"/>
          </a:xfrm>
          <a:prstGeom prst="roundRect">
            <a:avLst>
              <a:gd name="adj" fmla="val 12121"/>
            </a:avLst>
          </a:prstGeom>
          <a:solidFill>
            <a:srgbClr val="DFEEF7"/>
          </a:solidFill>
          <a:ln w="12700">
            <a:solidFill>
              <a:srgbClr val="DFEEF7"/>
            </a:solidFill>
            <a:prstDash val="solid"/>
          </a:ln>
        </p:spPr>
      </p:sp>
      <p:sp>
        <p:nvSpPr>
          <p:cNvPr id="20" name="Text 15"/>
          <p:cNvSpPr/>
          <p:nvPr/>
        </p:nvSpPr>
        <p:spPr>
          <a:xfrm>
            <a:off x="8001000" y="4279392"/>
            <a:ext cx="3474720" cy="274320"/>
          </a:xfrm>
          <a:prstGeom prst="rect">
            <a:avLst/>
          </a:prstGeom>
          <a:noFill/>
        </p:spPr>
        <p:txBody>
          <a:bodyPr wrap="square" lIns="0" tIns="0" rIns="0" bIns="0" rtlCol="0" anchor="t"/>
          <a:lstStyle/>
          <a:p>
            <a:pPr marL="0" indent="0">
              <a:buNone/>
            </a:pPr>
            <a:r>
              <a:rPr lang="en-US" sz="1300" b="1" dirty="0">
                <a:solidFill>
                  <a:srgbClr val="22303C"/>
                </a:solidFill>
                <a:latin typeface="Calibri" pitchFamily="34" charset="0"/>
                <a:ea typeface="Calibri" pitchFamily="34" charset="-122"/>
                <a:cs typeface="Calibri" pitchFamily="34" charset="-120"/>
              </a:rPr>
              <a:t>Doctor app · Patient app</a:t>
            </a:r>
            <a:endParaRPr lang="en-US" sz="1300" dirty="0"/>
          </a:p>
        </p:txBody>
      </p:sp>
      <p:sp>
        <p:nvSpPr>
          <p:cNvPr id="21" name="Text 16"/>
          <p:cNvSpPr/>
          <p:nvPr/>
        </p:nvSpPr>
        <p:spPr>
          <a:xfrm>
            <a:off x="8001000" y="4535424"/>
            <a:ext cx="3474720" cy="237744"/>
          </a:xfrm>
          <a:prstGeom prst="rect">
            <a:avLst/>
          </a:prstGeom>
          <a:noFill/>
        </p:spPr>
        <p:txBody>
          <a:bodyPr wrap="square" lIns="0" tIns="0" rIns="0" bIns="0" rtlCol="0" anchor="t"/>
          <a:lstStyle/>
          <a:p>
            <a:pPr marL="0" indent="0">
              <a:buNone/>
            </a:pPr>
            <a:r>
              <a:rPr lang="en-US" sz="1050" dirty="0">
                <a:solidFill>
                  <a:srgbClr val="5C6873"/>
                </a:solidFill>
                <a:latin typeface="Calibri" pitchFamily="34" charset="0"/>
                <a:ea typeface="Calibri" pitchFamily="34" charset="-122"/>
                <a:cs typeface="Calibri" pitchFamily="34" charset="-120"/>
              </a:rPr>
              <a:t>the reading layer</a:t>
            </a:r>
            <a:endParaRPr lang="en-US" sz="1050" dirty="0"/>
          </a:p>
        </p:txBody>
      </p:sp>
      <p:sp>
        <p:nvSpPr>
          <p:cNvPr id="22" name="Shape 17"/>
          <p:cNvSpPr/>
          <p:nvPr/>
        </p:nvSpPr>
        <p:spPr>
          <a:xfrm>
            <a:off x="7818120" y="4919472"/>
            <a:ext cx="3840480" cy="603504"/>
          </a:xfrm>
          <a:prstGeom prst="roundRect">
            <a:avLst>
              <a:gd name="adj" fmla="val 12121"/>
            </a:avLst>
          </a:prstGeom>
          <a:solidFill>
            <a:srgbClr val="0072A8"/>
          </a:solidFill>
          <a:ln w="12700">
            <a:solidFill>
              <a:srgbClr val="0072A8"/>
            </a:solidFill>
            <a:prstDash val="solid"/>
          </a:ln>
        </p:spPr>
      </p:sp>
      <p:sp>
        <p:nvSpPr>
          <p:cNvPr id="23" name="Text 18"/>
          <p:cNvSpPr/>
          <p:nvPr/>
        </p:nvSpPr>
        <p:spPr>
          <a:xfrm>
            <a:off x="8001000" y="4992624"/>
            <a:ext cx="3474720" cy="274320"/>
          </a:xfrm>
          <a:prstGeom prst="rect">
            <a:avLst/>
          </a:prstGeom>
          <a:noFill/>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Mirai</a:t>
            </a:r>
            <a:endParaRPr lang="en-US" sz="1300" dirty="0"/>
          </a:p>
        </p:txBody>
      </p:sp>
      <p:sp>
        <p:nvSpPr>
          <p:cNvPr id="24" name="Text 19"/>
          <p:cNvSpPr/>
          <p:nvPr/>
        </p:nvSpPr>
        <p:spPr>
          <a:xfrm>
            <a:off x="8001000" y="5248656"/>
            <a:ext cx="3474720" cy="237744"/>
          </a:xfrm>
          <a:prstGeom prst="rect">
            <a:avLst/>
          </a:prstGeom>
          <a:noFill/>
        </p:spPr>
        <p:txBody>
          <a:bodyPr wrap="square" lIns="0" tIns="0" rIns="0" bIns="0" rtlCol="0" anchor="t"/>
          <a:lstStyle/>
          <a:p>
            <a:pPr marL="0" indent="0">
              <a:buNone/>
            </a:pPr>
            <a:r>
              <a:rPr lang="en-US" sz="1050" dirty="0">
                <a:solidFill>
                  <a:srgbClr val="DCEBF5"/>
                </a:solidFill>
                <a:latin typeface="Calibri" pitchFamily="34" charset="0"/>
                <a:ea typeface="Calibri" pitchFamily="34" charset="-122"/>
                <a:cs typeface="Calibri" pitchFamily="34" charset="-120"/>
              </a:rPr>
              <a:t>identity · consent · AI brief · audit</a:t>
            </a:r>
            <a:endParaRPr lang="en-US" sz="1050" dirty="0"/>
          </a:p>
        </p:txBody>
      </p:sp>
      <p:sp>
        <p:nvSpPr>
          <p:cNvPr id="25" name="Shape 20"/>
          <p:cNvSpPr/>
          <p:nvPr/>
        </p:nvSpPr>
        <p:spPr>
          <a:xfrm>
            <a:off x="7818120" y="5632704"/>
            <a:ext cx="3840480" cy="603504"/>
          </a:xfrm>
          <a:prstGeom prst="roundRect">
            <a:avLst>
              <a:gd name="adj" fmla="val 12121"/>
            </a:avLst>
          </a:prstGeom>
          <a:solidFill>
            <a:srgbClr val="E4DFD5"/>
          </a:solidFill>
          <a:ln w="12700">
            <a:solidFill>
              <a:srgbClr val="E4DFD5"/>
            </a:solidFill>
            <a:prstDash val="solid"/>
          </a:ln>
        </p:spPr>
      </p:sp>
      <p:sp>
        <p:nvSpPr>
          <p:cNvPr id="26" name="Text 21"/>
          <p:cNvSpPr/>
          <p:nvPr/>
        </p:nvSpPr>
        <p:spPr>
          <a:xfrm>
            <a:off x="8001000" y="5705856"/>
            <a:ext cx="3474720" cy="274320"/>
          </a:xfrm>
          <a:prstGeom prst="rect">
            <a:avLst/>
          </a:prstGeom>
          <a:noFill/>
        </p:spPr>
        <p:txBody>
          <a:bodyPr wrap="square" lIns="0" tIns="0" rIns="0" bIns="0" rtlCol="0" anchor="t"/>
          <a:lstStyle/>
          <a:p>
            <a:pPr marL="0" indent="0">
              <a:buNone/>
            </a:pPr>
            <a:r>
              <a:rPr lang="en-US" sz="1300" b="1" dirty="0">
                <a:solidFill>
                  <a:srgbClr val="22303C"/>
                </a:solidFill>
                <a:latin typeface="Calibri" pitchFamily="34" charset="0"/>
                <a:ea typeface="Calibri" pitchFamily="34" charset="-122"/>
                <a:cs typeface="Calibri" pitchFamily="34" charset="-120"/>
              </a:rPr>
              <a:t>Your HIS · LIS · PACS</a:t>
            </a:r>
            <a:endParaRPr lang="en-US" sz="1300" dirty="0"/>
          </a:p>
        </p:txBody>
      </p:sp>
      <p:sp>
        <p:nvSpPr>
          <p:cNvPr id="27" name="Text 22"/>
          <p:cNvSpPr/>
          <p:nvPr/>
        </p:nvSpPr>
        <p:spPr>
          <a:xfrm>
            <a:off x="8001000" y="5961888"/>
            <a:ext cx="3474720" cy="237744"/>
          </a:xfrm>
          <a:prstGeom prst="rect">
            <a:avLst/>
          </a:prstGeom>
          <a:noFill/>
        </p:spPr>
        <p:txBody>
          <a:bodyPr wrap="square" lIns="0" tIns="0" rIns="0" bIns="0" rtlCol="0" anchor="t"/>
          <a:lstStyle/>
          <a:p>
            <a:pPr marL="0" indent="0">
              <a:buNone/>
            </a:pPr>
            <a:r>
              <a:rPr lang="en-US" sz="1050" dirty="0">
                <a:solidFill>
                  <a:srgbClr val="5C6873"/>
                </a:solidFill>
                <a:latin typeface="Calibri" pitchFamily="34" charset="0"/>
                <a:ea typeface="Calibri" pitchFamily="34" charset="-122"/>
                <a:cs typeface="Calibri" pitchFamily="34" charset="-120"/>
              </a:rPr>
              <a:t>stay the system of record</a:t>
            </a:r>
            <a:endParaRPr lang="en-US" sz="1050" dirty="0"/>
          </a:p>
        </p:txBody>
      </p:sp>
      <p:sp>
        <p:nvSpPr>
          <p:cNvPr id="28" name="Text 23"/>
          <p:cNvSpPr/>
          <p:nvPr/>
        </p:nvSpPr>
        <p:spPr>
          <a:xfrm>
            <a:off x="7818120" y="6382512"/>
            <a:ext cx="3840480" cy="274320"/>
          </a:xfrm>
          <a:prstGeom prst="rect">
            <a:avLst/>
          </a:prstGeom>
          <a:noFill/>
        </p:spPr>
        <p:txBody>
          <a:bodyPr wrap="square" lIns="0" tIns="0" rIns="0" bIns="0" rtlCol="0" anchor="t"/>
          <a:lstStyle/>
          <a:p>
            <a:pPr marL="0" indent="0">
              <a:buNone/>
            </a:pPr>
            <a:r>
              <a:rPr lang="en-US" sz="1100" i="1" dirty="0">
                <a:solidFill>
                  <a:srgbClr val="0072A8"/>
                </a:solidFill>
                <a:latin typeface="Calibri" pitchFamily="34" charset="0"/>
                <a:ea typeface="Calibri" pitchFamily="34" charset="-122"/>
                <a:cs typeface="Calibri" pitchFamily="34" charset="-120"/>
              </a:rPr>
              <a:t>Nothing is replaced. Mirai sits on top.</a:t>
            </a:r>
            <a:endParaRPr lang="en-US" sz="1100" dirty="0"/>
          </a:p>
        </p:txBody>
      </p:sp>
      <p:sp>
        <p:nvSpPr>
          <p:cNvPr id="29" name="Text 24"/>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303C"/>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61AFDA"/>
                </a:solidFill>
                <a:latin typeface="Calibri" pitchFamily="34" charset="0"/>
                <a:ea typeface="Calibri" pitchFamily="34" charset="-122"/>
                <a:cs typeface="Calibri" pitchFamily="34" charset="-120"/>
              </a:rPr>
              <a:t>WHAT YOU ACTUALLY WANT</a:t>
            </a:r>
            <a:endParaRPr lang="en-US" sz="1050" dirty="0"/>
          </a:p>
        </p:txBody>
      </p:sp>
      <p:sp>
        <p:nvSpPr>
          <p:cNvPr id="3" name="Text 1"/>
          <p:cNvSpPr/>
          <p:nvPr/>
        </p:nvSpPr>
        <p:spPr>
          <a:xfrm>
            <a:off x="548640" y="822960"/>
            <a:ext cx="7498080" cy="1554480"/>
          </a:xfrm>
          <a:prstGeom prst="rect">
            <a:avLst/>
          </a:prstGeom>
          <a:noFill/>
        </p:spPr>
        <p:txBody>
          <a:bodyPr wrap="square" lIns="0" tIns="0" rIns="0" bIns="0" rtlCol="0" anchor="t"/>
          <a:lstStyle/>
          <a:p>
            <a:pPr marL="0" indent="0">
              <a:lnSpc>
                <a:spcPct val="105000"/>
              </a:lnSpc>
              <a:buNone/>
            </a:pPr>
            <a:r>
              <a:rPr lang="en-US" sz="3600" dirty="0">
                <a:solidFill>
                  <a:srgbClr val="FFFFFF"/>
                </a:solidFill>
                <a:latin typeface="Cambria" pitchFamily="34" charset="0"/>
                <a:ea typeface="Cambria" pitchFamily="34" charset="-122"/>
                <a:cs typeface="Cambria" pitchFamily="34" charset="-120"/>
              </a:rPr>
              <a:t>Scan. Fourteen seconds. The chart has been read for you.</a:t>
            </a:r>
            <a:endParaRPr lang="en-US" sz="3600" dirty="0"/>
          </a:p>
        </p:txBody>
      </p:sp>
      <p:pic>
        <p:nvPicPr>
          <p:cNvPr id="4" name="Image 0" descr="preencoded.png"/>
          <p:cNvPicPr>
            <a:picLocks noChangeAspect="1"/>
          </p:cNvPicPr>
          <p:nvPr/>
        </p:nvPicPr>
        <p:blipFill>
          <a:blip r:embed="rId1"/>
          <a:stretch>
            <a:fillRect/>
          </a:stretch>
        </p:blipFill>
        <p:spPr>
          <a:xfrm>
            <a:off x="548640" y="2532888"/>
            <a:ext cx="457200" cy="457200"/>
          </a:xfrm>
          <a:prstGeom prst="rect">
            <a:avLst/>
          </a:prstGeom>
        </p:spPr>
      </p:pic>
      <p:sp>
        <p:nvSpPr>
          <p:cNvPr id="5" name="Text 2"/>
          <p:cNvSpPr/>
          <p:nvPr/>
        </p:nvSpPr>
        <p:spPr>
          <a:xfrm>
            <a:off x="1188720" y="2514600"/>
            <a:ext cx="6766560" cy="320040"/>
          </a:xfrm>
          <a:prstGeom prst="rect">
            <a:avLst/>
          </a:prstGeom>
          <a:noFill/>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You look at the patient, not the file.</a:t>
            </a:r>
            <a:endParaRPr lang="en-US" sz="1600" dirty="0"/>
          </a:p>
        </p:txBody>
      </p:sp>
      <p:sp>
        <p:nvSpPr>
          <p:cNvPr id="6" name="Text 3"/>
          <p:cNvSpPr/>
          <p:nvPr/>
        </p:nvSpPr>
        <p:spPr>
          <a:xfrm>
            <a:off x="1188720" y="2843784"/>
            <a:ext cx="6766560" cy="502920"/>
          </a:xfrm>
          <a:prstGeom prst="rect">
            <a:avLst/>
          </a:prstGeom>
          <a:noFill/>
        </p:spPr>
        <p:txBody>
          <a:bodyPr wrap="square" lIns="0" tIns="0" rIns="0" bIns="0" rtlCol="0" anchor="t"/>
          <a:lstStyle/>
          <a:p>
            <a:pPr marL="0" indent="0">
              <a:lnSpc>
                <a:spcPct val="115000"/>
              </a:lnSpc>
              <a:buNone/>
            </a:pPr>
            <a:r>
              <a:rPr lang="en-US" sz="1250" dirty="0">
                <a:solidFill>
                  <a:srgbClr val="B9C6D1"/>
                </a:solidFill>
                <a:latin typeface="Calibri" pitchFamily="34" charset="0"/>
                <a:ea typeface="Calibri" pitchFamily="34" charset="-122"/>
                <a:cs typeface="Calibri" pitchFamily="34" charset="-120"/>
              </a:rPr>
              <a:t>The brief is one paragraph, written for your specialty, with the three numbers that matter today.</a:t>
            </a:r>
            <a:endParaRPr lang="en-US" sz="1250" dirty="0"/>
          </a:p>
        </p:txBody>
      </p:sp>
      <p:pic>
        <p:nvPicPr>
          <p:cNvPr id="7" name="Image 1" descr="preencoded.png"/>
          <p:cNvPicPr>
            <a:picLocks noChangeAspect="1"/>
          </p:cNvPicPr>
          <p:nvPr/>
        </p:nvPicPr>
        <p:blipFill>
          <a:blip r:embed="rId2"/>
          <a:stretch>
            <a:fillRect/>
          </a:stretch>
        </p:blipFill>
        <p:spPr>
          <a:xfrm>
            <a:off x="548640" y="3447288"/>
            <a:ext cx="457200" cy="457200"/>
          </a:xfrm>
          <a:prstGeom prst="rect">
            <a:avLst/>
          </a:prstGeom>
        </p:spPr>
      </p:pic>
      <p:sp>
        <p:nvSpPr>
          <p:cNvPr id="8" name="Text 4"/>
          <p:cNvSpPr/>
          <p:nvPr/>
        </p:nvSpPr>
        <p:spPr>
          <a:xfrm>
            <a:off x="1188720" y="3429000"/>
            <a:ext cx="6766560" cy="320040"/>
          </a:xfrm>
          <a:prstGeom prst="rect">
            <a:avLst/>
          </a:prstGeom>
          <a:noFill/>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You already know what cardiology changed last week.</a:t>
            </a:r>
            <a:endParaRPr lang="en-US" sz="1600" dirty="0"/>
          </a:p>
        </p:txBody>
      </p:sp>
      <p:sp>
        <p:nvSpPr>
          <p:cNvPr id="9" name="Text 5"/>
          <p:cNvSpPr/>
          <p:nvPr/>
        </p:nvSpPr>
        <p:spPr>
          <a:xfrm>
            <a:off x="1188720" y="3758184"/>
            <a:ext cx="6766560" cy="502920"/>
          </a:xfrm>
          <a:prstGeom prst="rect">
            <a:avLst/>
          </a:prstGeom>
          <a:noFill/>
        </p:spPr>
        <p:txBody>
          <a:bodyPr wrap="square" lIns="0" tIns="0" rIns="0" bIns="0" rtlCol="0" anchor="t"/>
          <a:lstStyle/>
          <a:p>
            <a:pPr marL="0" indent="0">
              <a:lnSpc>
                <a:spcPct val="115000"/>
              </a:lnSpc>
              <a:buNone/>
            </a:pPr>
            <a:r>
              <a:rPr lang="en-US" sz="1250" dirty="0">
                <a:solidFill>
                  <a:srgbClr val="B9C6D1"/>
                </a:solidFill>
                <a:latin typeface="Calibri" pitchFamily="34" charset="0"/>
                <a:ea typeface="Calibri" pitchFamily="34" charset="-122"/>
                <a:cs typeface="Calibri" pitchFamily="34" charset="-120"/>
              </a:rPr>
              <a:t>Every department’s finalised records, one timeline. No surprises in the bag.</a:t>
            </a:r>
            <a:endParaRPr lang="en-US" sz="1250" dirty="0"/>
          </a:p>
        </p:txBody>
      </p:sp>
      <p:pic>
        <p:nvPicPr>
          <p:cNvPr id="10" name="Image 2" descr="preencoded.png"/>
          <p:cNvPicPr>
            <a:picLocks noChangeAspect="1"/>
          </p:cNvPicPr>
          <p:nvPr/>
        </p:nvPicPr>
        <p:blipFill>
          <a:blip r:embed="rId3"/>
          <a:stretch>
            <a:fillRect/>
          </a:stretch>
        </p:blipFill>
        <p:spPr>
          <a:xfrm>
            <a:off x="548640" y="4361688"/>
            <a:ext cx="457200" cy="457200"/>
          </a:xfrm>
          <a:prstGeom prst="rect">
            <a:avLst/>
          </a:prstGeom>
        </p:spPr>
      </p:pic>
      <p:sp>
        <p:nvSpPr>
          <p:cNvPr id="11" name="Text 6"/>
          <p:cNvSpPr/>
          <p:nvPr/>
        </p:nvSpPr>
        <p:spPr>
          <a:xfrm>
            <a:off x="1188720" y="4343400"/>
            <a:ext cx="6766560" cy="320040"/>
          </a:xfrm>
          <a:prstGeom prst="rect">
            <a:avLst/>
          </a:prstGeom>
          <a:noFill/>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The allergy is the first line. Every time.</a:t>
            </a:r>
            <a:endParaRPr lang="en-US" sz="1600" dirty="0"/>
          </a:p>
        </p:txBody>
      </p:sp>
      <p:sp>
        <p:nvSpPr>
          <p:cNvPr id="12" name="Text 7"/>
          <p:cNvSpPr/>
          <p:nvPr/>
        </p:nvSpPr>
        <p:spPr>
          <a:xfrm>
            <a:off x="1188720" y="4672584"/>
            <a:ext cx="6766560" cy="502920"/>
          </a:xfrm>
          <a:prstGeom prst="rect">
            <a:avLst/>
          </a:prstGeom>
          <a:noFill/>
        </p:spPr>
        <p:txBody>
          <a:bodyPr wrap="square" lIns="0" tIns="0" rIns="0" bIns="0" rtlCol="0" anchor="t"/>
          <a:lstStyle/>
          <a:p>
            <a:pPr marL="0" indent="0">
              <a:lnSpc>
                <a:spcPct val="115000"/>
              </a:lnSpc>
              <a:buNone/>
            </a:pPr>
            <a:r>
              <a:rPr lang="en-US" sz="1250" dirty="0">
                <a:solidFill>
                  <a:srgbClr val="B9C6D1"/>
                </a:solidFill>
                <a:latin typeface="Calibri" pitchFamily="34" charset="0"/>
                <a:ea typeface="Calibri" pitchFamily="34" charset="-122"/>
                <a:cs typeface="Calibri" pitchFamily="34" charset="-120"/>
              </a:rPr>
              <a:t>And the warning fires at the moment of prescribing, not at the pharmacy.</a:t>
            </a:r>
            <a:endParaRPr lang="en-US" sz="1250" dirty="0"/>
          </a:p>
        </p:txBody>
      </p:sp>
      <p:sp>
        <p:nvSpPr>
          <p:cNvPr id="13" name="Shape 8"/>
          <p:cNvSpPr/>
          <p:nvPr/>
        </p:nvSpPr>
        <p:spPr>
          <a:xfrm>
            <a:off x="548640" y="5303520"/>
            <a:ext cx="2148840" cy="960120"/>
          </a:xfrm>
          <a:prstGeom prst="roundRect">
            <a:avLst>
              <a:gd name="adj" fmla="val 9524"/>
            </a:avLst>
          </a:prstGeom>
          <a:solidFill>
            <a:srgbClr val="2C3E4E"/>
          </a:solidFill>
          <a:ln w="12700">
            <a:solidFill>
              <a:srgbClr val="3A4E60"/>
            </a:solidFill>
            <a:prstDash val="solid"/>
          </a:ln>
        </p:spPr>
      </p:sp>
      <p:sp>
        <p:nvSpPr>
          <p:cNvPr id="14" name="Text 9"/>
          <p:cNvSpPr/>
          <p:nvPr/>
        </p:nvSpPr>
        <p:spPr>
          <a:xfrm>
            <a:off x="749808" y="5413248"/>
            <a:ext cx="1783080" cy="50292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23</a:t>
            </a:r>
            <a:endParaRPr lang="en-US" sz="3000" dirty="0"/>
          </a:p>
        </p:txBody>
      </p:sp>
      <p:sp>
        <p:nvSpPr>
          <p:cNvPr id="15" name="Text 10"/>
          <p:cNvSpPr/>
          <p:nvPr/>
        </p:nvSpPr>
        <p:spPr>
          <a:xfrm>
            <a:off x="749808" y="5907024"/>
            <a:ext cx="1783080" cy="274320"/>
          </a:xfrm>
          <a:prstGeom prst="rect">
            <a:avLst/>
          </a:prstGeom>
          <a:noFill/>
        </p:spPr>
        <p:txBody>
          <a:bodyPr wrap="square" lIns="0" tIns="0" rIns="0" bIns="0" rtlCol="0" anchor="t"/>
          <a:lstStyle/>
          <a:p>
            <a:pPr marL="0" indent="0">
              <a:buNone/>
            </a:pPr>
            <a:r>
              <a:rPr lang="en-US" sz="1100" dirty="0">
                <a:solidFill>
                  <a:srgbClr val="61AFDA"/>
                </a:solidFill>
                <a:latin typeface="Calibri" pitchFamily="34" charset="0"/>
                <a:ea typeface="Calibri" pitchFamily="34" charset="-122"/>
                <a:cs typeface="Calibri" pitchFamily="34" charset="-120"/>
              </a:rPr>
              <a:t>OPD patients today</a:t>
            </a:r>
            <a:endParaRPr lang="en-US" sz="1100" dirty="0"/>
          </a:p>
        </p:txBody>
      </p:sp>
      <p:sp>
        <p:nvSpPr>
          <p:cNvPr id="16" name="Shape 11"/>
          <p:cNvSpPr/>
          <p:nvPr/>
        </p:nvSpPr>
        <p:spPr>
          <a:xfrm>
            <a:off x="2880360" y="5303520"/>
            <a:ext cx="2148840" cy="960120"/>
          </a:xfrm>
          <a:prstGeom prst="roundRect">
            <a:avLst>
              <a:gd name="adj" fmla="val 9524"/>
            </a:avLst>
          </a:prstGeom>
          <a:solidFill>
            <a:srgbClr val="2C3E4E"/>
          </a:solidFill>
          <a:ln w="12700">
            <a:solidFill>
              <a:srgbClr val="3A4E60"/>
            </a:solidFill>
            <a:prstDash val="solid"/>
          </a:ln>
        </p:spPr>
      </p:sp>
      <p:sp>
        <p:nvSpPr>
          <p:cNvPr id="17" name="Text 12"/>
          <p:cNvSpPr/>
          <p:nvPr/>
        </p:nvSpPr>
        <p:spPr>
          <a:xfrm>
            <a:off x="3081528" y="5413248"/>
            <a:ext cx="1783080" cy="50292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14 s</a:t>
            </a:r>
            <a:endParaRPr lang="en-US" sz="3000" dirty="0"/>
          </a:p>
        </p:txBody>
      </p:sp>
      <p:sp>
        <p:nvSpPr>
          <p:cNvPr id="18" name="Text 13"/>
          <p:cNvSpPr/>
          <p:nvPr/>
        </p:nvSpPr>
        <p:spPr>
          <a:xfrm>
            <a:off x="3081528" y="5907024"/>
            <a:ext cx="1783080" cy="274320"/>
          </a:xfrm>
          <a:prstGeom prst="rect">
            <a:avLst/>
          </a:prstGeom>
          <a:noFill/>
        </p:spPr>
        <p:txBody>
          <a:bodyPr wrap="square" lIns="0" tIns="0" rIns="0" bIns="0" rtlCol="0" anchor="t"/>
          <a:lstStyle/>
          <a:p>
            <a:pPr marL="0" indent="0">
              <a:buNone/>
            </a:pPr>
            <a:r>
              <a:rPr lang="en-US" sz="1100" dirty="0">
                <a:solidFill>
                  <a:srgbClr val="61AFDA"/>
                </a:solidFill>
                <a:latin typeface="Calibri" pitchFamily="34" charset="0"/>
                <a:ea typeface="Calibri" pitchFamily="34" charset="-122"/>
                <a:cs typeface="Calibri" pitchFamily="34" charset="-120"/>
              </a:rPr>
              <a:t>scan → full chart</a:t>
            </a:r>
            <a:endParaRPr lang="en-US" sz="1100" dirty="0"/>
          </a:p>
        </p:txBody>
      </p:sp>
      <p:sp>
        <p:nvSpPr>
          <p:cNvPr id="19" name="Shape 14"/>
          <p:cNvSpPr/>
          <p:nvPr/>
        </p:nvSpPr>
        <p:spPr>
          <a:xfrm>
            <a:off x="5212080" y="5303520"/>
            <a:ext cx="2148840" cy="960120"/>
          </a:xfrm>
          <a:prstGeom prst="roundRect">
            <a:avLst>
              <a:gd name="adj" fmla="val 9524"/>
            </a:avLst>
          </a:prstGeom>
          <a:solidFill>
            <a:srgbClr val="2C3E4E"/>
          </a:solidFill>
          <a:ln w="12700">
            <a:solidFill>
              <a:srgbClr val="3A4E60"/>
            </a:solidFill>
            <a:prstDash val="solid"/>
          </a:ln>
        </p:spPr>
      </p:sp>
      <p:sp>
        <p:nvSpPr>
          <p:cNvPr id="20" name="Text 15"/>
          <p:cNvSpPr/>
          <p:nvPr/>
        </p:nvSpPr>
        <p:spPr>
          <a:xfrm>
            <a:off x="5413248" y="5413248"/>
            <a:ext cx="1783080" cy="502920"/>
          </a:xfrm>
          <a:prstGeom prst="rect">
            <a:avLst/>
          </a:prstGeom>
          <a:noFill/>
        </p:spPr>
        <p:txBody>
          <a:bodyPr wrap="square" lIns="0" tIns="0" rIns="0" bIns="0" rtlCol="0" anchor="t"/>
          <a:lstStyle/>
          <a:p>
            <a:pPr marL="0" indent="0">
              <a:buNone/>
            </a:pPr>
            <a:r>
              <a:rPr lang="en-US" sz="3000" dirty="0">
                <a:solidFill>
                  <a:srgbClr val="FFFFFF"/>
                </a:solidFill>
                <a:latin typeface="Cambria" pitchFamily="34" charset="0"/>
                <a:ea typeface="Cambria" pitchFamily="34" charset="-122"/>
                <a:cs typeface="Cambria" pitchFamily="34" charset="-120"/>
              </a:rPr>
              <a:t>0</a:t>
            </a:r>
            <a:endParaRPr lang="en-US" sz="3000" dirty="0"/>
          </a:p>
        </p:txBody>
      </p:sp>
      <p:sp>
        <p:nvSpPr>
          <p:cNvPr id="21" name="Text 16"/>
          <p:cNvSpPr/>
          <p:nvPr/>
        </p:nvSpPr>
        <p:spPr>
          <a:xfrm>
            <a:off x="5413248" y="5907024"/>
            <a:ext cx="1783080" cy="274320"/>
          </a:xfrm>
          <a:prstGeom prst="rect">
            <a:avLst/>
          </a:prstGeom>
          <a:noFill/>
        </p:spPr>
        <p:txBody>
          <a:bodyPr wrap="square" lIns="0" tIns="0" rIns="0" bIns="0" rtlCol="0" anchor="t"/>
          <a:lstStyle/>
          <a:p>
            <a:pPr marL="0" indent="0">
              <a:buNone/>
            </a:pPr>
            <a:r>
              <a:rPr lang="en-US" sz="1100" dirty="0">
                <a:solidFill>
                  <a:srgbClr val="61AFDA"/>
                </a:solidFill>
                <a:latin typeface="Calibri" pitchFamily="34" charset="0"/>
                <a:ea typeface="Calibri" pitchFamily="34" charset="-122"/>
                <a:cs typeface="Calibri" pitchFamily="34" charset="-120"/>
              </a:rPr>
              <a:t>paper files pulled</a:t>
            </a:r>
            <a:endParaRPr lang="en-US" sz="1100" dirty="0"/>
          </a:p>
        </p:txBody>
      </p:sp>
      <p:sp>
        <p:nvSpPr>
          <p:cNvPr id="22" name="Text 17"/>
          <p:cNvSpPr/>
          <p:nvPr/>
        </p:nvSpPr>
        <p:spPr>
          <a:xfrm>
            <a:off x="548640" y="6327648"/>
            <a:ext cx="6949440" cy="274320"/>
          </a:xfrm>
          <a:prstGeom prst="rect">
            <a:avLst/>
          </a:prstGeom>
          <a:noFill/>
        </p:spPr>
        <p:txBody>
          <a:bodyPr wrap="square" lIns="0" tIns="0" rIns="0" bIns="0" rtlCol="0" anchor="t"/>
          <a:lstStyle/>
          <a:p>
            <a:pPr marL="0" indent="0">
              <a:buNone/>
            </a:pPr>
            <a:r>
              <a:rPr lang="en-US" sz="1000" i="1" dirty="0">
                <a:solidFill>
                  <a:srgbClr val="8FA1B0"/>
                </a:solidFill>
                <a:latin typeface="Calibri" pitchFamily="34" charset="0"/>
                <a:ea typeface="Calibri" pitchFamily="34" charset="-122"/>
                <a:cs typeface="Calibri" pitchFamily="34" charset="-120"/>
              </a:rPr>
              <a:t>The doctor home screen, as designed. These are the targets the pilot will measure.</a:t>
            </a:r>
            <a:endParaRPr lang="en-US" sz="1000" dirty="0"/>
          </a:p>
        </p:txBody>
      </p:sp>
      <p:pic>
        <p:nvPicPr>
          <p:cNvPr id="23" name="Image 3" descr="preencoded.png"/>
          <p:cNvPicPr>
            <a:picLocks noChangeAspect="1"/>
          </p:cNvPicPr>
          <p:nvPr/>
        </p:nvPicPr>
        <p:blipFill>
          <a:blip r:embed="rId4"/>
          <a:stretch>
            <a:fillRect/>
          </a:stretch>
        </p:blipFill>
        <p:spPr>
          <a:xfrm>
            <a:off x="8732520" y="594360"/>
            <a:ext cx="2649668" cy="5760720"/>
          </a:xfrm>
          <a:prstGeom prst="rect">
            <a:avLst/>
          </a:prstGeom>
          <a:effectLst>
            <a:outerShdw blurRad="101600" dist="25400" dir="5400000" algn="bl" rotWithShape="0">
              <a:srgbClr val="22303C">
                <a:alpha val="1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MIRAI IN ONE LINE</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One patient. One identity. One QR.</a:t>
            </a:r>
            <a:endParaRPr lang="en-US" sz="3200" dirty="0"/>
          </a:p>
        </p:txBody>
      </p:sp>
      <p:pic>
        <p:nvPicPr>
          <p:cNvPr id="4" name="Image 0" descr="preencoded.png"/>
          <p:cNvPicPr>
            <a:picLocks noChangeAspect="1"/>
          </p:cNvPicPr>
          <p:nvPr/>
        </p:nvPicPr>
        <p:blipFill>
          <a:blip r:embed="rId1"/>
          <a:stretch>
            <a:fillRect/>
          </a:stretch>
        </p:blipFill>
        <p:spPr>
          <a:xfrm>
            <a:off x="548640" y="1600200"/>
            <a:ext cx="1745416" cy="3794760"/>
          </a:xfrm>
          <a:prstGeom prst="rect">
            <a:avLst/>
          </a:prstGeom>
          <a:effectLst>
            <a:outerShdw blurRad="101600" dist="25400" dir="5400000" algn="bl" rotWithShape="0">
              <a:srgbClr val="22303C">
                <a:alpha val="10000"/>
              </a:srgbClr>
            </a:outerShdw>
          </a:effectLst>
        </p:spPr>
      </p:pic>
      <p:sp>
        <p:nvSpPr>
          <p:cNvPr id="5" name="Text 2"/>
          <p:cNvSpPr/>
          <p:nvPr/>
        </p:nvSpPr>
        <p:spPr>
          <a:xfrm>
            <a:off x="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The patient carries the record</a:t>
            </a:r>
            <a:endParaRPr lang="en-US" sz="1350" dirty="0"/>
          </a:p>
        </p:txBody>
      </p:sp>
      <p:sp>
        <p:nvSpPr>
          <p:cNvPr id="6" name="Text 3"/>
          <p:cNvSpPr/>
          <p:nvPr/>
        </p:nvSpPr>
        <p:spPr>
          <a:xfrm>
            <a:off x="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A phone number and an OTP. Family profiles on one account. Reports arrive on the phone the day they are finalised.</a:t>
            </a:r>
            <a:endParaRPr lang="en-US" sz="1050" dirty="0"/>
          </a:p>
        </p:txBody>
      </p:sp>
      <p:pic>
        <p:nvPicPr>
          <p:cNvPr id="7" name="Image 1" descr="preencoded.png"/>
          <p:cNvPicPr>
            <a:picLocks noChangeAspect="1"/>
          </p:cNvPicPr>
          <p:nvPr/>
        </p:nvPicPr>
        <p:blipFill>
          <a:blip r:embed="rId2"/>
          <a:stretch>
            <a:fillRect/>
          </a:stretch>
        </p:blipFill>
        <p:spPr>
          <a:xfrm>
            <a:off x="5223140" y="1600200"/>
            <a:ext cx="1745416" cy="3794760"/>
          </a:xfrm>
          <a:prstGeom prst="rect">
            <a:avLst/>
          </a:prstGeom>
          <a:effectLst>
            <a:outerShdw blurRad="101600" dist="25400" dir="5400000" algn="bl" rotWithShape="0">
              <a:srgbClr val="22303C">
                <a:alpha val="10000"/>
              </a:srgbClr>
            </a:outerShdw>
          </a:effectLst>
        </p:spPr>
      </p:pic>
      <p:sp>
        <p:nvSpPr>
          <p:cNvPr id="8" name="Text 4"/>
          <p:cNvSpPr/>
          <p:nvPr/>
        </p:nvSpPr>
        <p:spPr>
          <a:xfrm>
            <a:off x="467450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Identifies. Never authorises.</a:t>
            </a:r>
            <a:endParaRPr lang="en-US" sz="1350" dirty="0"/>
          </a:p>
        </p:txBody>
      </p:sp>
      <p:sp>
        <p:nvSpPr>
          <p:cNvPr id="9" name="Text 5"/>
          <p:cNvSpPr/>
          <p:nvPr/>
        </p:nvSpPr>
        <p:spPr>
          <a:xfrm>
            <a:off x="467450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An opaque token that carries no medical data and rotates every five minutes. What the doctor sees is decided by authorisation and consent.</a:t>
            </a:r>
            <a:endParaRPr lang="en-US" sz="1050" dirty="0"/>
          </a:p>
        </p:txBody>
      </p:sp>
      <p:pic>
        <p:nvPicPr>
          <p:cNvPr id="10" name="Image 2" descr="preencoded.png"/>
          <p:cNvPicPr>
            <a:picLocks noChangeAspect="1"/>
          </p:cNvPicPr>
          <p:nvPr/>
        </p:nvPicPr>
        <p:blipFill>
          <a:blip r:embed="rId3"/>
          <a:stretch>
            <a:fillRect/>
          </a:stretch>
        </p:blipFill>
        <p:spPr>
          <a:xfrm>
            <a:off x="9897639" y="1600200"/>
            <a:ext cx="1745416" cy="3794760"/>
          </a:xfrm>
          <a:prstGeom prst="rect">
            <a:avLst/>
          </a:prstGeom>
          <a:effectLst>
            <a:outerShdw blurRad="101600" dist="25400" dir="5400000" algn="bl" rotWithShape="0">
              <a:srgbClr val="22303C">
                <a:alpha val="10000"/>
              </a:srgbClr>
            </a:outerShdw>
          </a:effectLst>
        </p:spPr>
      </p:pic>
      <p:sp>
        <p:nvSpPr>
          <p:cNvPr id="11" name="Text 6"/>
          <p:cNvSpPr/>
          <p:nvPr/>
        </p:nvSpPr>
        <p:spPr>
          <a:xfrm>
            <a:off x="9348999"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Scan starts the consult</a:t>
            </a:r>
            <a:endParaRPr lang="en-US" sz="1350" dirty="0"/>
          </a:p>
        </p:txBody>
      </p:sp>
      <p:sp>
        <p:nvSpPr>
          <p:cNvPr id="12" name="Text 7"/>
          <p:cNvSpPr/>
          <p:nvPr/>
        </p:nvSpPr>
        <p:spPr>
          <a:xfrm>
            <a:off x="9348999"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Identity resolved, consent checked, session logged. The doctor’s own hospital records are there before a single patient enrols.</a:t>
            </a:r>
            <a:endParaRPr lang="en-US" sz="1050" dirty="0"/>
          </a:p>
        </p:txBody>
      </p:sp>
      <p:sp>
        <p:nvSpPr>
          <p:cNvPr id="13" name="Text 8"/>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DOCTOR’S VIEW</a:t>
            </a:r>
            <a:endParaRPr lang="en-US" sz="1050" dirty="0"/>
          </a:p>
        </p:txBody>
      </p:sp>
      <p:sp>
        <p:nvSpPr>
          <p:cNvPr id="3" name="Text 1"/>
          <p:cNvSpPr/>
          <p:nvPr/>
        </p:nvSpPr>
        <p:spPr>
          <a:xfrm>
            <a:off x="548640" y="822960"/>
            <a:ext cx="6949440" cy="1188720"/>
          </a:xfrm>
          <a:prstGeom prst="rect">
            <a:avLst/>
          </a:prstGeom>
          <a:noFill/>
        </p:spPr>
        <p:txBody>
          <a:bodyPr wrap="square" lIns="0" tIns="0" rIns="0" bIns="0" rtlCol="0" anchor="t"/>
          <a:lstStyle/>
          <a:p>
            <a:pPr marL="0" indent="0">
              <a:buNone/>
            </a:pPr>
            <a:r>
              <a:rPr lang="en-US" sz="2800" dirty="0">
                <a:solidFill>
                  <a:srgbClr val="22303C"/>
                </a:solidFill>
                <a:latin typeface="Cambria" pitchFamily="34" charset="0"/>
                <a:ea typeface="Cambria" pitchFamily="34" charset="-122"/>
                <a:cs typeface="Cambria" pitchFamily="34" charset="-120"/>
              </a:rPr>
              <a:t>The whole history, read for your specialty, at the moment of scan.</a:t>
            </a:r>
            <a:endParaRPr lang="en-US" sz="2800" dirty="0"/>
          </a:p>
        </p:txBody>
      </p:sp>
      <p:pic>
        <p:nvPicPr>
          <p:cNvPr id="4" name="Image 0" descr="preencoded.png"/>
          <p:cNvPicPr>
            <a:picLocks noChangeAspect="1"/>
          </p:cNvPicPr>
          <p:nvPr/>
        </p:nvPicPr>
        <p:blipFill>
          <a:blip r:embed="rId1"/>
          <a:stretch>
            <a:fillRect/>
          </a:stretch>
        </p:blipFill>
        <p:spPr>
          <a:xfrm>
            <a:off x="8412480" y="548640"/>
            <a:ext cx="2670697" cy="5806440"/>
          </a:xfrm>
          <a:prstGeom prst="rect">
            <a:avLst/>
          </a:prstGeom>
          <a:effectLst>
            <a:outerShdw blurRad="101600" dist="25400" dir="5400000" algn="bl" rotWithShape="0">
              <a:srgbClr val="22303C">
                <a:alpha val="10000"/>
              </a:srgbClr>
            </a:outerShdw>
          </a:effectLst>
        </p:spPr>
      </p:pic>
      <p:sp>
        <p:nvSpPr>
          <p:cNvPr id="5" name="Shape 2"/>
          <p:cNvSpPr/>
          <p:nvPr/>
        </p:nvSpPr>
        <p:spPr>
          <a:xfrm>
            <a:off x="548640" y="2258568"/>
            <a:ext cx="384048" cy="384048"/>
          </a:xfrm>
          <a:prstGeom prst="ellipse">
            <a:avLst/>
          </a:prstGeom>
          <a:solidFill>
            <a:srgbClr val="0072A8"/>
          </a:solidFill>
          <a:ln w="12700">
            <a:solidFill>
              <a:srgbClr val="0072A8"/>
            </a:solidFill>
            <a:prstDash val="solid"/>
          </a:ln>
        </p:spPr>
      </p:sp>
      <p:sp>
        <p:nvSpPr>
          <p:cNvPr id="6" name="Text 3"/>
          <p:cNvSpPr/>
          <p:nvPr/>
        </p:nvSpPr>
        <p:spPr>
          <a:xfrm>
            <a:off x="548640" y="2258568"/>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4"/>
          <p:cNvSpPr/>
          <p:nvPr/>
        </p:nvSpPr>
        <p:spPr>
          <a:xfrm>
            <a:off x="1097280" y="2240280"/>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Allergy first. Always.</a:t>
            </a:r>
            <a:endParaRPr lang="en-US" sz="1500" dirty="0"/>
          </a:p>
        </p:txBody>
      </p:sp>
      <p:sp>
        <p:nvSpPr>
          <p:cNvPr id="8" name="Text 5"/>
          <p:cNvSpPr/>
          <p:nvPr/>
        </p:nvSpPr>
        <p:spPr>
          <a:xfrm>
            <a:off x="1097280" y="2542032"/>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The red strip sits above the tabs. It cannot be scrolled away.</a:t>
            </a:r>
            <a:endParaRPr lang="en-US" sz="1200" dirty="0"/>
          </a:p>
        </p:txBody>
      </p:sp>
      <p:sp>
        <p:nvSpPr>
          <p:cNvPr id="9" name="Shape 6"/>
          <p:cNvSpPr/>
          <p:nvPr/>
        </p:nvSpPr>
        <p:spPr>
          <a:xfrm>
            <a:off x="548640" y="3282696"/>
            <a:ext cx="384048" cy="384048"/>
          </a:xfrm>
          <a:prstGeom prst="ellipse">
            <a:avLst/>
          </a:prstGeom>
          <a:solidFill>
            <a:srgbClr val="0072A8"/>
          </a:solidFill>
          <a:ln w="12700">
            <a:solidFill>
              <a:srgbClr val="0072A8"/>
            </a:solidFill>
            <a:prstDash val="solid"/>
          </a:ln>
        </p:spPr>
      </p:sp>
      <p:sp>
        <p:nvSpPr>
          <p:cNvPr id="10" name="Text 7"/>
          <p:cNvSpPr/>
          <p:nvPr/>
        </p:nvSpPr>
        <p:spPr>
          <a:xfrm>
            <a:off x="548640" y="3282696"/>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8"/>
          <p:cNvSpPr/>
          <p:nvPr/>
        </p:nvSpPr>
        <p:spPr>
          <a:xfrm>
            <a:off x="1097280" y="3264408"/>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A brief, not a file.</a:t>
            </a:r>
            <a:endParaRPr lang="en-US" sz="1500" dirty="0"/>
          </a:p>
        </p:txBody>
      </p:sp>
      <p:sp>
        <p:nvSpPr>
          <p:cNvPr id="12" name="Text 9"/>
          <p:cNvSpPr/>
          <p:nvPr/>
        </p:nvSpPr>
        <p:spPr>
          <a:xfrm>
            <a:off x="1097280" y="3566160"/>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Seven records became one paragraph: control, what is new today, current medication, past surgery, a suggested focus. Written for an endocrinologist.</a:t>
            </a:r>
            <a:endParaRPr lang="en-US" sz="1200" dirty="0"/>
          </a:p>
        </p:txBody>
      </p:sp>
      <p:sp>
        <p:nvSpPr>
          <p:cNvPr id="13" name="Shape 10"/>
          <p:cNvSpPr/>
          <p:nvPr/>
        </p:nvSpPr>
        <p:spPr>
          <a:xfrm>
            <a:off x="548640" y="4306824"/>
            <a:ext cx="384048" cy="384048"/>
          </a:xfrm>
          <a:prstGeom prst="ellipse">
            <a:avLst/>
          </a:prstGeom>
          <a:solidFill>
            <a:srgbClr val="0072A8"/>
          </a:solidFill>
          <a:ln w="12700">
            <a:solidFill>
              <a:srgbClr val="0072A8"/>
            </a:solidFill>
            <a:prstDash val="solid"/>
          </a:ln>
        </p:spPr>
      </p:sp>
      <p:sp>
        <p:nvSpPr>
          <p:cNvPr id="14" name="Text 11"/>
          <p:cNvSpPr/>
          <p:nvPr/>
        </p:nvSpPr>
        <p:spPr>
          <a:xfrm>
            <a:off x="548640" y="4306824"/>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2"/>
          <p:cNvSpPr/>
          <p:nvPr/>
        </p:nvSpPr>
        <p:spPr>
          <a:xfrm>
            <a:off x="1097280" y="4288536"/>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The chart chooses its own visual.</a:t>
            </a:r>
            <a:endParaRPr lang="en-US" sz="1500" dirty="0"/>
          </a:p>
        </p:txBody>
      </p:sp>
      <p:sp>
        <p:nvSpPr>
          <p:cNvPr id="16" name="Text 13"/>
          <p:cNvSpPr/>
          <p:nvPr/>
        </p:nvSpPr>
        <p:spPr>
          <a:xfrm>
            <a:off x="1097280" y="4590288"/>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HbA1c against target, triglycerides against reference. Picked for this visit, rendered live. A cardiologist would get an EF trend instead.</a:t>
            </a:r>
            <a:endParaRPr lang="en-US" sz="1200" dirty="0"/>
          </a:p>
        </p:txBody>
      </p:sp>
      <p:sp>
        <p:nvSpPr>
          <p:cNvPr id="17" name="Shape 14"/>
          <p:cNvSpPr/>
          <p:nvPr/>
        </p:nvSpPr>
        <p:spPr>
          <a:xfrm>
            <a:off x="548640" y="5330952"/>
            <a:ext cx="384048" cy="384048"/>
          </a:xfrm>
          <a:prstGeom prst="ellipse">
            <a:avLst/>
          </a:prstGeom>
          <a:solidFill>
            <a:srgbClr val="0072A8"/>
          </a:solidFill>
          <a:ln w="12700">
            <a:solidFill>
              <a:srgbClr val="0072A8"/>
            </a:solidFill>
            <a:prstDash val="solid"/>
          </a:ln>
        </p:spPr>
      </p:sp>
      <p:sp>
        <p:nvSpPr>
          <p:cNvPr id="18" name="Text 15"/>
          <p:cNvSpPr/>
          <p:nvPr/>
        </p:nvSpPr>
        <p:spPr>
          <a:xfrm>
            <a:off x="548640" y="5330952"/>
            <a:ext cx="384048" cy="384048"/>
          </a:xfrm>
          <a:prstGeom prst="rect">
            <a:avLst/>
          </a:prstGeom>
          <a:noFill/>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6"/>
          <p:cNvSpPr/>
          <p:nvPr/>
        </p:nvSpPr>
        <p:spPr>
          <a:xfrm>
            <a:off x="1097280" y="5312664"/>
            <a:ext cx="6949440" cy="292608"/>
          </a:xfrm>
          <a:prstGeom prst="rect">
            <a:avLst/>
          </a:prstGeom>
          <a:noFill/>
        </p:spPr>
        <p:txBody>
          <a:bodyPr wrap="square" lIns="0" tIns="0" rIns="0" bIns="0" rtlCol="0" anchor="t"/>
          <a:lstStyle/>
          <a:p>
            <a:pPr marL="0" indent="0">
              <a:buNone/>
            </a:pPr>
            <a:r>
              <a:rPr lang="en-US" sz="1500" b="1" dirty="0">
                <a:solidFill>
                  <a:srgbClr val="22303C"/>
                </a:solidFill>
                <a:latin typeface="Calibri" pitchFamily="34" charset="0"/>
                <a:ea typeface="Calibri" pitchFamily="34" charset="-122"/>
                <a:cs typeface="Calibri" pitchFamily="34" charset="-120"/>
              </a:rPr>
              <a:t>Verify against source.</a:t>
            </a:r>
            <a:endParaRPr lang="en-US" sz="1500" dirty="0"/>
          </a:p>
        </p:txBody>
      </p:sp>
      <p:sp>
        <p:nvSpPr>
          <p:cNvPr id="20" name="Text 17"/>
          <p:cNvSpPr/>
          <p:nvPr/>
        </p:nvSpPr>
        <p:spPr>
          <a:xfrm>
            <a:off x="1097280" y="5614416"/>
            <a:ext cx="7040880"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Every brief states where it came from. The original report is one tap away. The AI never writes to the record.</a:t>
            </a:r>
            <a:endParaRPr lang="en-US" sz="1200" dirty="0"/>
          </a:p>
        </p:txBody>
      </p:sp>
      <p:sp>
        <p:nvSpPr>
          <p:cNvPr id="21" name="Text 18"/>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ACROSS DEPARTMENTS</a:t>
            </a:r>
            <a:endParaRPr lang="en-US" sz="1050" dirty="0"/>
          </a:p>
        </p:txBody>
      </p:sp>
      <p:sp>
        <p:nvSpPr>
          <p:cNvPr id="3" name="Text 1"/>
          <p:cNvSpPr/>
          <p:nvPr/>
        </p:nvSpPr>
        <p:spPr>
          <a:xfrm>
            <a:off x="548640" y="822960"/>
            <a:ext cx="10515600" cy="731520"/>
          </a:xfrm>
          <a:prstGeom prst="rect">
            <a:avLst/>
          </a:prstGeom>
          <a:noFill/>
        </p:spPr>
        <p:txBody>
          <a:bodyPr wrap="square" lIns="0" tIns="0" rIns="0" bIns="0" rtlCol="0" anchor="t"/>
          <a:lstStyle/>
          <a:p>
            <a:pPr marL="0" indent="0">
              <a:buNone/>
            </a:pPr>
            <a:r>
              <a:rPr lang="en-US" sz="2800" dirty="0">
                <a:solidFill>
                  <a:srgbClr val="22303C"/>
                </a:solidFill>
                <a:latin typeface="Cambria" pitchFamily="34" charset="0"/>
                <a:ea typeface="Cambria" pitchFamily="34" charset="-122"/>
                <a:cs typeface="Cambria" pitchFamily="34" charset="-120"/>
              </a:rPr>
              <a:t>Same patient. Two specialists. Each gets the brief written for them.</a:t>
            </a:r>
            <a:endParaRPr lang="en-US" sz="2800" dirty="0"/>
          </a:p>
        </p:txBody>
      </p:sp>
      <p:sp>
        <p:nvSpPr>
          <p:cNvPr id="4" name="Text 2"/>
          <p:cNvSpPr/>
          <p:nvPr/>
        </p:nvSpPr>
        <p:spPr>
          <a:xfrm>
            <a:off x="548640" y="1627632"/>
            <a:ext cx="2081882" cy="228600"/>
          </a:xfrm>
          <a:prstGeom prst="rect">
            <a:avLst/>
          </a:prstGeom>
          <a:noFill/>
        </p:spPr>
        <p:txBody>
          <a:bodyPr wrap="square" lIns="0" tIns="0" rIns="0" bIns="0" rtlCol="0" anchor="t"/>
          <a:lstStyle/>
          <a:p>
            <a:pPr marL="0" indent="0" algn="ctr">
              <a:buNone/>
            </a:pPr>
            <a:r>
              <a:rPr lang="en-US" sz="1050" b="1" dirty="0">
                <a:solidFill>
                  <a:srgbClr val="0072A8"/>
                </a:solidFill>
                <a:latin typeface="Calibri" pitchFamily="34" charset="0"/>
                <a:ea typeface="Calibri" pitchFamily="34" charset="-122"/>
                <a:cs typeface="Calibri" pitchFamily="34" charset="-120"/>
              </a:rPr>
              <a:t>Endocrinology · Dr. Menon</a:t>
            </a:r>
            <a:endParaRPr lang="en-US" sz="1050" dirty="0"/>
          </a:p>
        </p:txBody>
      </p:sp>
      <p:sp>
        <p:nvSpPr>
          <p:cNvPr id="5" name="Text 3"/>
          <p:cNvSpPr/>
          <p:nvPr/>
        </p:nvSpPr>
        <p:spPr>
          <a:xfrm>
            <a:off x="9561174" y="1627632"/>
            <a:ext cx="2081882" cy="228600"/>
          </a:xfrm>
          <a:prstGeom prst="rect">
            <a:avLst/>
          </a:prstGeom>
          <a:noFill/>
        </p:spPr>
        <p:txBody>
          <a:bodyPr wrap="square" lIns="0" tIns="0" rIns="0" bIns="0" rtlCol="0" anchor="t"/>
          <a:lstStyle/>
          <a:p>
            <a:pPr marL="0" indent="0" algn="ctr">
              <a:buNone/>
            </a:pPr>
            <a:r>
              <a:rPr lang="en-US" sz="1050" b="1" dirty="0">
                <a:solidFill>
                  <a:srgbClr val="0072A8"/>
                </a:solidFill>
                <a:latin typeface="Calibri" pitchFamily="34" charset="0"/>
                <a:ea typeface="Calibri" pitchFamily="34" charset="-122"/>
                <a:cs typeface="Calibri" pitchFamily="34" charset="-120"/>
              </a:rPr>
              <a:t>Cardiology · Dr. Bose</a:t>
            </a:r>
            <a:endParaRPr lang="en-US" sz="1050" dirty="0"/>
          </a:p>
        </p:txBody>
      </p:sp>
      <p:pic>
        <p:nvPicPr>
          <p:cNvPr id="6" name="Image 0" descr="preencoded.png"/>
          <p:cNvPicPr>
            <a:picLocks noChangeAspect="1"/>
          </p:cNvPicPr>
          <p:nvPr/>
        </p:nvPicPr>
        <p:blipFill>
          <a:blip r:embed="rId1"/>
          <a:stretch>
            <a:fillRect/>
          </a:stretch>
        </p:blipFill>
        <p:spPr>
          <a:xfrm>
            <a:off x="548640" y="1920240"/>
            <a:ext cx="2081882" cy="4526280"/>
          </a:xfrm>
          <a:prstGeom prst="rect">
            <a:avLst/>
          </a:prstGeom>
          <a:effectLst>
            <a:outerShdw blurRad="101600" dist="25400" dir="5400000" algn="bl" rotWithShape="0">
              <a:srgbClr val="22303C">
                <a:alpha val="10000"/>
              </a:srgbClr>
            </a:outerShdw>
          </a:effectLst>
        </p:spPr>
      </p:pic>
      <p:pic>
        <p:nvPicPr>
          <p:cNvPr id="7" name="Image 1" descr="preencoded.png"/>
          <p:cNvPicPr>
            <a:picLocks noChangeAspect="1"/>
          </p:cNvPicPr>
          <p:nvPr/>
        </p:nvPicPr>
        <p:blipFill>
          <a:blip r:embed="rId2"/>
          <a:stretch>
            <a:fillRect/>
          </a:stretch>
        </p:blipFill>
        <p:spPr>
          <a:xfrm>
            <a:off x="9561174" y="1920240"/>
            <a:ext cx="2081882" cy="4526280"/>
          </a:xfrm>
          <a:prstGeom prst="rect">
            <a:avLst/>
          </a:prstGeom>
          <a:effectLst>
            <a:outerShdw blurRad="101600" dist="25400" dir="5400000" algn="bl" rotWithShape="0">
              <a:srgbClr val="22303C">
                <a:alpha val="10000"/>
              </a:srgbClr>
            </a:outerShdw>
          </a:effectLst>
        </p:spPr>
      </p:pic>
      <p:sp>
        <p:nvSpPr>
          <p:cNvPr id="8" name="Shape 4"/>
          <p:cNvSpPr/>
          <p:nvPr/>
        </p:nvSpPr>
        <p:spPr>
          <a:xfrm>
            <a:off x="3042002" y="1920240"/>
            <a:ext cx="6107692" cy="4526280"/>
          </a:xfrm>
          <a:prstGeom prst="roundRect">
            <a:avLst>
              <a:gd name="adj" fmla="val 2424"/>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sp>
        <p:nvSpPr>
          <p:cNvPr id="9" name="Text 5"/>
          <p:cNvSpPr/>
          <p:nvPr/>
        </p:nvSpPr>
        <p:spPr>
          <a:xfrm>
            <a:off x="3362042" y="2148840"/>
            <a:ext cx="5467612" cy="365760"/>
          </a:xfrm>
          <a:prstGeom prst="rect">
            <a:avLst/>
          </a:prstGeom>
          <a:noFill/>
        </p:spPr>
        <p:txBody>
          <a:bodyPr wrap="square" lIns="0" tIns="0" rIns="0" bIns="0" rtlCol="0" anchor="t"/>
          <a:lstStyle/>
          <a:p>
            <a:pPr marL="0" indent="0">
              <a:buNone/>
            </a:pPr>
            <a:r>
              <a:rPr lang="en-US" sz="2000" dirty="0">
                <a:solidFill>
                  <a:srgbClr val="22303C"/>
                </a:solidFill>
                <a:latin typeface="Cambria" pitchFamily="34" charset="0"/>
                <a:ea typeface="Cambria" pitchFamily="34" charset="-122"/>
                <a:cs typeface="Cambria" pitchFamily="34" charset="-120"/>
              </a:rPr>
              <a:t>Ravi Krishnan, 62</a:t>
            </a:r>
            <a:endParaRPr lang="en-US" sz="2000" dirty="0"/>
          </a:p>
        </p:txBody>
      </p:sp>
      <p:sp>
        <p:nvSpPr>
          <p:cNvPr id="10" name="Text 6"/>
          <p:cNvSpPr/>
          <p:nvPr/>
        </p:nvSpPr>
        <p:spPr>
          <a:xfrm>
            <a:off x="3362042" y="2560320"/>
            <a:ext cx="5467612" cy="6400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NSTEMI with PCI in February. Heart failure, EF 38%. Type 2 diabetes. Aspirin allergy. Co-managed.</a:t>
            </a:r>
            <a:endParaRPr lang="en-US" sz="1200" dirty="0"/>
          </a:p>
        </p:txBody>
      </p:sp>
      <p:sp>
        <p:nvSpPr>
          <p:cNvPr id="11" name="Shape 7"/>
          <p:cNvSpPr/>
          <p:nvPr/>
        </p:nvSpPr>
        <p:spPr>
          <a:xfrm>
            <a:off x="3362042" y="3291840"/>
            <a:ext cx="5467612" cy="0"/>
          </a:xfrm>
          <a:prstGeom prst="line">
            <a:avLst/>
          </a:prstGeom>
          <a:noFill/>
          <a:ln w="9525">
            <a:solidFill>
              <a:srgbClr val="D9D4CA"/>
            </a:solidFill>
            <a:prstDash val="solid"/>
          </a:ln>
        </p:spPr>
      </p:sp>
      <p:pic>
        <p:nvPicPr>
          <p:cNvPr id="12" name="Image 2" descr="preencoded.png"/>
          <p:cNvPicPr>
            <a:picLocks noChangeAspect="1"/>
          </p:cNvPicPr>
          <p:nvPr/>
        </p:nvPicPr>
        <p:blipFill>
          <a:blip r:embed="rId3"/>
          <a:stretch>
            <a:fillRect/>
          </a:stretch>
        </p:blipFill>
        <p:spPr>
          <a:xfrm>
            <a:off x="3362042" y="3493008"/>
            <a:ext cx="402336" cy="402336"/>
          </a:xfrm>
          <a:prstGeom prst="rect">
            <a:avLst/>
          </a:prstGeom>
        </p:spPr>
      </p:pic>
      <p:sp>
        <p:nvSpPr>
          <p:cNvPr id="13" name="Text 8"/>
          <p:cNvSpPr/>
          <p:nvPr/>
        </p:nvSpPr>
        <p:spPr>
          <a:xfrm>
            <a:off x="3883250" y="3474720"/>
            <a:ext cx="4918972"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One record, two briefs</a:t>
            </a:r>
            <a:endParaRPr lang="en-US" sz="1350" dirty="0"/>
          </a:p>
        </p:txBody>
      </p:sp>
      <p:sp>
        <p:nvSpPr>
          <p:cNvPr id="14" name="Text 9"/>
          <p:cNvSpPr/>
          <p:nvPr/>
        </p:nvSpPr>
        <p:spPr>
          <a:xfrm>
            <a:off x="3883250" y="3749040"/>
            <a:ext cx="4918972" cy="68580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The endocrinologist gets the HbA1c trend and an eGFR watch for the SGLT2 inhibitor. The cardiologist gets the EF trend and NT-proBNP. Same eighteen records.</a:t>
            </a:r>
            <a:endParaRPr lang="en-US" sz="1150" dirty="0"/>
          </a:p>
        </p:txBody>
      </p:sp>
      <p:pic>
        <p:nvPicPr>
          <p:cNvPr id="15" name="Image 3" descr="preencoded.png"/>
          <p:cNvPicPr>
            <a:picLocks noChangeAspect="1"/>
          </p:cNvPicPr>
          <p:nvPr/>
        </p:nvPicPr>
        <p:blipFill>
          <a:blip r:embed="rId4"/>
          <a:stretch>
            <a:fillRect/>
          </a:stretch>
        </p:blipFill>
        <p:spPr>
          <a:xfrm>
            <a:off x="3362042" y="4453128"/>
            <a:ext cx="402336" cy="402336"/>
          </a:xfrm>
          <a:prstGeom prst="rect">
            <a:avLst/>
          </a:prstGeom>
        </p:spPr>
      </p:pic>
      <p:sp>
        <p:nvSpPr>
          <p:cNvPr id="16" name="Text 10"/>
          <p:cNvSpPr/>
          <p:nvPr/>
        </p:nvSpPr>
        <p:spPr>
          <a:xfrm>
            <a:off x="3883250" y="4434840"/>
            <a:ext cx="4918972"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Consent scope is visible</a:t>
            </a:r>
            <a:endParaRPr lang="en-US" sz="1350" dirty="0"/>
          </a:p>
        </p:txBody>
      </p:sp>
      <p:sp>
        <p:nvSpPr>
          <p:cNvPr id="17" name="Text 11"/>
          <p:cNvSpPr/>
          <p:nvPr/>
        </p:nvSpPr>
        <p:spPr>
          <a:xfrm>
            <a:off x="3883250" y="4709160"/>
            <a:ext cx="4918972" cy="68580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The shared-care banner at the top of the chart says exactly what the co-management grant covers.</a:t>
            </a:r>
            <a:endParaRPr lang="en-US" sz="1150" dirty="0"/>
          </a:p>
        </p:txBody>
      </p:sp>
      <p:pic>
        <p:nvPicPr>
          <p:cNvPr id="18" name="Image 4" descr="preencoded.png"/>
          <p:cNvPicPr>
            <a:picLocks noChangeAspect="1"/>
          </p:cNvPicPr>
          <p:nvPr/>
        </p:nvPicPr>
        <p:blipFill>
          <a:blip r:embed="rId5"/>
          <a:stretch>
            <a:fillRect/>
          </a:stretch>
        </p:blipFill>
        <p:spPr>
          <a:xfrm>
            <a:off x="3362042" y="5413248"/>
            <a:ext cx="402336" cy="402336"/>
          </a:xfrm>
          <a:prstGeom prst="rect">
            <a:avLst/>
          </a:prstGeom>
        </p:spPr>
      </p:pic>
      <p:sp>
        <p:nvSpPr>
          <p:cNvPr id="19" name="Text 12"/>
          <p:cNvSpPr/>
          <p:nvPr/>
        </p:nvSpPr>
        <p:spPr>
          <a:xfrm>
            <a:off x="3883250" y="5394960"/>
            <a:ext cx="4918972"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Both see what either adds</a:t>
            </a:r>
            <a:endParaRPr lang="en-US" sz="1350" dirty="0"/>
          </a:p>
        </p:txBody>
      </p:sp>
      <p:sp>
        <p:nvSpPr>
          <p:cNvPr id="20" name="Text 13"/>
          <p:cNvSpPr/>
          <p:nvPr/>
        </p:nvSpPr>
        <p:spPr>
          <a:xfrm>
            <a:off x="3883250" y="5669280"/>
            <a:ext cx="4918972" cy="68580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 prescription written in one OPD is on the other’s timeline before the patient reaches the corridor.</a:t>
            </a:r>
            <a:endParaRPr lang="en-US" sz="1150" dirty="0"/>
          </a:p>
        </p:txBody>
      </p:sp>
      <p:sp>
        <p:nvSpPr>
          <p:cNvPr id="21" name="Text 14"/>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WHEN YOU HAVE A QUESTION</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000" dirty="0">
                <a:solidFill>
                  <a:srgbClr val="22303C"/>
                </a:solidFill>
                <a:latin typeface="Cambria" pitchFamily="34" charset="0"/>
                <a:ea typeface="Cambria" pitchFamily="34" charset="-122"/>
                <a:cs typeface="Cambria" pitchFamily="34" charset="-120"/>
              </a:rPr>
              <a:t>Ask the record. Compare the reports. Open the original.</a:t>
            </a:r>
            <a:endParaRPr lang="en-US" sz="3000" dirty="0"/>
          </a:p>
        </p:txBody>
      </p:sp>
      <p:pic>
        <p:nvPicPr>
          <p:cNvPr id="4" name="Image 0" descr="preencoded.png"/>
          <p:cNvPicPr>
            <a:picLocks noChangeAspect="1"/>
          </p:cNvPicPr>
          <p:nvPr/>
        </p:nvPicPr>
        <p:blipFill>
          <a:blip r:embed="rId1"/>
          <a:stretch>
            <a:fillRect/>
          </a:stretch>
        </p:blipFill>
        <p:spPr>
          <a:xfrm>
            <a:off x="548640" y="1600200"/>
            <a:ext cx="1745416" cy="3794760"/>
          </a:xfrm>
          <a:prstGeom prst="rect">
            <a:avLst/>
          </a:prstGeom>
          <a:effectLst>
            <a:outerShdw blurRad="101600" dist="25400" dir="5400000" algn="bl" rotWithShape="0">
              <a:srgbClr val="22303C">
                <a:alpha val="10000"/>
              </a:srgbClr>
            </a:outerShdw>
          </a:effectLst>
        </p:spPr>
      </p:pic>
      <p:sp>
        <p:nvSpPr>
          <p:cNvPr id="5" name="Text 2"/>
          <p:cNvSpPr/>
          <p:nvPr/>
        </p:nvSpPr>
        <p:spPr>
          <a:xfrm>
            <a:off x="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“Last eye exam?”</a:t>
            </a:r>
            <a:endParaRPr lang="en-US" sz="1350" dirty="0"/>
          </a:p>
        </p:txBody>
      </p:sp>
      <p:sp>
        <p:nvSpPr>
          <p:cNvPr id="6" name="Text 3"/>
          <p:cNvSpPr/>
          <p:nvPr/>
        </p:nvSpPr>
        <p:spPr>
          <a:xfrm>
            <a:off x="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Answers come only from the record. No ophthalmology record on file, so it says so, and suggests the referral. It does not guess.</a:t>
            </a:r>
            <a:endParaRPr lang="en-US" sz="1050" dirty="0"/>
          </a:p>
        </p:txBody>
      </p:sp>
      <p:pic>
        <p:nvPicPr>
          <p:cNvPr id="7" name="Image 1" descr="preencoded.png"/>
          <p:cNvPicPr>
            <a:picLocks noChangeAspect="1"/>
          </p:cNvPicPr>
          <p:nvPr/>
        </p:nvPicPr>
        <p:blipFill>
          <a:blip r:embed="rId2"/>
          <a:stretch>
            <a:fillRect/>
          </a:stretch>
        </p:blipFill>
        <p:spPr>
          <a:xfrm>
            <a:off x="5223140" y="1600200"/>
            <a:ext cx="1745416" cy="3794760"/>
          </a:xfrm>
          <a:prstGeom prst="rect">
            <a:avLst/>
          </a:prstGeom>
          <a:effectLst>
            <a:outerShdw blurRad="101600" dist="25400" dir="5400000" algn="bl" rotWithShape="0">
              <a:srgbClr val="22303C">
                <a:alpha val="10000"/>
              </a:srgbClr>
            </a:outerShdw>
          </a:effectLst>
        </p:spPr>
      </p:pic>
      <p:sp>
        <p:nvSpPr>
          <p:cNvPr id="8" name="Text 4"/>
          <p:cNvSpPr/>
          <p:nvPr/>
        </p:nvSpPr>
        <p:spPr>
          <a:xfrm>
            <a:off x="4674500"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Two lipid panels, side by side</a:t>
            </a:r>
            <a:endParaRPr lang="en-US" sz="1350" dirty="0"/>
          </a:p>
        </p:txBody>
      </p:sp>
      <p:sp>
        <p:nvSpPr>
          <p:cNvPr id="9" name="Text 5"/>
          <p:cNvSpPr/>
          <p:nvPr/>
        </p:nvSpPr>
        <p:spPr>
          <a:xfrm>
            <a:off x="4674500"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Same lab, same fasting protocol, both final. Triglycerides 155 to 168. The comparison a registrar would spend ten minutes assembling.</a:t>
            </a:r>
            <a:endParaRPr lang="en-US" sz="1050" dirty="0"/>
          </a:p>
        </p:txBody>
      </p:sp>
      <p:pic>
        <p:nvPicPr>
          <p:cNvPr id="10" name="Image 2" descr="preencoded.png"/>
          <p:cNvPicPr>
            <a:picLocks noChangeAspect="1"/>
          </p:cNvPicPr>
          <p:nvPr/>
        </p:nvPicPr>
        <p:blipFill>
          <a:blip r:embed="rId3"/>
          <a:stretch>
            <a:fillRect/>
          </a:stretch>
        </p:blipFill>
        <p:spPr>
          <a:xfrm>
            <a:off x="9897639" y="1600200"/>
            <a:ext cx="1745416" cy="3794760"/>
          </a:xfrm>
          <a:prstGeom prst="rect">
            <a:avLst/>
          </a:prstGeom>
          <a:effectLst>
            <a:outerShdw blurRad="101600" dist="25400" dir="5400000" algn="bl" rotWithShape="0">
              <a:srgbClr val="22303C">
                <a:alpha val="10000"/>
              </a:srgbClr>
            </a:outerShdw>
          </a:effectLst>
        </p:spPr>
      </p:pic>
      <p:sp>
        <p:nvSpPr>
          <p:cNvPr id="11" name="Text 6"/>
          <p:cNvSpPr/>
          <p:nvPr/>
        </p:nvSpPr>
        <p:spPr>
          <a:xfrm>
            <a:off x="9348999" y="5532120"/>
            <a:ext cx="2842696" cy="320040"/>
          </a:xfrm>
          <a:prstGeom prst="rect">
            <a:avLst/>
          </a:prstGeom>
          <a:noFill/>
        </p:spPr>
        <p:txBody>
          <a:bodyPr wrap="square" lIns="0" tIns="0" rIns="0" bIns="0" rtlCol="0" anchor="t"/>
          <a:lstStyle/>
          <a:p>
            <a:pPr marL="0" indent="0" algn="ctr">
              <a:buNone/>
            </a:pPr>
            <a:r>
              <a:rPr lang="en-US" sz="1350" b="1" dirty="0">
                <a:solidFill>
                  <a:srgbClr val="22303C"/>
                </a:solidFill>
                <a:latin typeface="Calibri" pitchFamily="34" charset="0"/>
                <a:ea typeface="Calibri" pitchFamily="34" charset="-122"/>
                <a:cs typeface="Calibri" pitchFamily="34" charset="-120"/>
              </a:rPr>
              <a:t>The original, as received</a:t>
            </a:r>
            <a:endParaRPr lang="en-US" sz="1350" dirty="0"/>
          </a:p>
        </p:txBody>
      </p:sp>
      <p:sp>
        <p:nvSpPr>
          <p:cNvPr id="12" name="Text 7"/>
          <p:cNvSpPr/>
          <p:nvPr/>
        </p:nvSpPr>
        <p:spPr>
          <a:xfrm>
            <a:off x="9348999" y="5870448"/>
            <a:ext cx="2842696" cy="777240"/>
          </a:xfrm>
          <a:prstGeom prst="rect">
            <a:avLst/>
          </a:prstGeom>
          <a:noFill/>
        </p:spPr>
        <p:txBody>
          <a:bodyPr wrap="square" lIns="0" tIns="0" rIns="0" bIns="0" rtlCol="0" anchor="t"/>
          <a:lstStyle/>
          <a:p>
            <a:pPr marL="0" indent="0" algn="ctr">
              <a:lnSpc>
                <a:spcPct val="112000"/>
              </a:lnSpc>
              <a:buNone/>
            </a:pPr>
            <a:r>
              <a:rPr lang="en-US" sz="1050" dirty="0">
                <a:solidFill>
                  <a:srgbClr val="3A4756"/>
                </a:solidFill>
                <a:latin typeface="Calibri" pitchFamily="34" charset="0"/>
                <a:ea typeface="Calibri" pitchFamily="34" charset="-122"/>
                <a:cs typeface="Calibri" pitchFamily="34" charset="-120"/>
              </a:rPr>
              <a:t>Letterhead, reference ranges, pathologist’s signature. Because a summary is only as trustworthy as the source it points to. The view is logged.</a:t>
            </a:r>
            <a:endParaRPr lang="en-US" sz="1050" dirty="0"/>
          </a:p>
        </p:txBody>
      </p:sp>
      <p:sp>
        <p:nvSpPr>
          <p:cNvPr id="13" name="Text 8"/>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GUARDRAILS</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Built to be trusted by the doctor who signs.</a:t>
            </a:r>
            <a:endParaRPr lang="en-US" sz="3200" dirty="0"/>
          </a:p>
        </p:txBody>
      </p:sp>
      <p:pic>
        <p:nvPicPr>
          <p:cNvPr id="4" name="Image 0" descr="preencoded.png"/>
          <p:cNvPicPr>
            <a:picLocks noChangeAspect="1"/>
          </p:cNvPicPr>
          <p:nvPr/>
        </p:nvPicPr>
        <p:blipFill>
          <a:blip r:embed="rId1"/>
          <a:stretch>
            <a:fillRect/>
          </a:stretch>
        </p:blipFill>
        <p:spPr>
          <a:xfrm>
            <a:off x="548640" y="1691640"/>
            <a:ext cx="2208056" cy="4800600"/>
          </a:xfrm>
          <a:prstGeom prst="rect">
            <a:avLst/>
          </a:prstGeom>
          <a:effectLst>
            <a:outerShdw blurRad="101600" dist="25400" dir="5400000" algn="bl" rotWithShape="0">
              <a:srgbClr val="22303C">
                <a:alpha val="10000"/>
              </a:srgbClr>
            </a:outerShdw>
          </a:effectLst>
        </p:spPr>
      </p:pic>
      <p:pic>
        <p:nvPicPr>
          <p:cNvPr id="5" name="Image 1" descr="preencoded.png"/>
          <p:cNvPicPr>
            <a:picLocks noChangeAspect="1"/>
          </p:cNvPicPr>
          <p:nvPr/>
        </p:nvPicPr>
        <p:blipFill>
          <a:blip r:embed="rId2"/>
          <a:stretch>
            <a:fillRect/>
          </a:stretch>
        </p:blipFill>
        <p:spPr>
          <a:xfrm>
            <a:off x="3076736" y="1691640"/>
            <a:ext cx="2208056" cy="4800600"/>
          </a:xfrm>
          <a:prstGeom prst="rect">
            <a:avLst/>
          </a:prstGeom>
          <a:effectLst>
            <a:outerShdw blurRad="101600" dist="25400" dir="5400000" algn="bl" rotWithShape="0">
              <a:srgbClr val="22303C">
                <a:alpha val="10000"/>
              </a:srgbClr>
            </a:outerShdw>
          </a:effectLst>
        </p:spPr>
      </p:pic>
      <p:pic>
        <p:nvPicPr>
          <p:cNvPr id="6" name="Image 2" descr="preencoded.png"/>
          <p:cNvPicPr>
            <a:picLocks noChangeAspect="1"/>
          </p:cNvPicPr>
          <p:nvPr/>
        </p:nvPicPr>
        <p:blipFill>
          <a:blip r:embed="rId3"/>
          <a:stretch>
            <a:fillRect/>
          </a:stretch>
        </p:blipFill>
        <p:spPr>
          <a:xfrm>
            <a:off x="5696273" y="1709928"/>
            <a:ext cx="420624" cy="420624"/>
          </a:xfrm>
          <a:prstGeom prst="rect">
            <a:avLst/>
          </a:prstGeom>
        </p:spPr>
      </p:pic>
      <p:sp>
        <p:nvSpPr>
          <p:cNvPr id="7" name="Text 2"/>
          <p:cNvSpPr/>
          <p:nvPr/>
        </p:nvSpPr>
        <p:spPr>
          <a:xfrm>
            <a:off x="6263201" y="1691640"/>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Allergy conflict at the moment of prescribing</a:t>
            </a:r>
            <a:endParaRPr lang="en-US" sz="1350" dirty="0"/>
          </a:p>
        </p:txBody>
      </p:sp>
      <p:sp>
        <p:nvSpPr>
          <p:cNvPr id="8" name="Text 3"/>
          <p:cNvSpPr/>
          <p:nvPr/>
        </p:nvSpPr>
        <p:spPr>
          <a:xfrm>
            <a:off x="6263201" y="1984248"/>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Amoxicillin for a patient with a recorded penicillin reaction: the warning appears before you save. Override needs a reason and is flagged to compliance.</a:t>
            </a:r>
            <a:endParaRPr lang="en-US" sz="1150" dirty="0"/>
          </a:p>
        </p:txBody>
      </p:sp>
      <p:pic>
        <p:nvPicPr>
          <p:cNvPr id="9" name="Image 3" descr="preencoded.png"/>
          <p:cNvPicPr>
            <a:picLocks noChangeAspect="1"/>
          </p:cNvPicPr>
          <p:nvPr/>
        </p:nvPicPr>
        <p:blipFill>
          <a:blip r:embed="rId4"/>
          <a:stretch>
            <a:fillRect/>
          </a:stretch>
        </p:blipFill>
        <p:spPr>
          <a:xfrm>
            <a:off x="5696273" y="2916936"/>
            <a:ext cx="420624" cy="420624"/>
          </a:xfrm>
          <a:prstGeom prst="rect">
            <a:avLst/>
          </a:prstGeom>
        </p:spPr>
      </p:pic>
      <p:sp>
        <p:nvSpPr>
          <p:cNvPr id="10" name="Text 4"/>
          <p:cNvSpPr/>
          <p:nvPr/>
        </p:nvSpPr>
        <p:spPr>
          <a:xfrm>
            <a:off x="6263201" y="2898648"/>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Break-glass for the unconscious patient</a:t>
            </a:r>
            <a:endParaRPr lang="en-US" sz="1350" dirty="0"/>
          </a:p>
        </p:txBody>
      </p:sp>
      <p:sp>
        <p:nvSpPr>
          <p:cNvPr id="11" name="Text 5"/>
          <p:cNvSpPr/>
          <p:nvPr/>
        </p:nvSpPr>
        <p:spPr>
          <a:xfrm>
            <a:off x="6263201" y="3191256"/>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No QR, no consent: emergency access with a mandatory reason, limited to the emergency profile and critical history. Compliance and the patient are notified immediately.</a:t>
            </a:r>
            <a:endParaRPr lang="en-US" sz="1150" dirty="0"/>
          </a:p>
        </p:txBody>
      </p:sp>
      <p:pic>
        <p:nvPicPr>
          <p:cNvPr id="12" name="Image 4" descr="preencoded.png"/>
          <p:cNvPicPr>
            <a:picLocks noChangeAspect="1"/>
          </p:cNvPicPr>
          <p:nvPr/>
        </p:nvPicPr>
        <p:blipFill>
          <a:blip r:embed="rId5"/>
          <a:stretch>
            <a:fillRect/>
          </a:stretch>
        </p:blipFill>
        <p:spPr>
          <a:xfrm>
            <a:off x="5696273" y="4123944"/>
            <a:ext cx="420624" cy="420624"/>
          </a:xfrm>
          <a:prstGeom prst="rect">
            <a:avLst/>
          </a:prstGeom>
        </p:spPr>
      </p:pic>
      <p:sp>
        <p:nvSpPr>
          <p:cNvPr id="13" name="Text 6"/>
          <p:cNvSpPr/>
          <p:nvPr/>
        </p:nvSpPr>
        <p:spPr>
          <a:xfrm>
            <a:off x="6263201" y="4105656"/>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Every view, write and scan is audited</a:t>
            </a:r>
            <a:endParaRPr lang="en-US" sz="1350" dirty="0"/>
          </a:p>
        </p:txBody>
      </p:sp>
      <p:sp>
        <p:nvSpPr>
          <p:cNvPr id="14" name="Text 7"/>
          <p:cNvSpPr/>
          <p:nvPr/>
        </p:nvSpPr>
        <p:spPr>
          <a:xfrm>
            <a:off x="6263201" y="4398264"/>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Append-only and hash-chained. The session pill on the chart says “audited” because it is.</a:t>
            </a:r>
            <a:endParaRPr lang="en-US" sz="1150" dirty="0"/>
          </a:p>
        </p:txBody>
      </p:sp>
      <p:pic>
        <p:nvPicPr>
          <p:cNvPr id="15" name="Image 5" descr="preencoded.png"/>
          <p:cNvPicPr>
            <a:picLocks noChangeAspect="1"/>
          </p:cNvPicPr>
          <p:nvPr/>
        </p:nvPicPr>
        <p:blipFill>
          <a:blip r:embed="rId6"/>
          <a:stretch>
            <a:fillRect/>
          </a:stretch>
        </p:blipFill>
        <p:spPr>
          <a:xfrm>
            <a:off x="5696273" y="5330952"/>
            <a:ext cx="420624" cy="420624"/>
          </a:xfrm>
          <a:prstGeom prst="rect">
            <a:avLst/>
          </a:prstGeom>
        </p:spPr>
      </p:pic>
      <p:sp>
        <p:nvSpPr>
          <p:cNvPr id="16" name="Text 8"/>
          <p:cNvSpPr/>
          <p:nvPr/>
        </p:nvSpPr>
        <p:spPr>
          <a:xfrm>
            <a:off x="6263201" y="5312664"/>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The AI never writes to the record</a:t>
            </a:r>
            <a:endParaRPr lang="en-US" sz="1350" dirty="0"/>
          </a:p>
        </p:txBody>
      </p:sp>
      <p:sp>
        <p:nvSpPr>
          <p:cNvPr id="17" name="Text 9"/>
          <p:cNvSpPr/>
          <p:nvPr/>
        </p:nvSpPr>
        <p:spPr>
          <a:xfrm>
            <a:off x="6263201" y="5605272"/>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It reads. You decide. Nothing enters the chart without the clinician’s signature.</a:t>
            </a:r>
            <a:endParaRPr lang="en-US" sz="1150" dirty="0"/>
          </a:p>
        </p:txBody>
      </p:sp>
      <p:sp>
        <p:nvSpPr>
          <p:cNvPr id="18" name="Text 1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PATIENT’S SIDE</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000" dirty="0">
                <a:solidFill>
                  <a:srgbClr val="22303C"/>
                </a:solidFill>
                <a:latin typeface="Cambria" pitchFamily="34" charset="0"/>
                <a:ea typeface="Cambria" pitchFamily="34" charset="-122"/>
                <a:cs typeface="Cambria" pitchFamily="34" charset="-120"/>
              </a:rPr>
              <a:t>The patient decides who sees what, and for how long.</a:t>
            </a:r>
            <a:endParaRPr lang="en-US" sz="3000" dirty="0"/>
          </a:p>
        </p:txBody>
      </p:sp>
      <p:pic>
        <p:nvPicPr>
          <p:cNvPr id="4" name="Image 0" descr="preencoded.png"/>
          <p:cNvPicPr>
            <a:picLocks noChangeAspect="1"/>
          </p:cNvPicPr>
          <p:nvPr/>
        </p:nvPicPr>
        <p:blipFill>
          <a:blip r:embed="rId1"/>
          <a:stretch>
            <a:fillRect/>
          </a:stretch>
        </p:blipFill>
        <p:spPr>
          <a:xfrm>
            <a:off x="548640" y="1691640"/>
            <a:ext cx="2208056" cy="4800600"/>
          </a:xfrm>
          <a:prstGeom prst="rect">
            <a:avLst/>
          </a:prstGeom>
          <a:effectLst>
            <a:outerShdw blurRad="101600" dist="25400" dir="5400000" algn="bl" rotWithShape="0">
              <a:srgbClr val="22303C">
                <a:alpha val="10000"/>
              </a:srgbClr>
            </a:outerShdw>
          </a:effectLst>
        </p:spPr>
      </p:pic>
      <p:pic>
        <p:nvPicPr>
          <p:cNvPr id="5" name="Image 1" descr="preencoded.png"/>
          <p:cNvPicPr>
            <a:picLocks noChangeAspect="1"/>
          </p:cNvPicPr>
          <p:nvPr/>
        </p:nvPicPr>
        <p:blipFill>
          <a:blip r:embed="rId2"/>
          <a:stretch>
            <a:fillRect/>
          </a:stretch>
        </p:blipFill>
        <p:spPr>
          <a:xfrm>
            <a:off x="3076736" y="1691640"/>
            <a:ext cx="2208056" cy="4800600"/>
          </a:xfrm>
          <a:prstGeom prst="rect">
            <a:avLst/>
          </a:prstGeom>
          <a:effectLst>
            <a:outerShdw blurRad="101600" dist="25400" dir="5400000" algn="bl" rotWithShape="0">
              <a:srgbClr val="22303C">
                <a:alpha val="10000"/>
              </a:srgbClr>
            </a:outerShdw>
          </a:effectLst>
        </p:spPr>
      </p:pic>
      <p:pic>
        <p:nvPicPr>
          <p:cNvPr id="6" name="Image 2" descr="preencoded.png"/>
          <p:cNvPicPr>
            <a:picLocks noChangeAspect="1"/>
          </p:cNvPicPr>
          <p:nvPr/>
        </p:nvPicPr>
        <p:blipFill>
          <a:blip r:embed="rId3"/>
          <a:stretch>
            <a:fillRect/>
          </a:stretch>
        </p:blipFill>
        <p:spPr>
          <a:xfrm>
            <a:off x="5696273" y="1709928"/>
            <a:ext cx="420624" cy="420624"/>
          </a:xfrm>
          <a:prstGeom prst="rect">
            <a:avLst/>
          </a:prstGeom>
        </p:spPr>
      </p:pic>
      <p:sp>
        <p:nvSpPr>
          <p:cNvPr id="7" name="Text 2"/>
          <p:cNvSpPr/>
          <p:nvPr/>
        </p:nvSpPr>
        <p:spPr>
          <a:xfrm>
            <a:off x="6263201" y="1691640"/>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Categories, not all-or-nothing</a:t>
            </a:r>
            <a:endParaRPr lang="en-US" sz="1350" dirty="0"/>
          </a:p>
        </p:txBody>
      </p:sp>
      <p:sp>
        <p:nvSpPr>
          <p:cNvPr id="8" name="Text 3"/>
          <p:cNvSpPr/>
          <p:nvPr/>
        </p:nvSpPr>
        <p:spPr>
          <a:xfrm>
            <a:off x="6263201" y="1984248"/>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General history, reports, medications, each a switch. Mental health is off by default.</a:t>
            </a:r>
            <a:endParaRPr lang="en-US" sz="1150" dirty="0"/>
          </a:p>
        </p:txBody>
      </p:sp>
      <p:pic>
        <p:nvPicPr>
          <p:cNvPr id="9" name="Image 3" descr="preencoded.png"/>
          <p:cNvPicPr>
            <a:picLocks noChangeAspect="1"/>
          </p:cNvPicPr>
          <p:nvPr/>
        </p:nvPicPr>
        <p:blipFill>
          <a:blip r:embed="rId4"/>
          <a:stretch>
            <a:fillRect/>
          </a:stretch>
        </p:blipFill>
        <p:spPr>
          <a:xfrm>
            <a:off x="5696273" y="2916936"/>
            <a:ext cx="420624" cy="420624"/>
          </a:xfrm>
          <a:prstGeom prst="rect">
            <a:avLst/>
          </a:prstGeom>
        </p:spPr>
      </p:pic>
      <p:sp>
        <p:nvSpPr>
          <p:cNvPr id="10" name="Text 4"/>
          <p:cNvSpPr/>
          <p:nvPr/>
        </p:nvSpPr>
        <p:spPr>
          <a:xfrm>
            <a:off x="6263201" y="2898648"/>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Time-bound by default</a:t>
            </a:r>
            <a:endParaRPr lang="en-US" sz="1350" dirty="0"/>
          </a:p>
        </p:txBody>
      </p:sp>
      <p:sp>
        <p:nvSpPr>
          <p:cNvPr id="11" name="Text 5"/>
          <p:cNvSpPr/>
          <p:nvPr/>
        </p:nvSpPr>
        <p:spPr>
          <a:xfrm>
            <a:off x="6263201" y="3191256"/>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24 hours, 30 days or 90 days. Expiry is automatic. Revocation takes effect on the next read.</a:t>
            </a:r>
            <a:endParaRPr lang="en-US" sz="1150" dirty="0"/>
          </a:p>
        </p:txBody>
      </p:sp>
      <p:pic>
        <p:nvPicPr>
          <p:cNvPr id="12" name="Image 4" descr="preencoded.png"/>
          <p:cNvPicPr>
            <a:picLocks noChangeAspect="1"/>
          </p:cNvPicPr>
          <p:nvPr/>
        </p:nvPicPr>
        <p:blipFill>
          <a:blip r:embed="rId5"/>
          <a:stretch>
            <a:fillRect/>
          </a:stretch>
        </p:blipFill>
        <p:spPr>
          <a:xfrm>
            <a:off x="5696273" y="4123944"/>
            <a:ext cx="420624" cy="420624"/>
          </a:xfrm>
          <a:prstGeom prst="rect">
            <a:avLst/>
          </a:prstGeom>
        </p:spPr>
      </p:pic>
      <p:sp>
        <p:nvSpPr>
          <p:cNvPr id="13" name="Text 6"/>
          <p:cNvSpPr/>
          <p:nvPr/>
        </p:nvSpPr>
        <p:spPr>
          <a:xfrm>
            <a:off x="6263201" y="4105656"/>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Verified doctors get in instantly</a:t>
            </a:r>
            <a:endParaRPr lang="en-US" sz="1350" dirty="0"/>
          </a:p>
        </p:txBody>
      </p:sp>
      <p:sp>
        <p:nvSpPr>
          <p:cNvPr id="14" name="Text 7"/>
          <p:cNvSpPr/>
          <p:nvPr/>
        </p:nvSpPr>
        <p:spPr>
          <a:xfrm>
            <a:off x="6263201" y="4398264"/>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Auto-approve is on by default: the patient is notified and can revoke with one tap. The hospital keeps the records it created; consent governs outside doctors.</a:t>
            </a:r>
            <a:endParaRPr lang="en-US" sz="1150" dirty="0"/>
          </a:p>
        </p:txBody>
      </p:sp>
      <p:pic>
        <p:nvPicPr>
          <p:cNvPr id="15" name="Image 5" descr="preencoded.png"/>
          <p:cNvPicPr>
            <a:picLocks noChangeAspect="1"/>
          </p:cNvPicPr>
          <p:nvPr/>
        </p:nvPicPr>
        <p:blipFill>
          <a:blip r:embed="rId6"/>
          <a:stretch>
            <a:fillRect/>
          </a:stretch>
        </p:blipFill>
        <p:spPr>
          <a:xfrm>
            <a:off x="5696273" y="5330952"/>
            <a:ext cx="420624" cy="420624"/>
          </a:xfrm>
          <a:prstGeom prst="rect">
            <a:avLst/>
          </a:prstGeom>
        </p:spPr>
      </p:pic>
      <p:sp>
        <p:nvSpPr>
          <p:cNvPr id="16" name="Text 8"/>
          <p:cNvSpPr/>
          <p:nvPr/>
        </p:nvSpPr>
        <p:spPr>
          <a:xfrm>
            <a:off x="6263201" y="5312664"/>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DPDPA 2023 rights, inside the app</a:t>
            </a:r>
            <a:endParaRPr lang="en-US" sz="1350" dirty="0"/>
          </a:p>
        </p:txBody>
      </p:sp>
      <p:sp>
        <p:nvSpPr>
          <p:cNvPr id="17" name="Text 9"/>
          <p:cNvSpPr/>
          <p:nvPr/>
        </p:nvSpPr>
        <p:spPr>
          <a:xfrm>
            <a:off x="6263201" y="5605272"/>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Download my data. Request correction or erasure. Nominate someone to act for me. Contact the grievance officer.</a:t>
            </a:r>
            <a:endParaRPr lang="en-US" sz="1150" dirty="0"/>
          </a:p>
        </p:txBody>
      </p:sp>
      <p:sp>
        <p:nvSpPr>
          <p:cNvPr id="18" name="Text 1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FOR THE HOSPITAL</a:t>
            </a:r>
            <a:endParaRPr lang="en-US" sz="1050" dirty="0"/>
          </a:p>
        </p:txBody>
      </p:sp>
      <p:sp>
        <p:nvSpPr>
          <p:cNvPr id="3" name="Text 1"/>
          <p:cNvSpPr/>
          <p:nvPr/>
        </p:nvSpPr>
        <p:spPr>
          <a:xfrm>
            <a:off x="548640" y="822960"/>
            <a:ext cx="10058400" cy="731520"/>
          </a:xfrm>
          <a:prstGeom prst="rect">
            <a:avLst/>
          </a:prstGeom>
          <a:noFill/>
        </p:spPr>
        <p:txBody>
          <a:bodyPr wrap="square" lIns="0" tIns="0" rIns="0" bIns="0" rtlCol="0" anchor="t"/>
          <a:lstStyle/>
          <a:p>
            <a:pPr marL="0" indent="0">
              <a:buNone/>
            </a:pPr>
            <a:r>
              <a:rPr lang="en-US" sz="2800" dirty="0">
                <a:solidFill>
                  <a:srgbClr val="22303C"/>
                </a:solidFill>
                <a:latin typeface="Cambria" pitchFamily="34" charset="0"/>
                <a:ea typeface="Cambria" pitchFamily="34" charset="-122"/>
                <a:cs typeface="Cambria" pitchFamily="34" charset="-120"/>
              </a:rPr>
              <a:t>Your systems stay. Finalised reports flow. Nothing is lost silently.</a:t>
            </a:r>
            <a:endParaRPr lang="en-US" sz="2800" dirty="0"/>
          </a:p>
        </p:txBody>
      </p:sp>
      <p:pic>
        <p:nvPicPr>
          <p:cNvPr id="4" name="Image 0" descr="preencoded.png"/>
          <p:cNvPicPr>
            <a:picLocks noChangeAspect="1"/>
          </p:cNvPicPr>
          <p:nvPr/>
        </p:nvPicPr>
        <p:blipFill>
          <a:blip r:embed="rId1"/>
          <a:stretch>
            <a:fillRect/>
          </a:stretch>
        </p:blipFill>
        <p:spPr>
          <a:xfrm>
            <a:off x="548640" y="1691640"/>
            <a:ext cx="2208056" cy="4800600"/>
          </a:xfrm>
          <a:prstGeom prst="rect">
            <a:avLst/>
          </a:prstGeom>
          <a:effectLst>
            <a:outerShdw blurRad="101600" dist="25400" dir="5400000" algn="bl" rotWithShape="0">
              <a:srgbClr val="22303C">
                <a:alpha val="10000"/>
              </a:srgbClr>
            </a:outerShdw>
          </a:effectLst>
        </p:spPr>
      </p:pic>
      <p:pic>
        <p:nvPicPr>
          <p:cNvPr id="5" name="Image 1" descr="preencoded.png"/>
          <p:cNvPicPr>
            <a:picLocks noChangeAspect="1"/>
          </p:cNvPicPr>
          <p:nvPr/>
        </p:nvPicPr>
        <p:blipFill>
          <a:blip r:embed="rId2"/>
          <a:stretch>
            <a:fillRect/>
          </a:stretch>
        </p:blipFill>
        <p:spPr>
          <a:xfrm>
            <a:off x="3076736" y="1691640"/>
            <a:ext cx="2208056" cy="4800600"/>
          </a:xfrm>
          <a:prstGeom prst="rect">
            <a:avLst/>
          </a:prstGeom>
          <a:effectLst>
            <a:outerShdw blurRad="101600" dist="25400" dir="5400000" algn="bl" rotWithShape="0">
              <a:srgbClr val="22303C">
                <a:alpha val="10000"/>
              </a:srgbClr>
            </a:outerShdw>
          </a:effectLst>
        </p:spPr>
      </p:pic>
      <p:pic>
        <p:nvPicPr>
          <p:cNvPr id="6" name="Image 2" descr="preencoded.png"/>
          <p:cNvPicPr>
            <a:picLocks noChangeAspect="1"/>
          </p:cNvPicPr>
          <p:nvPr/>
        </p:nvPicPr>
        <p:blipFill>
          <a:blip r:embed="rId3"/>
          <a:stretch>
            <a:fillRect/>
          </a:stretch>
        </p:blipFill>
        <p:spPr>
          <a:xfrm>
            <a:off x="5696273" y="1709928"/>
            <a:ext cx="420624" cy="420624"/>
          </a:xfrm>
          <a:prstGeom prst="rect">
            <a:avLst/>
          </a:prstGeom>
        </p:spPr>
      </p:pic>
      <p:sp>
        <p:nvSpPr>
          <p:cNvPr id="7" name="Text 2"/>
          <p:cNvSpPr/>
          <p:nvPr/>
        </p:nvSpPr>
        <p:spPr>
          <a:xfrm>
            <a:off x="6263201" y="1691640"/>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No replacement</a:t>
            </a:r>
            <a:endParaRPr lang="en-US" sz="1350" dirty="0"/>
          </a:p>
        </p:txBody>
      </p:sp>
      <p:sp>
        <p:nvSpPr>
          <p:cNvPr id="8" name="Text 3"/>
          <p:cNvSpPr/>
          <p:nvPr/>
        </p:nvSpPr>
        <p:spPr>
          <a:xfrm>
            <a:off x="6263201" y="1984248"/>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HIS, LIS and PACS remain the system of record. Mirai receives finalised results through FHIR, HL7 v2, webhooks, or a file drop for legacy systems.</a:t>
            </a:r>
            <a:endParaRPr lang="en-US" sz="1150" dirty="0"/>
          </a:p>
        </p:txBody>
      </p:sp>
      <p:pic>
        <p:nvPicPr>
          <p:cNvPr id="9" name="Image 3" descr="preencoded.png"/>
          <p:cNvPicPr>
            <a:picLocks noChangeAspect="1"/>
          </p:cNvPicPr>
          <p:nvPr/>
        </p:nvPicPr>
        <p:blipFill>
          <a:blip r:embed="rId4"/>
          <a:stretch>
            <a:fillRect/>
          </a:stretch>
        </p:blipFill>
        <p:spPr>
          <a:xfrm>
            <a:off x="5696273" y="2916936"/>
            <a:ext cx="420624" cy="420624"/>
          </a:xfrm>
          <a:prstGeom prst="rect">
            <a:avLst/>
          </a:prstGeom>
        </p:spPr>
      </p:pic>
      <p:sp>
        <p:nvSpPr>
          <p:cNvPr id="10" name="Text 4"/>
          <p:cNvSpPr/>
          <p:nvPr/>
        </p:nvSpPr>
        <p:spPr>
          <a:xfrm>
            <a:off x="6263201" y="2898648"/>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Identity resolved, never guessed</a:t>
            </a:r>
            <a:endParaRPr lang="en-US" sz="1350" dirty="0"/>
          </a:p>
        </p:txBody>
      </p:sp>
      <p:sp>
        <p:nvSpPr>
          <p:cNvPr id="11" name="Text 5"/>
          <p:cNvSpPr/>
          <p:nvPr/>
        </p:nvSpPr>
        <p:spPr>
          <a:xfrm>
            <a:off x="6263201" y="3191256"/>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An ambiguous match goes to a human queue. A report is never attached to the wrong patient.</a:t>
            </a:r>
            <a:endParaRPr lang="en-US" sz="1150" dirty="0"/>
          </a:p>
        </p:txBody>
      </p:sp>
      <p:pic>
        <p:nvPicPr>
          <p:cNvPr id="12" name="Image 4" descr="preencoded.png"/>
          <p:cNvPicPr>
            <a:picLocks noChangeAspect="1"/>
          </p:cNvPicPr>
          <p:nvPr/>
        </p:nvPicPr>
        <p:blipFill>
          <a:blip r:embed="rId5"/>
          <a:stretch>
            <a:fillRect/>
          </a:stretch>
        </p:blipFill>
        <p:spPr>
          <a:xfrm>
            <a:off x="5696273" y="4123944"/>
            <a:ext cx="420624" cy="420624"/>
          </a:xfrm>
          <a:prstGeom prst="rect">
            <a:avLst/>
          </a:prstGeom>
        </p:spPr>
      </p:pic>
      <p:sp>
        <p:nvSpPr>
          <p:cNvPr id="13" name="Text 6"/>
          <p:cNvSpPr/>
          <p:nvPr/>
        </p:nvSpPr>
        <p:spPr>
          <a:xfrm>
            <a:off x="6263201" y="4105656"/>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Fail loudly</a:t>
            </a:r>
            <a:endParaRPr lang="en-US" sz="1350" dirty="0"/>
          </a:p>
        </p:txBody>
      </p:sp>
      <p:sp>
        <p:nvSpPr>
          <p:cNvPr id="14" name="Text 7"/>
          <p:cNvSpPr/>
          <p:nvPr/>
        </p:nvSpPr>
        <p:spPr>
          <a:xfrm>
            <a:off x="6263201" y="4398264"/>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A failed event sits in a visible queue with its reason and a retry. Clinical data is never dropped.</a:t>
            </a:r>
            <a:endParaRPr lang="en-US" sz="1150" dirty="0"/>
          </a:p>
        </p:txBody>
      </p:sp>
      <p:pic>
        <p:nvPicPr>
          <p:cNvPr id="15" name="Image 5" descr="preencoded.png"/>
          <p:cNvPicPr>
            <a:picLocks noChangeAspect="1"/>
          </p:cNvPicPr>
          <p:nvPr/>
        </p:nvPicPr>
        <p:blipFill>
          <a:blip r:embed="rId6"/>
          <a:stretch>
            <a:fillRect/>
          </a:stretch>
        </p:blipFill>
        <p:spPr>
          <a:xfrm>
            <a:off x="5696273" y="5330952"/>
            <a:ext cx="420624" cy="420624"/>
          </a:xfrm>
          <a:prstGeom prst="rect">
            <a:avLst/>
          </a:prstGeom>
        </p:spPr>
      </p:pic>
      <p:sp>
        <p:nvSpPr>
          <p:cNvPr id="16" name="Text 8"/>
          <p:cNvSpPr/>
          <p:nvPr/>
        </p:nvSpPr>
        <p:spPr>
          <a:xfrm>
            <a:off x="6263201" y="5312664"/>
            <a:ext cx="5379855"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Provisioned in minutes</a:t>
            </a:r>
            <a:endParaRPr lang="en-US" sz="1350" dirty="0"/>
          </a:p>
        </p:txBody>
      </p:sp>
      <p:sp>
        <p:nvSpPr>
          <p:cNvPr id="17" name="Text 9"/>
          <p:cNvSpPr/>
          <p:nvPr/>
        </p:nvSpPr>
        <p:spPr>
          <a:xfrm>
            <a:off x="6263201" y="5605272"/>
            <a:ext cx="5379855" cy="822960"/>
          </a:xfrm>
          <a:prstGeom prst="rect">
            <a:avLst/>
          </a:prstGeom>
          <a:noFill/>
        </p:spPr>
        <p:txBody>
          <a:bodyPr wrap="square" lIns="0" tIns="0" rIns="0" bIns="0" rtlCol="0" anchor="t"/>
          <a:lstStyle/>
          <a:p>
            <a:pPr marL="0" indent="0">
              <a:lnSpc>
                <a:spcPct val="112000"/>
              </a:lnSpc>
              <a:buNone/>
            </a:pPr>
            <a:r>
              <a:rPr lang="en-US" sz="1150" dirty="0">
                <a:solidFill>
                  <a:srgbClr val="3A4756"/>
                </a:solidFill>
                <a:latin typeface="Calibri" pitchFamily="34" charset="0"/>
                <a:ea typeface="Calibri" pitchFamily="34" charset="-122"/>
                <a:cs typeface="Calibri" pitchFamily="34" charset="-120"/>
              </a:rPr>
              <a:t>Tenant setup is automated. A sandbox connector proves your feed before go-live. Your identity provider handles doctor sign-in.</a:t>
            </a:r>
            <a:endParaRPr lang="en-US" sz="1150" dirty="0"/>
          </a:p>
        </p:txBody>
      </p:sp>
      <p:sp>
        <p:nvSpPr>
          <p:cNvPr id="18" name="Text 10"/>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WHAT YOU MAY BE THINKING · 1 OF 2</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The objections we would raise ourselves.</a:t>
            </a:r>
            <a:endParaRPr lang="en-US" sz="3200" dirty="0"/>
          </a:p>
        </p:txBody>
      </p:sp>
      <p:sp>
        <p:nvSpPr>
          <p:cNvPr id="4" name="Text 2"/>
          <p:cNvSpPr/>
          <p:nvPr/>
        </p:nvSpPr>
        <p:spPr>
          <a:xfrm>
            <a:off x="548640" y="1691640"/>
            <a:ext cx="4206240" cy="228600"/>
          </a:xfrm>
          <a:prstGeom prst="rect">
            <a:avLst/>
          </a:prstGeom>
          <a:noFill/>
        </p:spPr>
        <p:txBody>
          <a:bodyPr wrap="square" lIns="0" tIns="0" rIns="0" bIns="0" rtlCol="0" anchor="t"/>
          <a:lstStyle/>
          <a:p>
            <a:pPr marL="0" indent="0">
              <a:buNone/>
            </a:pPr>
            <a:r>
              <a:rPr lang="en-US" sz="1000" b="1" kern="0" spc="300" dirty="0">
                <a:solidFill>
                  <a:srgbClr val="7D868E"/>
                </a:solidFill>
                <a:latin typeface="Calibri" pitchFamily="34" charset="0"/>
                <a:ea typeface="Calibri" pitchFamily="34" charset="-122"/>
                <a:cs typeface="Calibri" pitchFamily="34" charset="-120"/>
              </a:rPr>
              <a:t>THE BELIEF</a:t>
            </a:r>
            <a:endParaRPr lang="en-US" sz="1000" dirty="0"/>
          </a:p>
        </p:txBody>
      </p:sp>
      <p:sp>
        <p:nvSpPr>
          <p:cNvPr id="5" name="Text 3"/>
          <p:cNvSpPr/>
          <p:nvPr/>
        </p:nvSpPr>
        <p:spPr>
          <a:xfrm>
            <a:off x="5166360" y="1691640"/>
            <a:ext cx="5486400" cy="228600"/>
          </a:xfrm>
          <a:prstGeom prst="rect">
            <a:avLst/>
          </a:prstGeom>
          <a:noFill/>
        </p:spPr>
        <p:txBody>
          <a:bodyPr wrap="square" lIns="0" tIns="0" rIns="0" bIns="0" rtlCol="0" anchor="t"/>
          <a:lstStyle/>
          <a:p>
            <a:pPr marL="0" indent="0">
              <a:buNone/>
            </a:pPr>
            <a:r>
              <a:rPr lang="en-US" sz="1000" b="1" kern="0" spc="300" dirty="0">
                <a:solidFill>
                  <a:srgbClr val="0072A8"/>
                </a:solidFill>
                <a:latin typeface="Calibri" pitchFamily="34" charset="0"/>
                <a:ea typeface="Calibri" pitchFamily="34" charset="-122"/>
                <a:cs typeface="Calibri" pitchFamily="34" charset="-120"/>
              </a:rPr>
              <a:t>WHAT IS ACTUALLY TRUE</a:t>
            </a:r>
            <a:endParaRPr lang="en-US" sz="1000" dirty="0"/>
          </a:p>
        </p:txBody>
      </p:sp>
      <p:sp>
        <p:nvSpPr>
          <p:cNvPr id="6" name="Shape 4"/>
          <p:cNvSpPr/>
          <p:nvPr/>
        </p:nvSpPr>
        <p:spPr>
          <a:xfrm>
            <a:off x="548640" y="2011680"/>
            <a:ext cx="4206240" cy="1417320"/>
          </a:xfrm>
          <a:prstGeom prst="roundRect">
            <a:avLst>
              <a:gd name="adj" fmla="val 7742"/>
            </a:avLst>
          </a:prstGeom>
          <a:solidFill>
            <a:srgbClr val="F1EDE4"/>
          </a:solidFill>
          <a:ln w="9525">
            <a:solidFill>
              <a:srgbClr val="F1EDE4"/>
            </a:solidFill>
            <a:prstDash val="solid"/>
          </a:ln>
        </p:spPr>
      </p:sp>
      <p:sp>
        <p:nvSpPr>
          <p:cNvPr id="7" name="Text 5"/>
          <p:cNvSpPr/>
          <p:nvPr/>
        </p:nvSpPr>
        <p:spPr>
          <a:xfrm>
            <a:off x="804672" y="2194560"/>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“An AI summary will hallucinate, and a patient will be harmed.”</a:t>
            </a:r>
            <a:endParaRPr lang="en-US" sz="1550" dirty="0"/>
          </a:p>
        </p:txBody>
      </p:sp>
      <p:pic>
        <p:nvPicPr>
          <p:cNvPr id="8" name="Image 0" descr="preencoded.png"/>
          <p:cNvPicPr>
            <a:picLocks noChangeAspect="1"/>
          </p:cNvPicPr>
          <p:nvPr/>
        </p:nvPicPr>
        <p:blipFill>
          <a:blip r:embed="rId1"/>
          <a:stretch>
            <a:fillRect/>
          </a:stretch>
        </p:blipFill>
        <p:spPr>
          <a:xfrm>
            <a:off x="4828032" y="2564892"/>
            <a:ext cx="310896" cy="310896"/>
          </a:xfrm>
          <a:prstGeom prst="rect">
            <a:avLst/>
          </a:prstGeom>
        </p:spPr>
      </p:pic>
      <p:sp>
        <p:nvSpPr>
          <p:cNvPr id="9" name="Text 6"/>
          <p:cNvSpPr/>
          <p:nvPr/>
        </p:nvSpPr>
        <p:spPr>
          <a:xfrm>
            <a:off x="5166360" y="2084832"/>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The brief is generated only from the records you are authorised to see. Every number, date and drug name is checked against the source before it is shown; unsupported claims are dropped. It carries citations and the instruction to verify. It never writes to the record. Clinician-reviewed test sets gate every model change.</a:t>
            </a:r>
            <a:endParaRPr lang="en-US" sz="1200" dirty="0"/>
          </a:p>
        </p:txBody>
      </p:sp>
      <p:sp>
        <p:nvSpPr>
          <p:cNvPr id="10" name="Shape 7"/>
          <p:cNvSpPr/>
          <p:nvPr/>
        </p:nvSpPr>
        <p:spPr>
          <a:xfrm>
            <a:off x="548640" y="3593592"/>
            <a:ext cx="4206240" cy="1417320"/>
          </a:xfrm>
          <a:prstGeom prst="roundRect">
            <a:avLst>
              <a:gd name="adj" fmla="val 7742"/>
            </a:avLst>
          </a:prstGeom>
          <a:solidFill>
            <a:srgbClr val="F1EDE4"/>
          </a:solidFill>
          <a:ln w="9525">
            <a:solidFill>
              <a:srgbClr val="F1EDE4"/>
            </a:solidFill>
            <a:prstDash val="solid"/>
          </a:ln>
        </p:spPr>
      </p:sp>
      <p:sp>
        <p:nvSpPr>
          <p:cNvPr id="11" name="Text 8"/>
          <p:cNvSpPr/>
          <p:nvPr/>
        </p:nvSpPr>
        <p:spPr>
          <a:xfrm>
            <a:off x="804672" y="3776472"/>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“This means replacing our HIS. We have been through that.”</a:t>
            </a:r>
            <a:endParaRPr lang="en-US" sz="1550" dirty="0"/>
          </a:p>
        </p:txBody>
      </p:sp>
      <p:pic>
        <p:nvPicPr>
          <p:cNvPr id="12" name="Image 1" descr="preencoded.png"/>
          <p:cNvPicPr>
            <a:picLocks noChangeAspect="1"/>
          </p:cNvPicPr>
          <p:nvPr/>
        </p:nvPicPr>
        <p:blipFill>
          <a:blip r:embed="rId1"/>
          <a:stretch>
            <a:fillRect/>
          </a:stretch>
        </p:blipFill>
        <p:spPr>
          <a:xfrm>
            <a:off x="4828032" y="4146804"/>
            <a:ext cx="310896" cy="310896"/>
          </a:xfrm>
          <a:prstGeom prst="rect">
            <a:avLst/>
          </a:prstGeom>
        </p:spPr>
      </p:pic>
      <p:sp>
        <p:nvSpPr>
          <p:cNvPr id="13" name="Text 9"/>
          <p:cNvSpPr/>
          <p:nvPr/>
        </p:nvSpPr>
        <p:spPr>
          <a:xfrm>
            <a:off x="5166360" y="3666744"/>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Nothing is replaced. Your HIS stays the system of record. Mirai receives finalised reports through an integration layer, the way a lab sends a result today. If Mirai were switched off tomorrow, your records would be exactly where they are now.</a:t>
            </a:r>
            <a:endParaRPr lang="en-US" sz="1200" dirty="0"/>
          </a:p>
        </p:txBody>
      </p:sp>
      <p:sp>
        <p:nvSpPr>
          <p:cNvPr id="14" name="Shape 10"/>
          <p:cNvSpPr/>
          <p:nvPr/>
        </p:nvSpPr>
        <p:spPr>
          <a:xfrm>
            <a:off x="548640" y="5175504"/>
            <a:ext cx="4206240" cy="1417320"/>
          </a:xfrm>
          <a:prstGeom prst="roundRect">
            <a:avLst>
              <a:gd name="adj" fmla="val 7742"/>
            </a:avLst>
          </a:prstGeom>
          <a:solidFill>
            <a:srgbClr val="F1EDE4"/>
          </a:solidFill>
          <a:ln w="9525">
            <a:solidFill>
              <a:srgbClr val="F1EDE4"/>
            </a:solidFill>
            <a:prstDash val="solid"/>
          </a:ln>
        </p:spPr>
      </p:sp>
      <p:sp>
        <p:nvSpPr>
          <p:cNvPr id="15" name="Text 11"/>
          <p:cNvSpPr/>
          <p:nvPr/>
        </p:nvSpPr>
        <p:spPr>
          <a:xfrm>
            <a:off x="804672" y="5358384"/>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“Our patients will not adopt an app.”</a:t>
            </a:r>
            <a:endParaRPr lang="en-US" sz="1550" dirty="0"/>
          </a:p>
        </p:txBody>
      </p:sp>
      <p:pic>
        <p:nvPicPr>
          <p:cNvPr id="16" name="Image 2" descr="preencoded.png"/>
          <p:cNvPicPr>
            <a:picLocks noChangeAspect="1"/>
          </p:cNvPicPr>
          <p:nvPr/>
        </p:nvPicPr>
        <p:blipFill>
          <a:blip r:embed="rId1"/>
          <a:stretch>
            <a:fillRect/>
          </a:stretch>
        </p:blipFill>
        <p:spPr>
          <a:xfrm>
            <a:off x="4828032" y="5728716"/>
            <a:ext cx="310896" cy="310896"/>
          </a:xfrm>
          <a:prstGeom prst="rect">
            <a:avLst/>
          </a:prstGeom>
        </p:spPr>
      </p:pic>
      <p:sp>
        <p:nvSpPr>
          <p:cNvPr id="17" name="Text 12"/>
          <p:cNvSpPr/>
          <p:nvPr/>
        </p:nvSpPr>
        <p:spPr>
          <a:xfrm>
            <a:off x="5166360" y="5248656"/>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Sign-in is a phone number and an OTP, in English, Hindi and Marathi. A family shares one account. A printed QR works for patients without phones. And your own doctors benefit on day one: the hospital’s records are there before a single patient enrols.</a:t>
            </a:r>
            <a:endParaRPr lang="en-US" sz="1200" dirty="0"/>
          </a:p>
        </p:txBody>
      </p:sp>
      <p:sp>
        <p:nvSpPr>
          <p:cNvPr id="18" name="Text 13"/>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WHAT YOU MAY BE THINKING · 2 OF 2</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And the ones the board will raise.</a:t>
            </a:r>
            <a:endParaRPr lang="en-US" sz="3200" dirty="0"/>
          </a:p>
        </p:txBody>
      </p:sp>
      <p:sp>
        <p:nvSpPr>
          <p:cNvPr id="4" name="Text 2"/>
          <p:cNvSpPr/>
          <p:nvPr/>
        </p:nvSpPr>
        <p:spPr>
          <a:xfrm>
            <a:off x="548640" y="1691640"/>
            <a:ext cx="4206240" cy="228600"/>
          </a:xfrm>
          <a:prstGeom prst="rect">
            <a:avLst/>
          </a:prstGeom>
          <a:noFill/>
        </p:spPr>
        <p:txBody>
          <a:bodyPr wrap="square" lIns="0" tIns="0" rIns="0" bIns="0" rtlCol="0" anchor="t"/>
          <a:lstStyle/>
          <a:p>
            <a:pPr marL="0" indent="0">
              <a:buNone/>
            </a:pPr>
            <a:r>
              <a:rPr lang="en-US" sz="1000" b="1" kern="0" spc="300" dirty="0">
                <a:solidFill>
                  <a:srgbClr val="7D868E"/>
                </a:solidFill>
                <a:latin typeface="Calibri" pitchFamily="34" charset="0"/>
                <a:ea typeface="Calibri" pitchFamily="34" charset="-122"/>
                <a:cs typeface="Calibri" pitchFamily="34" charset="-120"/>
              </a:rPr>
              <a:t>THE BELIEF</a:t>
            </a:r>
            <a:endParaRPr lang="en-US" sz="1000" dirty="0"/>
          </a:p>
        </p:txBody>
      </p:sp>
      <p:sp>
        <p:nvSpPr>
          <p:cNvPr id="5" name="Text 3"/>
          <p:cNvSpPr/>
          <p:nvPr/>
        </p:nvSpPr>
        <p:spPr>
          <a:xfrm>
            <a:off x="5166360" y="1691640"/>
            <a:ext cx="5486400" cy="228600"/>
          </a:xfrm>
          <a:prstGeom prst="rect">
            <a:avLst/>
          </a:prstGeom>
          <a:noFill/>
        </p:spPr>
        <p:txBody>
          <a:bodyPr wrap="square" lIns="0" tIns="0" rIns="0" bIns="0" rtlCol="0" anchor="t"/>
          <a:lstStyle/>
          <a:p>
            <a:pPr marL="0" indent="0">
              <a:buNone/>
            </a:pPr>
            <a:r>
              <a:rPr lang="en-US" sz="1000" b="1" kern="0" spc="300" dirty="0">
                <a:solidFill>
                  <a:srgbClr val="0072A8"/>
                </a:solidFill>
                <a:latin typeface="Calibri" pitchFamily="34" charset="0"/>
                <a:ea typeface="Calibri" pitchFamily="34" charset="-122"/>
                <a:cs typeface="Calibri" pitchFamily="34" charset="-120"/>
              </a:rPr>
              <a:t>WHAT IS ACTUALLY TRUE</a:t>
            </a:r>
            <a:endParaRPr lang="en-US" sz="1000" dirty="0"/>
          </a:p>
        </p:txBody>
      </p:sp>
      <p:sp>
        <p:nvSpPr>
          <p:cNvPr id="6" name="Shape 4"/>
          <p:cNvSpPr/>
          <p:nvPr/>
        </p:nvSpPr>
        <p:spPr>
          <a:xfrm>
            <a:off x="548640" y="2011680"/>
            <a:ext cx="4206240" cy="1417320"/>
          </a:xfrm>
          <a:prstGeom prst="roundRect">
            <a:avLst>
              <a:gd name="adj" fmla="val 7742"/>
            </a:avLst>
          </a:prstGeom>
          <a:solidFill>
            <a:srgbClr val="F1EDE4"/>
          </a:solidFill>
          <a:ln w="9525">
            <a:solidFill>
              <a:srgbClr val="F1EDE4"/>
            </a:solidFill>
            <a:prstDash val="solid"/>
          </a:ln>
        </p:spPr>
      </p:sp>
      <p:sp>
        <p:nvSpPr>
          <p:cNvPr id="7" name="Text 5"/>
          <p:cNvSpPr/>
          <p:nvPr/>
        </p:nvSpPr>
        <p:spPr>
          <a:xfrm>
            <a:off x="804672" y="2194560"/>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“Patient data will leave the country, or train someone’s model.”</a:t>
            </a:r>
            <a:endParaRPr lang="en-US" sz="1550" dirty="0"/>
          </a:p>
        </p:txBody>
      </p:sp>
      <p:pic>
        <p:nvPicPr>
          <p:cNvPr id="8" name="Image 0" descr="preencoded.png"/>
          <p:cNvPicPr>
            <a:picLocks noChangeAspect="1"/>
          </p:cNvPicPr>
          <p:nvPr/>
        </p:nvPicPr>
        <p:blipFill>
          <a:blip r:embed="rId1"/>
          <a:stretch>
            <a:fillRect/>
          </a:stretch>
        </p:blipFill>
        <p:spPr>
          <a:xfrm>
            <a:off x="4828032" y="2564892"/>
            <a:ext cx="310896" cy="310896"/>
          </a:xfrm>
          <a:prstGeom prst="rect">
            <a:avLst/>
          </a:prstGeom>
        </p:spPr>
      </p:pic>
      <p:sp>
        <p:nvSpPr>
          <p:cNvPr id="9" name="Text 6"/>
          <p:cNvSpPr/>
          <p:nvPr/>
        </p:nvSpPr>
        <p:spPr>
          <a:xfrm>
            <a:off x="5166360" y="2084832"/>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Data residency is pinned to India; backups and replicas stay in region. Contracts require zero retention and no training on tenant data. For a no-egress posture, the model runs inside the hospital’s own cell on open-weight models. Embeddings are treated as PHI.</a:t>
            </a:r>
            <a:endParaRPr lang="en-US" sz="1200" dirty="0"/>
          </a:p>
        </p:txBody>
      </p:sp>
      <p:sp>
        <p:nvSpPr>
          <p:cNvPr id="10" name="Shape 7"/>
          <p:cNvSpPr/>
          <p:nvPr/>
        </p:nvSpPr>
        <p:spPr>
          <a:xfrm>
            <a:off x="548640" y="3593592"/>
            <a:ext cx="4206240" cy="1417320"/>
          </a:xfrm>
          <a:prstGeom prst="roundRect">
            <a:avLst>
              <a:gd name="adj" fmla="val 7742"/>
            </a:avLst>
          </a:prstGeom>
          <a:solidFill>
            <a:srgbClr val="F1EDE4"/>
          </a:solidFill>
          <a:ln w="9525">
            <a:solidFill>
              <a:srgbClr val="F1EDE4"/>
            </a:solidFill>
            <a:prstDash val="solid"/>
          </a:ln>
        </p:spPr>
      </p:sp>
      <p:sp>
        <p:nvSpPr>
          <p:cNvPr id="11" name="Text 8"/>
          <p:cNvSpPr/>
          <p:nvPr/>
        </p:nvSpPr>
        <p:spPr>
          <a:xfrm>
            <a:off x="804672" y="3776472"/>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“Sharing records outside the hospital is a legal exposure.”</a:t>
            </a:r>
            <a:endParaRPr lang="en-US" sz="1550" dirty="0"/>
          </a:p>
        </p:txBody>
      </p:sp>
      <p:pic>
        <p:nvPicPr>
          <p:cNvPr id="12" name="Image 1" descr="preencoded.png"/>
          <p:cNvPicPr>
            <a:picLocks noChangeAspect="1"/>
          </p:cNvPicPr>
          <p:nvPr/>
        </p:nvPicPr>
        <p:blipFill>
          <a:blip r:embed="rId1"/>
          <a:stretch>
            <a:fillRect/>
          </a:stretch>
        </p:blipFill>
        <p:spPr>
          <a:xfrm>
            <a:off x="4828032" y="4146804"/>
            <a:ext cx="310896" cy="310896"/>
          </a:xfrm>
          <a:prstGeom prst="rect">
            <a:avLst/>
          </a:prstGeom>
        </p:spPr>
      </p:pic>
      <p:sp>
        <p:nvSpPr>
          <p:cNvPr id="13" name="Text 9"/>
          <p:cNvSpPr/>
          <p:nvPr/>
        </p:nvSpPr>
        <p:spPr>
          <a:xfrm>
            <a:off x="5166360" y="3666744"/>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Consent is a first-class object: scoped by category, duration and purpose, evaluated on every read, revocable instantly. Every access sits in an append-only, tamper-evident log the patient can also see. This is the DPDPA 2023 posture written into the product.</a:t>
            </a:r>
            <a:endParaRPr lang="en-US" sz="1200" dirty="0"/>
          </a:p>
        </p:txBody>
      </p:sp>
      <p:sp>
        <p:nvSpPr>
          <p:cNvPr id="14" name="Shape 10"/>
          <p:cNvSpPr/>
          <p:nvPr/>
        </p:nvSpPr>
        <p:spPr>
          <a:xfrm>
            <a:off x="548640" y="5175504"/>
            <a:ext cx="4206240" cy="1417320"/>
          </a:xfrm>
          <a:prstGeom prst="roundRect">
            <a:avLst>
              <a:gd name="adj" fmla="val 7742"/>
            </a:avLst>
          </a:prstGeom>
          <a:solidFill>
            <a:srgbClr val="F1EDE4"/>
          </a:solidFill>
          <a:ln w="9525">
            <a:solidFill>
              <a:srgbClr val="F1EDE4"/>
            </a:solidFill>
            <a:prstDash val="solid"/>
          </a:ln>
        </p:spPr>
      </p:sp>
      <p:sp>
        <p:nvSpPr>
          <p:cNvPr id="15" name="Text 11"/>
          <p:cNvSpPr/>
          <p:nvPr/>
        </p:nvSpPr>
        <p:spPr>
          <a:xfrm>
            <a:off x="804672" y="5358384"/>
            <a:ext cx="3749040" cy="1051560"/>
          </a:xfrm>
          <a:prstGeom prst="rect">
            <a:avLst/>
          </a:prstGeom>
          <a:noFill/>
        </p:spPr>
        <p:txBody>
          <a:bodyPr wrap="square" lIns="0" tIns="0" rIns="0" bIns="0" rtlCol="0" anchor="ctr"/>
          <a:lstStyle/>
          <a:p>
            <a:pPr marL="0" indent="0">
              <a:lnSpc>
                <a:spcPct val="112000"/>
              </a:lnSpc>
              <a:buNone/>
            </a:pPr>
            <a:r>
              <a:rPr lang="en-US" sz="1550" i="1" dirty="0">
                <a:solidFill>
                  <a:srgbClr val="22303C"/>
                </a:solidFill>
                <a:latin typeface="Cambria" pitchFamily="34" charset="0"/>
                <a:ea typeface="Cambria" pitchFamily="34" charset="-122"/>
                <a:cs typeface="Cambria" pitchFamily="34" charset="-120"/>
              </a:rPr>
              <a:t>“Doctors will not change how they work. And who is liable?”</a:t>
            </a:r>
            <a:endParaRPr lang="en-US" sz="1550" dirty="0"/>
          </a:p>
        </p:txBody>
      </p:sp>
      <p:pic>
        <p:nvPicPr>
          <p:cNvPr id="16" name="Image 2" descr="preencoded.png"/>
          <p:cNvPicPr>
            <a:picLocks noChangeAspect="1"/>
          </p:cNvPicPr>
          <p:nvPr/>
        </p:nvPicPr>
        <p:blipFill>
          <a:blip r:embed="rId1"/>
          <a:stretch>
            <a:fillRect/>
          </a:stretch>
        </p:blipFill>
        <p:spPr>
          <a:xfrm>
            <a:off x="4828032" y="5728716"/>
            <a:ext cx="310896" cy="310896"/>
          </a:xfrm>
          <a:prstGeom prst="rect">
            <a:avLst/>
          </a:prstGeom>
        </p:spPr>
      </p:pic>
      <p:sp>
        <p:nvSpPr>
          <p:cNvPr id="17" name="Text 12"/>
          <p:cNvSpPr/>
          <p:nvPr/>
        </p:nvSpPr>
        <p:spPr>
          <a:xfrm>
            <a:off x="5166360" y="5248656"/>
            <a:ext cx="6476695" cy="1325880"/>
          </a:xfrm>
          <a:prstGeom prst="rect">
            <a:avLst/>
          </a:prstGeom>
          <a:noFill/>
        </p:spPr>
        <p:txBody>
          <a:bodyPr wrap="square" lIns="0" tIns="0" rIns="0" bIns="0" rtlCol="0" anchor="ctr"/>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The only new gesture is a scan. Notes can be dictated. Nothing enters the record without the doctor’s signature, and every override is flagged. Clinical responsibility stays exactly where it is today: with the clinician, now holding a complete file.</a:t>
            </a:r>
            <a:endParaRPr lang="en-US" sz="1200" dirty="0"/>
          </a:p>
        </p:txBody>
      </p:sp>
      <p:sp>
        <p:nvSpPr>
          <p:cNvPr id="18" name="Text 13"/>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SECURITY AND COMPLIANCE</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Security is the foundation, not a feature.</a:t>
            </a:r>
            <a:endParaRPr lang="en-US" sz="3200" dirty="0"/>
          </a:p>
        </p:txBody>
      </p:sp>
      <p:sp>
        <p:nvSpPr>
          <p:cNvPr id="4" name="Shape 2"/>
          <p:cNvSpPr/>
          <p:nvPr/>
        </p:nvSpPr>
        <p:spPr>
          <a:xfrm>
            <a:off x="548640" y="16916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749808" y="1911096"/>
            <a:ext cx="420624" cy="420624"/>
          </a:xfrm>
          <a:prstGeom prst="rect">
            <a:avLst/>
          </a:prstGeom>
        </p:spPr>
      </p:pic>
      <p:sp>
        <p:nvSpPr>
          <p:cNvPr id="6" name="Text 3"/>
          <p:cNvSpPr/>
          <p:nvPr/>
        </p:nvSpPr>
        <p:spPr>
          <a:xfrm>
            <a:off x="1298448" y="18745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AES-256 at rest</a:t>
            </a:r>
            <a:endParaRPr lang="en-US" sz="1350" dirty="0"/>
          </a:p>
        </p:txBody>
      </p:sp>
      <p:sp>
        <p:nvSpPr>
          <p:cNvPr id="7" name="Text 4"/>
          <p:cNvSpPr/>
          <p:nvPr/>
        </p:nvSpPr>
        <p:spPr>
          <a:xfrm>
            <a:off x="1298448" y="21488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Per-tenant keys. One leaked key exposes one tenant only.</a:t>
            </a:r>
            <a:endParaRPr lang="en-US" sz="1050" dirty="0"/>
          </a:p>
        </p:txBody>
      </p:sp>
      <p:sp>
        <p:nvSpPr>
          <p:cNvPr id="8" name="Shape 5"/>
          <p:cNvSpPr/>
          <p:nvPr/>
        </p:nvSpPr>
        <p:spPr>
          <a:xfrm>
            <a:off x="4322978" y="16916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4524146" y="1911096"/>
            <a:ext cx="420624" cy="420624"/>
          </a:xfrm>
          <a:prstGeom prst="rect">
            <a:avLst/>
          </a:prstGeom>
        </p:spPr>
      </p:pic>
      <p:sp>
        <p:nvSpPr>
          <p:cNvPr id="10" name="Text 6"/>
          <p:cNvSpPr/>
          <p:nvPr/>
        </p:nvSpPr>
        <p:spPr>
          <a:xfrm>
            <a:off x="5072786" y="18745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TLS 1.3 in transit</a:t>
            </a:r>
            <a:endParaRPr lang="en-US" sz="1350" dirty="0"/>
          </a:p>
        </p:txBody>
      </p:sp>
      <p:sp>
        <p:nvSpPr>
          <p:cNvPr id="11" name="Text 7"/>
          <p:cNvSpPr/>
          <p:nvPr/>
        </p:nvSpPr>
        <p:spPr>
          <a:xfrm>
            <a:off x="5072786" y="21488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Certificate pinning and root detection in the clinical apps.</a:t>
            </a:r>
            <a:endParaRPr lang="en-US" sz="1050" dirty="0"/>
          </a:p>
        </p:txBody>
      </p:sp>
      <p:sp>
        <p:nvSpPr>
          <p:cNvPr id="12" name="Shape 8"/>
          <p:cNvSpPr/>
          <p:nvPr/>
        </p:nvSpPr>
        <p:spPr>
          <a:xfrm>
            <a:off x="8097317" y="16916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8298485" y="1911096"/>
            <a:ext cx="420624" cy="420624"/>
          </a:xfrm>
          <a:prstGeom prst="rect">
            <a:avLst/>
          </a:prstGeom>
        </p:spPr>
      </p:pic>
      <p:sp>
        <p:nvSpPr>
          <p:cNvPr id="14" name="Text 9"/>
          <p:cNvSpPr/>
          <p:nvPr/>
        </p:nvSpPr>
        <p:spPr>
          <a:xfrm>
            <a:off x="8847125" y="18745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Tamper-evident audit</a:t>
            </a:r>
            <a:endParaRPr lang="en-US" sz="1350" dirty="0"/>
          </a:p>
        </p:txBody>
      </p:sp>
      <p:sp>
        <p:nvSpPr>
          <p:cNvPr id="15" name="Text 10"/>
          <p:cNvSpPr/>
          <p:nvPr/>
        </p:nvSpPr>
        <p:spPr>
          <a:xfrm>
            <a:off x="8847125" y="21488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Append-only, hash-chained, anchored daily. Exportable per hospital.</a:t>
            </a:r>
            <a:endParaRPr lang="en-US" sz="1050" dirty="0"/>
          </a:p>
        </p:txBody>
      </p:sp>
      <p:sp>
        <p:nvSpPr>
          <p:cNvPr id="16" name="Shape 11"/>
          <p:cNvSpPr/>
          <p:nvPr/>
        </p:nvSpPr>
        <p:spPr>
          <a:xfrm>
            <a:off x="548640" y="30632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7" name="Image 3" descr="preencoded.png"/>
          <p:cNvPicPr>
            <a:picLocks noChangeAspect="1"/>
          </p:cNvPicPr>
          <p:nvPr/>
        </p:nvPicPr>
        <p:blipFill>
          <a:blip r:embed="rId4"/>
          <a:stretch>
            <a:fillRect/>
          </a:stretch>
        </p:blipFill>
        <p:spPr>
          <a:xfrm>
            <a:off x="749808" y="3282696"/>
            <a:ext cx="420624" cy="420624"/>
          </a:xfrm>
          <a:prstGeom prst="rect">
            <a:avLst/>
          </a:prstGeom>
        </p:spPr>
      </p:pic>
      <p:sp>
        <p:nvSpPr>
          <p:cNvPr id="18" name="Text 12"/>
          <p:cNvSpPr/>
          <p:nvPr/>
        </p:nvSpPr>
        <p:spPr>
          <a:xfrm>
            <a:off x="1298448" y="32461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Data stays in India</a:t>
            </a:r>
            <a:endParaRPr lang="en-US" sz="1350" dirty="0"/>
          </a:p>
        </p:txBody>
      </p:sp>
      <p:sp>
        <p:nvSpPr>
          <p:cNvPr id="19" name="Text 13"/>
          <p:cNvSpPr/>
          <p:nvPr/>
        </p:nvSpPr>
        <p:spPr>
          <a:xfrm>
            <a:off x="1298448" y="35204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Residency pinned per tenant. Backups and replicas never cross regions.</a:t>
            </a:r>
            <a:endParaRPr lang="en-US" sz="1050" dirty="0"/>
          </a:p>
        </p:txBody>
      </p:sp>
      <p:sp>
        <p:nvSpPr>
          <p:cNvPr id="20" name="Shape 14"/>
          <p:cNvSpPr/>
          <p:nvPr/>
        </p:nvSpPr>
        <p:spPr>
          <a:xfrm>
            <a:off x="4322978" y="30632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21" name="Image 4" descr="preencoded.png"/>
          <p:cNvPicPr>
            <a:picLocks noChangeAspect="1"/>
          </p:cNvPicPr>
          <p:nvPr/>
        </p:nvPicPr>
        <p:blipFill>
          <a:blip r:embed="rId5"/>
          <a:stretch>
            <a:fillRect/>
          </a:stretch>
        </p:blipFill>
        <p:spPr>
          <a:xfrm>
            <a:off x="4524146" y="3282696"/>
            <a:ext cx="420624" cy="420624"/>
          </a:xfrm>
          <a:prstGeom prst="rect">
            <a:avLst/>
          </a:prstGeom>
        </p:spPr>
      </p:pic>
      <p:sp>
        <p:nvSpPr>
          <p:cNvPr id="22" name="Text 15"/>
          <p:cNvSpPr/>
          <p:nvPr/>
        </p:nvSpPr>
        <p:spPr>
          <a:xfrm>
            <a:off x="5072786" y="32461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RPO ≤ 5 min · RTO ≤ 1 h</a:t>
            </a:r>
            <a:endParaRPr lang="en-US" sz="1350" dirty="0"/>
          </a:p>
        </p:txBody>
      </p:sp>
      <p:sp>
        <p:nvSpPr>
          <p:cNvPr id="23" name="Text 16"/>
          <p:cNvSpPr/>
          <p:nvPr/>
        </p:nvSpPr>
        <p:spPr>
          <a:xfrm>
            <a:off x="5072786" y="35204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Multi-zone by default. Restore drills. QR and emergency card serve from cache if the core degrades.</a:t>
            </a:r>
            <a:endParaRPr lang="en-US" sz="1050" dirty="0"/>
          </a:p>
        </p:txBody>
      </p:sp>
      <p:sp>
        <p:nvSpPr>
          <p:cNvPr id="24" name="Shape 17"/>
          <p:cNvSpPr/>
          <p:nvPr/>
        </p:nvSpPr>
        <p:spPr>
          <a:xfrm>
            <a:off x="8097317" y="30632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25" name="Image 5" descr="preencoded.png"/>
          <p:cNvPicPr>
            <a:picLocks noChangeAspect="1"/>
          </p:cNvPicPr>
          <p:nvPr/>
        </p:nvPicPr>
        <p:blipFill>
          <a:blip r:embed="rId6"/>
          <a:stretch>
            <a:fillRect/>
          </a:stretch>
        </p:blipFill>
        <p:spPr>
          <a:xfrm>
            <a:off x="8298485" y="3282696"/>
            <a:ext cx="420624" cy="420624"/>
          </a:xfrm>
          <a:prstGeom prst="rect">
            <a:avLst/>
          </a:prstGeom>
        </p:spPr>
      </p:pic>
      <p:sp>
        <p:nvSpPr>
          <p:cNvPr id="26" name="Text 18"/>
          <p:cNvSpPr/>
          <p:nvPr/>
        </p:nvSpPr>
        <p:spPr>
          <a:xfrm>
            <a:off x="8847125" y="32461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QR token, not data</a:t>
            </a:r>
            <a:endParaRPr lang="en-US" sz="1350" dirty="0"/>
          </a:p>
        </p:txBody>
      </p:sp>
      <p:sp>
        <p:nvSpPr>
          <p:cNvPr id="27" name="Text 19"/>
          <p:cNvSpPr/>
          <p:nvPr/>
        </p:nvSpPr>
        <p:spPr>
          <a:xfrm>
            <a:off x="8847125" y="35204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Opaque, bound to the scanning session, rotates every five minutes, rate-limited, anti-replay.</a:t>
            </a:r>
            <a:endParaRPr lang="en-US" sz="1050" dirty="0"/>
          </a:p>
        </p:txBody>
      </p:sp>
      <p:sp>
        <p:nvSpPr>
          <p:cNvPr id="28" name="Shape 20"/>
          <p:cNvSpPr/>
          <p:nvPr/>
        </p:nvSpPr>
        <p:spPr>
          <a:xfrm>
            <a:off x="548640" y="44348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29" name="Image 6" descr="preencoded.png"/>
          <p:cNvPicPr>
            <a:picLocks noChangeAspect="1"/>
          </p:cNvPicPr>
          <p:nvPr/>
        </p:nvPicPr>
        <p:blipFill>
          <a:blip r:embed="rId7"/>
          <a:stretch>
            <a:fillRect/>
          </a:stretch>
        </p:blipFill>
        <p:spPr>
          <a:xfrm>
            <a:off x="749808" y="4654296"/>
            <a:ext cx="420624" cy="420624"/>
          </a:xfrm>
          <a:prstGeom prst="rect">
            <a:avLst/>
          </a:prstGeom>
        </p:spPr>
      </p:pic>
      <p:sp>
        <p:nvSpPr>
          <p:cNvPr id="30" name="Text 21"/>
          <p:cNvSpPr/>
          <p:nvPr/>
        </p:nvSpPr>
        <p:spPr>
          <a:xfrm>
            <a:off x="1298448" y="46177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Your identity provider</a:t>
            </a:r>
            <a:endParaRPr lang="en-US" sz="1350" dirty="0"/>
          </a:p>
        </p:txBody>
      </p:sp>
      <p:sp>
        <p:nvSpPr>
          <p:cNvPr id="31" name="Text 22"/>
          <p:cNvSpPr/>
          <p:nvPr/>
        </p:nvSpPr>
        <p:spPr>
          <a:xfrm>
            <a:off x="1298448" y="48920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Doctors sign in through hospital SSO with MFA enforced. Professional-registry (HPR) verification ready.</a:t>
            </a:r>
            <a:endParaRPr lang="en-US" sz="1050" dirty="0"/>
          </a:p>
        </p:txBody>
      </p:sp>
      <p:sp>
        <p:nvSpPr>
          <p:cNvPr id="32" name="Shape 23"/>
          <p:cNvSpPr/>
          <p:nvPr/>
        </p:nvSpPr>
        <p:spPr>
          <a:xfrm>
            <a:off x="4322978" y="44348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33" name="Image 7" descr="preencoded.png"/>
          <p:cNvPicPr>
            <a:picLocks noChangeAspect="1"/>
          </p:cNvPicPr>
          <p:nvPr/>
        </p:nvPicPr>
        <p:blipFill>
          <a:blip r:embed="rId8"/>
          <a:stretch>
            <a:fillRect/>
          </a:stretch>
        </p:blipFill>
        <p:spPr>
          <a:xfrm>
            <a:off x="4524146" y="4654296"/>
            <a:ext cx="420624" cy="420624"/>
          </a:xfrm>
          <a:prstGeom prst="rect">
            <a:avLst/>
          </a:prstGeom>
        </p:spPr>
      </p:pic>
      <p:sp>
        <p:nvSpPr>
          <p:cNvPr id="34" name="Text 24"/>
          <p:cNvSpPr/>
          <p:nvPr/>
        </p:nvSpPr>
        <p:spPr>
          <a:xfrm>
            <a:off x="5072786" y="46177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ABHA and FHIR aligned</a:t>
            </a:r>
            <a:endParaRPr lang="en-US" sz="1350" dirty="0"/>
          </a:p>
        </p:txBody>
      </p:sp>
      <p:sp>
        <p:nvSpPr>
          <p:cNvPr id="35" name="Text 25"/>
          <p:cNvSpPr/>
          <p:nvPr/>
        </p:nvSpPr>
        <p:spPr>
          <a:xfrm>
            <a:off x="5072786" y="48920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ABDM federation for patient identity. FHIR R4-aligned data model with provenance on every record.</a:t>
            </a:r>
            <a:endParaRPr lang="en-US" sz="1050" dirty="0"/>
          </a:p>
        </p:txBody>
      </p:sp>
      <p:sp>
        <p:nvSpPr>
          <p:cNvPr id="36" name="Shape 26"/>
          <p:cNvSpPr/>
          <p:nvPr/>
        </p:nvSpPr>
        <p:spPr>
          <a:xfrm>
            <a:off x="8097317" y="4434840"/>
            <a:ext cx="3545738" cy="1207008"/>
          </a:xfrm>
          <a:prstGeom prst="roundRect">
            <a:avLst>
              <a:gd name="adj" fmla="val 909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37" name="Image 8" descr="preencoded.png"/>
          <p:cNvPicPr>
            <a:picLocks noChangeAspect="1"/>
          </p:cNvPicPr>
          <p:nvPr/>
        </p:nvPicPr>
        <p:blipFill>
          <a:blip r:embed="rId9"/>
          <a:stretch>
            <a:fillRect/>
          </a:stretch>
        </p:blipFill>
        <p:spPr>
          <a:xfrm>
            <a:off x="8298485" y="4654296"/>
            <a:ext cx="420624" cy="420624"/>
          </a:xfrm>
          <a:prstGeom prst="rect">
            <a:avLst/>
          </a:prstGeom>
        </p:spPr>
      </p:pic>
      <p:sp>
        <p:nvSpPr>
          <p:cNvPr id="38" name="Text 27"/>
          <p:cNvSpPr/>
          <p:nvPr/>
        </p:nvSpPr>
        <p:spPr>
          <a:xfrm>
            <a:off x="8847125" y="4617720"/>
            <a:ext cx="2631338" cy="274320"/>
          </a:xfrm>
          <a:prstGeom prst="rect">
            <a:avLst/>
          </a:prstGeom>
          <a:noFill/>
        </p:spPr>
        <p:txBody>
          <a:bodyPr wrap="square" lIns="0" tIns="0" rIns="0" bIns="0" rtlCol="0" anchor="t"/>
          <a:lstStyle/>
          <a:p>
            <a:pPr marL="0" indent="0">
              <a:buNone/>
            </a:pPr>
            <a:r>
              <a:rPr lang="en-US" sz="1350" b="1" dirty="0">
                <a:solidFill>
                  <a:srgbClr val="22303C"/>
                </a:solidFill>
                <a:latin typeface="Calibri" pitchFamily="34" charset="0"/>
                <a:ea typeface="Calibri" pitchFamily="34" charset="-122"/>
                <a:cs typeface="Calibri" pitchFamily="34" charset="-120"/>
              </a:rPr>
              <a:t>No standing access to PHI</a:t>
            </a:r>
            <a:endParaRPr lang="en-US" sz="1350" dirty="0"/>
          </a:p>
        </p:txBody>
      </p:sp>
      <p:sp>
        <p:nvSpPr>
          <p:cNvPr id="39" name="Text 28"/>
          <p:cNvSpPr/>
          <p:nvPr/>
        </p:nvSpPr>
        <p:spPr>
          <a:xfrm>
            <a:off x="8847125" y="4892040"/>
            <a:ext cx="2631338" cy="731520"/>
          </a:xfrm>
          <a:prstGeom prst="rect">
            <a:avLst/>
          </a:prstGeom>
          <a:noFill/>
        </p:spPr>
        <p:txBody>
          <a:bodyPr wrap="square" lIns="0" tIns="0" rIns="0" bIns="0" rtlCol="0" anchor="t"/>
          <a:lstStyle/>
          <a:p>
            <a:pPr marL="0" indent="0">
              <a:lnSpc>
                <a:spcPct val="110000"/>
              </a:lnSpc>
              <a:buNone/>
            </a:pPr>
            <a:r>
              <a:rPr lang="en-US" sz="1050" dirty="0">
                <a:solidFill>
                  <a:srgbClr val="3A4756"/>
                </a:solidFill>
                <a:latin typeface="Calibri" pitchFamily="34" charset="0"/>
                <a:ea typeface="Calibri" pitchFamily="34" charset="-122"/>
                <a:cs typeface="Calibri" pitchFamily="34" charset="-120"/>
              </a:rPr>
              <a:t>Admin access is just-in-time and audited. Static and dynamic analysis in CI; independent penetration tests.</a:t>
            </a:r>
            <a:endParaRPr lang="en-US" sz="1050" dirty="0"/>
          </a:p>
        </p:txBody>
      </p:sp>
      <p:sp>
        <p:nvSpPr>
          <p:cNvPr id="40" name="Text 29"/>
          <p:cNvSpPr/>
          <p:nvPr/>
        </p:nvSpPr>
        <p:spPr>
          <a:xfrm>
            <a:off x="548640" y="5916168"/>
            <a:ext cx="1463040" cy="274320"/>
          </a:xfrm>
          <a:prstGeom prst="rect">
            <a:avLst/>
          </a:prstGeom>
          <a:noFill/>
        </p:spPr>
        <p:txBody>
          <a:bodyPr wrap="square" lIns="0" tIns="0" rIns="0" bIns="0" rtlCol="0" anchor="t"/>
          <a:lstStyle/>
          <a:p>
            <a:pPr marL="0" indent="0">
              <a:buNone/>
            </a:pPr>
            <a:r>
              <a:rPr lang="en-US" sz="1000" b="1" kern="0" spc="300" dirty="0">
                <a:solidFill>
                  <a:srgbClr val="7D868E"/>
                </a:solidFill>
                <a:latin typeface="Calibri" pitchFamily="34" charset="0"/>
                <a:ea typeface="Calibri" pitchFamily="34" charset="-122"/>
                <a:cs typeface="Calibri" pitchFamily="34" charset="-120"/>
              </a:rPr>
              <a:t>Design targets</a:t>
            </a:r>
            <a:endParaRPr lang="en-US" sz="1000" dirty="0"/>
          </a:p>
        </p:txBody>
      </p:sp>
      <p:sp>
        <p:nvSpPr>
          <p:cNvPr id="41" name="Text 30"/>
          <p:cNvSpPr/>
          <p:nvPr/>
        </p:nvSpPr>
        <p:spPr>
          <a:xfrm>
            <a:off x="2286000" y="5852160"/>
            <a:ext cx="2926080" cy="292608"/>
          </a:xfrm>
          <a:prstGeom prst="rect">
            <a:avLst/>
          </a:prstGeom>
          <a:noFill/>
        </p:spPr>
        <p:txBody>
          <a:bodyPr wrap="square" lIns="0" tIns="0" rIns="0" bIns="0" rtlCol="0" anchor="t"/>
          <a:lstStyle/>
          <a:p>
            <a:pPr marL="0" indent="0">
              <a:buNone/>
            </a:pPr>
            <a:r>
              <a:rPr lang="en-US" sz="1600" dirty="0">
                <a:solidFill>
                  <a:srgbClr val="22303C"/>
                </a:solidFill>
                <a:latin typeface="Cambria" pitchFamily="34" charset="0"/>
                <a:ea typeface="Cambria" pitchFamily="34" charset="-122"/>
                <a:cs typeface="Cambria" pitchFamily="34" charset="-120"/>
              </a:rPr>
              <a:t>p95 under 500 ms</a:t>
            </a:r>
            <a:endParaRPr lang="en-US" sz="1600" dirty="0"/>
          </a:p>
        </p:txBody>
      </p:sp>
      <p:sp>
        <p:nvSpPr>
          <p:cNvPr id="42" name="Text 31"/>
          <p:cNvSpPr/>
          <p:nvPr/>
        </p:nvSpPr>
        <p:spPr>
          <a:xfrm>
            <a:off x="2286000" y="6144768"/>
            <a:ext cx="2926080" cy="228600"/>
          </a:xfrm>
          <a:prstGeom prst="rect">
            <a:avLst/>
          </a:prstGeom>
          <a:noFill/>
        </p:spPr>
        <p:txBody>
          <a:bodyPr wrap="square" lIns="0" tIns="0" rIns="0" bIns="0" rtlCol="0" anchor="t"/>
          <a:lstStyle/>
          <a:p>
            <a:pPr marL="0" indent="0">
              <a:buNone/>
            </a:pPr>
            <a:r>
              <a:rPr lang="en-US" sz="1050" dirty="0">
                <a:solidFill>
                  <a:srgbClr val="7D868E"/>
                </a:solidFill>
                <a:latin typeface="Calibri" pitchFamily="34" charset="0"/>
                <a:ea typeface="Calibri" pitchFamily="34" charset="-122"/>
                <a:cs typeface="Calibri" pitchFamily="34" charset="-120"/>
              </a:rPr>
              <a:t>QR to patient</a:t>
            </a:r>
            <a:endParaRPr lang="en-US" sz="1050" dirty="0"/>
          </a:p>
        </p:txBody>
      </p:sp>
      <p:sp>
        <p:nvSpPr>
          <p:cNvPr id="43" name="Text 32"/>
          <p:cNvSpPr/>
          <p:nvPr/>
        </p:nvSpPr>
        <p:spPr>
          <a:xfrm>
            <a:off x="5394960" y="5852160"/>
            <a:ext cx="2926080" cy="292608"/>
          </a:xfrm>
          <a:prstGeom prst="rect">
            <a:avLst/>
          </a:prstGeom>
          <a:noFill/>
        </p:spPr>
        <p:txBody>
          <a:bodyPr wrap="square" lIns="0" tIns="0" rIns="0" bIns="0" rtlCol="0" anchor="t"/>
          <a:lstStyle/>
          <a:p>
            <a:pPr marL="0" indent="0">
              <a:buNone/>
            </a:pPr>
            <a:r>
              <a:rPr lang="en-US" sz="1600" dirty="0">
                <a:solidFill>
                  <a:srgbClr val="22303C"/>
                </a:solidFill>
                <a:latin typeface="Cambria" pitchFamily="34" charset="0"/>
                <a:ea typeface="Cambria" pitchFamily="34" charset="-122"/>
                <a:cs typeface="Cambria" pitchFamily="34" charset="-120"/>
              </a:rPr>
              <a:t>under 1 s</a:t>
            </a:r>
            <a:endParaRPr lang="en-US" sz="1600" dirty="0"/>
          </a:p>
        </p:txBody>
      </p:sp>
      <p:sp>
        <p:nvSpPr>
          <p:cNvPr id="44" name="Text 33"/>
          <p:cNvSpPr/>
          <p:nvPr/>
        </p:nvSpPr>
        <p:spPr>
          <a:xfrm>
            <a:off x="5394960" y="6144768"/>
            <a:ext cx="2926080" cy="228600"/>
          </a:xfrm>
          <a:prstGeom prst="rect">
            <a:avLst/>
          </a:prstGeom>
          <a:noFill/>
        </p:spPr>
        <p:txBody>
          <a:bodyPr wrap="square" lIns="0" tIns="0" rIns="0" bIns="0" rtlCol="0" anchor="t"/>
          <a:lstStyle/>
          <a:p>
            <a:pPr marL="0" indent="0">
              <a:buNone/>
            </a:pPr>
            <a:r>
              <a:rPr lang="en-US" sz="1050" dirty="0">
                <a:solidFill>
                  <a:srgbClr val="7D868E"/>
                </a:solidFill>
                <a:latin typeface="Calibri" pitchFamily="34" charset="0"/>
                <a:ea typeface="Calibri" pitchFamily="34" charset="-122"/>
                <a:cs typeface="Calibri" pitchFamily="34" charset="-120"/>
              </a:rPr>
              <a:t>Patient 360° load</a:t>
            </a:r>
            <a:endParaRPr lang="en-US" sz="1050" dirty="0"/>
          </a:p>
        </p:txBody>
      </p:sp>
      <p:sp>
        <p:nvSpPr>
          <p:cNvPr id="45" name="Text 34"/>
          <p:cNvSpPr/>
          <p:nvPr/>
        </p:nvSpPr>
        <p:spPr>
          <a:xfrm>
            <a:off x="8503920" y="5852160"/>
            <a:ext cx="2926080" cy="292608"/>
          </a:xfrm>
          <a:prstGeom prst="rect">
            <a:avLst/>
          </a:prstGeom>
          <a:noFill/>
        </p:spPr>
        <p:txBody>
          <a:bodyPr wrap="square" lIns="0" tIns="0" rIns="0" bIns="0" rtlCol="0" anchor="t"/>
          <a:lstStyle/>
          <a:p>
            <a:pPr marL="0" indent="0">
              <a:buNone/>
            </a:pPr>
            <a:r>
              <a:rPr lang="en-US" sz="1600" dirty="0">
                <a:solidFill>
                  <a:srgbClr val="22303C"/>
                </a:solidFill>
                <a:latin typeface="Cambria" pitchFamily="34" charset="0"/>
                <a:ea typeface="Cambria" pitchFamily="34" charset="-122"/>
                <a:cs typeface="Cambria" pitchFamily="34" charset="-120"/>
              </a:rPr>
              <a:t>p95 under 2.5 s</a:t>
            </a:r>
            <a:endParaRPr lang="en-US" sz="1600" dirty="0"/>
          </a:p>
        </p:txBody>
      </p:sp>
      <p:sp>
        <p:nvSpPr>
          <p:cNvPr id="46" name="Text 35"/>
          <p:cNvSpPr/>
          <p:nvPr/>
        </p:nvSpPr>
        <p:spPr>
          <a:xfrm>
            <a:off x="8503920" y="6144768"/>
            <a:ext cx="2926080" cy="228600"/>
          </a:xfrm>
          <a:prstGeom prst="rect">
            <a:avLst/>
          </a:prstGeom>
          <a:noFill/>
        </p:spPr>
        <p:txBody>
          <a:bodyPr wrap="square" lIns="0" tIns="0" rIns="0" bIns="0" rtlCol="0" anchor="t"/>
          <a:lstStyle/>
          <a:p>
            <a:pPr marL="0" indent="0">
              <a:buNone/>
            </a:pPr>
            <a:r>
              <a:rPr lang="en-US" sz="1050" dirty="0">
                <a:solidFill>
                  <a:srgbClr val="7D868E"/>
                </a:solidFill>
                <a:latin typeface="Calibri" pitchFamily="34" charset="0"/>
                <a:ea typeface="Calibri" pitchFamily="34" charset="-122"/>
                <a:cs typeface="Calibri" pitchFamily="34" charset="-120"/>
              </a:rPr>
              <a:t>AI brief at scan</a:t>
            </a:r>
            <a:endParaRPr lang="en-US" sz="1050" dirty="0"/>
          </a:p>
        </p:txBody>
      </p:sp>
      <p:sp>
        <p:nvSpPr>
          <p:cNvPr id="47" name="Text 36"/>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WHY NOW</a:t>
            </a:r>
            <a:endParaRPr lang="en-US" sz="1050" dirty="0"/>
          </a:p>
        </p:txBody>
      </p:sp>
      <p:sp>
        <p:nvSpPr>
          <p:cNvPr id="3" name="Text 1"/>
          <p:cNvSpPr/>
          <p:nvPr/>
        </p:nvSpPr>
        <p:spPr>
          <a:xfrm>
            <a:off x="548640" y="822960"/>
            <a:ext cx="9144000" cy="731520"/>
          </a:xfrm>
          <a:prstGeom prst="rect">
            <a:avLst/>
          </a:prstGeom>
          <a:noFill/>
        </p:spPr>
        <p:txBody>
          <a:bodyPr wrap="square" lIns="0" tIns="0" rIns="0" bIns="0" rtlCol="0" anchor="t"/>
          <a:lstStyle/>
          <a:p>
            <a:pPr marL="0" indent="0">
              <a:buNone/>
            </a:pPr>
            <a:r>
              <a:rPr lang="en-US" sz="3200" dirty="0">
                <a:solidFill>
                  <a:srgbClr val="22303C"/>
                </a:solidFill>
                <a:latin typeface="Cambria" pitchFamily="34" charset="0"/>
                <a:ea typeface="Cambria" pitchFamily="34" charset="-122"/>
                <a:cs typeface="Cambria" pitchFamily="34" charset="-120"/>
              </a:rPr>
              <a:t>Possible now. Not possible five years ago.</a:t>
            </a:r>
            <a:endParaRPr lang="en-US" sz="3200" dirty="0"/>
          </a:p>
        </p:txBody>
      </p:sp>
      <p:sp>
        <p:nvSpPr>
          <p:cNvPr id="4" name="Shape 2"/>
          <p:cNvSpPr/>
          <p:nvPr/>
        </p:nvSpPr>
        <p:spPr>
          <a:xfrm>
            <a:off x="548640"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5" name="Image 0" descr="preencoded.png"/>
          <p:cNvPicPr>
            <a:picLocks noChangeAspect="1"/>
          </p:cNvPicPr>
          <p:nvPr/>
        </p:nvPicPr>
        <p:blipFill>
          <a:blip r:embed="rId1"/>
          <a:stretch>
            <a:fillRect/>
          </a:stretch>
        </p:blipFill>
        <p:spPr>
          <a:xfrm>
            <a:off x="804672" y="2121408"/>
            <a:ext cx="603504" cy="603504"/>
          </a:xfrm>
          <a:prstGeom prst="rect">
            <a:avLst/>
          </a:prstGeom>
        </p:spPr>
      </p:pic>
      <p:sp>
        <p:nvSpPr>
          <p:cNvPr id="6" name="Text 3"/>
          <p:cNvSpPr/>
          <p:nvPr/>
        </p:nvSpPr>
        <p:spPr>
          <a:xfrm>
            <a:off x="804672"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ABDM and ABHA exist</a:t>
            </a:r>
            <a:endParaRPr lang="en-US" sz="1700" dirty="0"/>
          </a:p>
        </p:txBody>
      </p:sp>
      <p:sp>
        <p:nvSpPr>
          <p:cNvPr id="7" name="Text 4"/>
          <p:cNvSpPr/>
          <p:nvPr/>
        </p:nvSpPr>
        <p:spPr>
          <a:xfrm>
            <a:off x="804672"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A national health identity is already in the patient’s hands. Mirai links to it instead of inventing another number.</a:t>
            </a:r>
            <a:endParaRPr lang="en-US" sz="1200" dirty="0"/>
          </a:p>
        </p:txBody>
      </p:sp>
      <p:sp>
        <p:nvSpPr>
          <p:cNvPr id="8" name="Shape 5"/>
          <p:cNvSpPr/>
          <p:nvPr/>
        </p:nvSpPr>
        <p:spPr>
          <a:xfrm>
            <a:off x="3390824"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9" name="Image 1" descr="preencoded.png"/>
          <p:cNvPicPr>
            <a:picLocks noChangeAspect="1"/>
          </p:cNvPicPr>
          <p:nvPr/>
        </p:nvPicPr>
        <p:blipFill>
          <a:blip r:embed="rId2"/>
          <a:stretch>
            <a:fillRect/>
          </a:stretch>
        </p:blipFill>
        <p:spPr>
          <a:xfrm>
            <a:off x="3646856" y="2121408"/>
            <a:ext cx="603504" cy="603504"/>
          </a:xfrm>
          <a:prstGeom prst="rect">
            <a:avLst/>
          </a:prstGeom>
        </p:spPr>
      </p:pic>
      <p:sp>
        <p:nvSpPr>
          <p:cNvPr id="10" name="Text 6"/>
          <p:cNvSpPr/>
          <p:nvPr/>
        </p:nvSpPr>
        <p:spPr>
          <a:xfrm>
            <a:off x="3646856"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DPDPA 2023 is law</a:t>
            </a:r>
            <a:endParaRPr lang="en-US" sz="1700" dirty="0"/>
          </a:p>
        </p:txBody>
      </p:sp>
      <p:sp>
        <p:nvSpPr>
          <p:cNvPr id="11" name="Text 7"/>
          <p:cNvSpPr/>
          <p:nvPr/>
        </p:nvSpPr>
        <p:spPr>
          <a:xfrm>
            <a:off x="3646856"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Consent, purpose limitation and data rights are now statutory. A product built on them is the compliant path, not the risky one.</a:t>
            </a:r>
            <a:endParaRPr lang="en-US" sz="1200" dirty="0"/>
          </a:p>
        </p:txBody>
      </p:sp>
      <p:sp>
        <p:nvSpPr>
          <p:cNvPr id="12" name="Shape 8"/>
          <p:cNvSpPr/>
          <p:nvPr/>
        </p:nvSpPr>
        <p:spPr>
          <a:xfrm>
            <a:off x="6233008"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3" name="Image 2" descr="preencoded.png"/>
          <p:cNvPicPr>
            <a:picLocks noChangeAspect="1"/>
          </p:cNvPicPr>
          <p:nvPr/>
        </p:nvPicPr>
        <p:blipFill>
          <a:blip r:embed="rId3"/>
          <a:stretch>
            <a:fillRect/>
          </a:stretch>
        </p:blipFill>
        <p:spPr>
          <a:xfrm>
            <a:off x="6489040" y="2121408"/>
            <a:ext cx="603504" cy="603504"/>
          </a:xfrm>
          <a:prstGeom prst="rect">
            <a:avLst/>
          </a:prstGeom>
        </p:spPr>
      </p:pic>
      <p:sp>
        <p:nvSpPr>
          <p:cNvPr id="14" name="Text 9"/>
          <p:cNvSpPr/>
          <p:nvPr/>
        </p:nvSpPr>
        <p:spPr>
          <a:xfrm>
            <a:off x="6489040"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AI can be grounded and checked</a:t>
            </a:r>
            <a:endParaRPr lang="en-US" sz="1700" dirty="0"/>
          </a:p>
        </p:txBody>
      </p:sp>
      <p:sp>
        <p:nvSpPr>
          <p:cNvPr id="15" name="Text 10"/>
          <p:cNvSpPr/>
          <p:nvPr/>
        </p:nvSpPr>
        <p:spPr>
          <a:xfrm>
            <a:off x="6489040"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Language models can read a whole file and write a specialty-specific brief, and each claim can be verified against the source before it is shown.</a:t>
            </a:r>
            <a:endParaRPr lang="en-US" sz="1200" dirty="0"/>
          </a:p>
        </p:txBody>
      </p:sp>
      <p:sp>
        <p:nvSpPr>
          <p:cNvPr id="16" name="Shape 11"/>
          <p:cNvSpPr/>
          <p:nvPr/>
        </p:nvSpPr>
        <p:spPr>
          <a:xfrm>
            <a:off x="9075191" y="1828800"/>
            <a:ext cx="2567864" cy="3566160"/>
          </a:xfrm>
          <a:prstGeom prst="roundRect">
            <a:avLst>
              <a:gd name="adj" fmla="val 4273"/>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sp>
      <p:pic>
        <p:nvPicPr>
          <p:cNvPr id="17" name="Image 3" descr="preencoded.png"/>
          <p:cNvPicPr>
            <a:picLocks noChangeAspect="1"/>
          </p:cNvPicPr>
          <p:nvPr/>
        </p:nvPicPr>
        <p:blipFill>
          <a:blip r:embed="rId4"/>
          <a:stretch>
            <a:fillRect/>
          </a:stretch>
        </p:blipFill>
        <p:spPr>
          <a:xfrm>
            <a:off x="9331223" y="2121408"/>
            <a:ext cx="603504" cy="603504"/>
          </a:xfrm>
          <a:prstGeom prst="rect">
            <a:avLst/>
          </a:prstGeom>
        </p:spPr>
      </p:pic>
      <p:sp>
        <p:nvSpPr>
          <p:cNvPr id="18" name="Text 12"/>
          <p:cNvSpPr/>
          <p:nvPr/>
        </p:nvSpPr>
        <p:spPr>
          <a:xfrm>
            <a:off x="9331223" y="2926080"/>
            <a:ext cx="2110664" cy="685800"/>
          </a:xfrm>
          <a:prstGeom prst="rect">
            <a:avLst/>
          </a:prstGeom>
          <a:noFill/>
        </p:spPr>
        <p:txBody>
          <a:bodyPr wrap="square" lIns="0" tIns="0" rIns="0" bIns="0" rtlCol="0" anchor="t"/>
          <a:lstStyle/>
          <a:p>
            <a:pPr marL="0" indent="0">
              <a:lnSpc>
                <a:spcPct val="105000"/>
              </a:lnSpc>
              <a:buNone/>
            </a:pPr>
            <a:r>
              <a:rPr lang="en-US" sz="1700" b="1" dirty="0">
                <a:solidFill>
                  <a:srgbClr val="22303C"/>
                </a:solidFill>
                <a:latin typeface="Cambria" pitchFamily="34" charset="0"/>
                <a:ea typeface="Cambria" pitchFamily="34" charset="-122"/>
                <a:cs typeface="Cambria" pitchFamily="34" charset="-120"/>
              </a:rPr>
              <a:t>A phone in every pocket</a:t>
            </a:r>
            <a:endParaRPr lang="en-US" sz="1700" dirty="0"/>
          </a:p>
        </p:txBody>
      </p:sp>
      <p:sp>
        <p:nvSpPr>
          <p:cNvPr id="19" name="Text 13"/>
          <p:cNvSpPr/>
          <p:nvPr/>
        </p:nvSpPr>
        <p:spPr>
          <a:xfrm>
            <a:off x="9331223" y="3703320"/>
            <a:ext cx="2110664" cy="1554480"/>
          </a:xfrm>
          <a:prstGeom prst="rect">
            <a:avLst/>
          </a:prstGeom>
          <a:noFill/>
        </p:spPr>
        <p:txBody>
          <a:bodyPr wrap="square" lIns="0" tIns="0" rIns="0" bIns="0" rtlCol="0" anchor="t"/>
          <a:lstStyle/>
          <a:p>
            <a:pPr marL="0" indent="0">
              <a:lnSpc>
                <a:spcPct val="115000"/>
              </a:lnSpc>
              <a:buNone/>
            </a:pPr>
            <a:r>
              <a:rPr lang="en-US" sz="1200" dirty="0">
                <a:solidFill>
                  <a:srgbClr val="3A4756"/>
                </a:solidFill>
                <a:latin typeface="Calibri" pitchFamily="34" charset="0"/>
                <a:ea typeface="Calibri" pitchFamily="34" charset="-122"/>
                <a:cs typeface="Calibri" pitchFamily="34" charset="-120"/>
              </a:rPr>
              <a:t>No smart card, no kiosk, no new hardware in the OPD. The patient’s phone presents the QR; the doctor’s phone scans it.</a:t>
            </a:r>
            <a:endParaRPr lang="en-US" sz="1200" dirty="0"/>
          </a:p>
        </p:txBody>
      </p:sp>
      <p:sp>
        <p:nvSpPr>
          <p:cNvPr id="20" name="Text 14"/>
          <p:cNvSpPr/>
          <p:nvPr/>
        </p:nvSpPr>
        <p:spPr>
          <a:xfrm>
            <a:off x="548640" y="5715000"/>
            <a:ext cx="11094415" cy="457200"/>
          </a:xfrm>
          <a:prstGeom prst="rect">
            <a:avLst/>
          </a:prstGeom>
          <a:noFill/>
        </p:spPr>
        <p:txBody>
          <a:bodyPr wrap="square" lIns="0" tIns="0" rIns="0" bIns="0" rtlCol="0" anchor="t"/>
          <a:lstStyle/>
          <a:p>
            <a:pPr marL="0" indent="0">
              <a:buNone/>
            </a:pPr>
            <a:r>
              <a:rPr lang="en-US" sz="1500" i="1" dirty="0">
                <a:solidFill>
                  <a:srgbClr val="5C6873"/>
                </a:solidFill>
                <a:latin typeface="Cambria" pitchFamily="34" charset="0"/>
                <a:ea typeface="Cambria" pitchFamily="34" charset="-122"/>
                <a:cs typeface="Cambria" pitchFamily="34" charset="-120"/>
              </a:rPr>
              <a:t>The pieces were assembled by others. Mirai is the layer that puts them in front of a clinician in fourteen seconds.</a:t>
            </a:r>
            <a:endParaRPr lang="en-US" sz="1500" dirty="0"/>
          </a:p>
        </p:txBody>
      </p:sp>
      <p:sp>
        <p:nvSpPr>
          <p:cNvPr id="21" name="Text 15"/>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2303C"/>
        </a:solidFill>
      </p:bgPr>
    </p:bg>
    <p:spTree>
      <p:nvGrpSpPr>
        <p:cNvPr id="1" name=""/>
        <p:cNvGrpSpPr/>
        <p:nvPr/>
      </p:nvGrpSpPr>
      <p:grpSpPr/>
      <p:sp>
        <p:nvSpPr>
          <p:cNvPr id="2" name="Text 0"/>
          <p:cNvSpPr/>
          <p:nvPr/>
        </p:nvSpPr>
        <p:spPr>
          <a:xfrm>
            <a:off x="548640" y="502920"/>
            <a:ext cx="5486400" cy="274320"/>
          </a:xfrm>
          <a:prstGeom prst="rect">
            <a:avLst/>
          </a:prstGeom>
          <a:noFill/>
          <a:ln/>
        </p:spPr>
        <p:txBody>
          <a:bodyPr wrap="square" lIns="0" tIns="0" rIns="0" bIns="0" rtlCol="0" anchor="t"/>
          <a:lstStyle/>
          <a:p>
            <a:pPr indent="0" marL="0">
              <a:buNone/>
            </a:pPr>
            <a:r>
              <a:rPr lang="en-US" sz="1050" b="1" spc="300" kern="0" dirty="0">
                <a:solidFill>
                  <a:srgbClr val="61AFDA"/>
                </a:solidFill>
                <a:latin typeface="Calibri" pitchFamily="34" charset="0"/>
                <a:ea typeface="Calibri" pitchFamily="34" charset="-122"/>
                <a:cs typeface="Calibri" pitchFamily="34" charset="-120"/>
              </a:rPr>
              <a:t>BUSINESS MODEL</a:t>
            </a:r>
            <a:endParaRPr lang="en-US" sz="1050" dirty="0"/>
          </a:p>
        </p:txBody>
      </p:sp>
      <p:sp>
        <p:nvSpPr>
          <p:cNvPr id="3" name="Text 1"/>
          <p:cNvSpPr/>
          <p:nvPr/>
        </p:nvSpPr>
        <p:spPr>
          <a:xfrm>
            <a:off x="548640" y="822960"/>
            <a:ext cx="7863840" cy="1371600"/>
          </a:xfrm>
          <a:prstGeom prst="rect">
            <a:avLst/>
          </a:prstGeom>
          <a:noFill/>
          <a:ln/>
        </p:spPr>
        <p:txBody>
          <a:bodyPr wrap="square" lIns="0" tIns="0" rIns="0" bIns="0" rtlCol="0" anchor="t"/>
          <a:lstStyle/>
          <a:p>
            <a:pPr indent="0" marL="0">
              <a:lnSpc>
                <a:spcPct val="105000"/>
              </a:lnSpc>
              <a:buNone/>
            </a:pPr>
            <a:r>
              <a:rPr lang="en-US" sz="3200" dirty="0">
                <a:solidFill>
                  <a:srgbClr val="FFFFFF"/>
                </a:solidFill>
                <a:latin typeface="Cambria" pitchFamily="34" charset="0"/>
                <a:ea typeface="Cambria" pitchFamily="34" charset="-122"/>
                <a:cs typeface="Cambria" pitchFamily="34" charset="-120"/>
              </a:rPr>
              <a:t>Whoever gains clinician time pays. The patient never pays for their own record.</a:t>
            </a:r>
            <a:endParaRPr lang="en-US" sz="3200" dirty="0"/>
          </a:p>
        </p:txBody>
      </p:sp>
      <p:sp>
        <p:nvSpPr>
          <p:cNvPr id="4" name="Text 2"/>
          <p:cNvSpPr/>
          <p:nvPr/>
        </p:nvSpPr>
        <p:spPr>
          <a:xfrm>
            <a:off x="548640" y="2286000"/>
            <a:ext cx="7680960" cy="640080"/>
          </a:xfrm>
          <a:prstGeom prst="rect">
            <a:avLst/>
          </a:prstGeom>
          <a:noFill/>
          <a:ln/>
        </p:spPr>
        <p:txBody>
          <a:bodyPr wrap="square" lIns="0" tIns="0" rIns="0" bIns="0" rtlCol="0" anchor="t"/>
          <a:lstStyle/>
          <a:p>
            <a:pPr indent="0" marL="0">
              <a:lnSpc>
                <a:spcPct val="115000"/>
              </a:lnSpc>
              <a:buNone/>
            </a:pPr>
            <a:r>
              <a:rPr lang="en-US" sz="1300" dirty="0">
                <a:solidFill>
                  <a:srgbClr val="B9C6D1"/>
                </a:solidFill>
                <a:latin typeface="Calibri" pitchFamily="34" charset="0"/>
                <a:ea typeface="Calibri" pitchFamily="34" charset="-122"/>
                <a:cs typeface="Calibri" pitchFamily="34" charset="-120"/>
              </a:rPr>
              <a:t>Eight ways Mirai earns, grouped by who pays. Four are live in year one, two need a dedicated tier, two wait for consent tooling and legal review.</a:t>
            </a:r>
            <a:endParaRPr lang="en-US" sz="1300" dirty="0"/>
          </a:p>
        </p:txBody>
      </p:sp>
      <p:sp>
        <p:nvSpPr>
          <p:cNvPr id="5" name="Shape 3"/>
          <p:cNvSpPr/>
          <p:nvPr/>
        </p:nvSpPr>
        <p:spPr>
          <a:xfrm>
            <a:off x="548640" y="3200400"/>
            <a:ext cx="2072579" cy="2926080"/>
          </a:xfrm>
          <a:prstGeom prst="roundRect">
            <a:avLst>
              <a:gd name="adj" fmla="val 4412"/>
            </a:avLst>
          </a:prstGeom>
          <a:solidFill>
            <a:srgbClr val="2C3E4E"/>
          </a:solidFill>
          <a:ln w="12700">
            <a:solidFill>
              <a:srgbClr val="3A4E60"/>
            </a:solidFill>
            <a:prstDash val="solid"/>
          </a:ln>
        </p:spPr>
      </p:sp>
      <p:pic>
        <p:nvPicPr>
          <p:cNvPr id="6" name="Image 0" descr="preencoded.png">    </p:cNvPr>
          <p:cNvPicPr>
            <a:picLocks noChangeAspect="1"/>
          </p:cNvPicPr>
          <p:nvPr/>
        </p:nvPicPr>
        <p:blipFill>
          <a:blip r:embed="rId2"/>
          <a:stretch>
            <a:fillRect/>
          </a:stretch>
        </p:blipFill>
        <p:spPr>
          <a:xfrm>
            <a:off x="749808" y="3429000"/>
            <a:ext cx="457200" cy="457200"/>
          </a:xfrm>
          <a:prstGeom prst="rect">
            <a:avLst/>
          </a:prstGeom>
        </p:spPr>
      </p:pic>
      <p:sp>
        <p:nvSpPr>
          <p:cNvPr id="7" name="Text 4"/>
          <p:cNvSpPr/>
          <p:nvPr/>
        </p:nvSpPr>
        <p:spPr>
          <a:xfrm>
            <a:off x="749808" y="4005072"/>
            <a:ext cx="1670243" cy="5486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Hospitals and clinic chains</a:t>
            </a:r>
            <a:endParaRPr lang="en-US" sz="1250" dirty="0"/>
          </a:p>
        </p:txBody>
      </p:sp>
      <p:sp>
        <p:nvSpPr>
          <p:cNvPr id="8" name="Text 5"/>
          <p:cNvSpPr/>
          <p:nvPr/>
        </p:nvSpPr>
        <p:spPr>
          <a:xfrm>
            <a:off x="749808" y="4617720"/>
            <a:ext cx="1670243" cy="914400"/>
          </a:xfrm>
          <a:prstGeom prst="rect">
            <a:avLst/>
          </a:prstGeom>
          <a:noFill/>
          <a:ln/>
        </p:spPr>
        <p:txBody>
          <a:bodyPr wrap="square" lIns="0" tIns="0" rIns="0" bIns="0" rtlCol="0" anchor="t"/>
          <a:lstStyle/>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1 · Subscription by tier</a:t>
            </a:r>
            <a:endParaRPr lang="en-US" sz="1050" dirty="0"/>
          </a:p>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2 · Metered AI briefs</a:t>
            </a:r>
            <a:endParaRPr lang="en-US" sz="1050" dirty="0"/>
          </a:p>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5 · Threshold-gated enterprise</a:t>
            </a:r>
            <a:endParaRPr lang="en-US" sz="1050" dirty="0"/>
          </a:p>
        </p:txBody>
      </p:sp>
      <p:sp>
        <p:nvSpPr>
          <p:cNvPr id="9" name="Text 6"/>
          <p:cNvSpPr/>
          <p:nvPr/>
        </p:nvSpPr>
        <p:spPr>
          <a:xfrm>
            <a:off x="749808" y="5669280"/>
            <a:ext cx="1670243" cy="274320"/>
          </a:xfrm>
          <a:prstGeom prst="rect">
            <a:avLst/>
          </a:prstGeom>
          <a:noFill/>
          <a:ln/>
        </p:spPr>
        <p:txBody>
          <a:bodyPr wrap="square" lIns="0" tIns="0" rIns="0" bIns="0" rtlCol="0" anchor="t"/>
          <a:lstStyle/>
          <a:p>
            <a:pPr indent="0" marL="0">
              <a:buNone/>
            </a:pPr>
            <a:r>
              <a:rPr lang="en-US" sz="950" i="1" dirty="0">
                <a:solidFill>
                  <a:srgbClr val="61AFDA"/>
                </a:solidFill>
                <a:latin typeface="Calibri" pitchFamily="34" charset="0"/>
                <a:ea typeface="Calibri" pitchFamily="34" charset="-122"/>
                <a:cs typeface="Calibri" pitchFamily="34" charset="-120"/>
              </a:rPr>
              <a:t>Live in year one</a:t>
            </a:r>
            <a:endParaRPr lang="en-US" sz="950" dirty="0"/>
          </a:p>
        </p:txBody>
      </p:sp>
      <p:sp>
        <p:nvSpPr>
          <p:cNvPr id="10" name="Shape 7"/>
          <p:cNvSpPr/>
          <p:nvPr/>
        </p:nvSpPr>
        <p:spPr>
          <a:xfrm>
            <a:off x="2804099" y="3200400"/>
            <a:ext cx="2072579" cy="2926080"/>
          </a:xfrm>
          <a:prstGeom prst="roundRect">
            <a:avLst>
              <a:gd name="adj" fmla="val 4412"/>
            </a:avLst>
          </a:prstGeom>
          <a:solidFill>
            <a:srgbClr val="2C3E4E"/>
          </a:solidFill>
          <a:ln w="12700">
            <a:solidFill>
              <a:srgbClr val="3A4E60"/>
            </a:solidFill>
            <a:prstDash val="solid"/>
          </a:ln>
        </p:spPr>
      </p:sp>
      <p:pic>
        <p:nvPicPr>
          <p:cNvPr id="11" name="Image 1" descr="preencoded.png">    </p:cNvPr>
          <p:cNvPicPr>
            <a:picLocks noChangeAspect="1"/>
          </p:cNvPicPr>
          <p:nvPr/>
        </p:nvPicPr>
        <p:blipFill>
          <a:blip r:embed="rId3"/>
          <a:stretch>
            <a:fillRect/>
          </a:stretch>
        </p:blipFill>
        <p:spPr>
          <a:xfrm>
            <a:off x="3005267" y="3429000"/>
            <a:ext cx="457200" cy="457200"/>
          </a:xfrm>
          <a:prstGeom prst="rect">
            <a:avLst/>
          </a:prstGeom>
        </p:spPr>
      </p:pic>
      <p:sp>
        <p:nvSpPr>
          <p:cNvPr id="12" name="Text 8"/>
          <p:cNvSpPr/>
          <p:nvPr/>
        </p:nvSpPr>
        <p:spPr>
          <a:xfrm>
            <a:off x="3005267" y="4005072"/>
            <a:ext cx="1670243" cy="5486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Diagnostics and imaging networks</a:t>
            </a:r>
            <a:endParaRPr lang="en-US" sz="1250" dirty="0"/>
          </a:p>
        </p:txBody>
      </p:sp>
      <p:sp>
        <p:nvSpPr>
          <p:cNvPr id="13" name="Text 9"/>
          <p:cNvSpPr/>
          <p:nvPr/>
        </p:nvSpPr>
        <p:spPr>
          <a:xfrm>
            <a:off x="3005267" y="4617720"/>
            <a:ext cx="1670243" cy="914400"/>
          </a:xfrm>
          <a:prstGeom prst="rect">
            <a:avLst/>
          </a:prstGeom>
          <a:noFill/>
          <a:ln/>
        </p:spPr>
        <p:txBody>
          <a:bodyPr wrap="square" lIns="0" tIns="0" rIns="0" bIns="0" rtlCol="0" anchor="t"/>
          <a:lstStyle/>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3 · Per finalised report</a:t>
            </a:r>
            <a:endParaRPr lang="en-US" sz="1050" dirty="0"/>
          </a:p>
        </p:txBody>
      </p:sp>
      <p:sp>
        <p:nvSpPr>
          <p:cNvPr id="14" name="Text 10"/>
          <p:cNvSpPr/>
          <p:nvPr/>
        </p:nvSpPr>
        <p:spPr>
          <a:xfrm>
            <a:off x="3005267" y="5669280"/>
            <a:ext cx="1670243" cy="274320"/>
          </a:xfrm>
          <a:prstGeom prst="rect">
            <a:avLst/>
          </a:prstGeom>
          <a:noFill/>
          <a:ln/>
        </p:spPr>
        <p:txBody>
          <a:bodyPr wrap="square" lIns="0" tIns="0" rIns="0" bIns="0" rtlCol="0" anchor="t"/>
          <a:lstStyle/>
          <a:p>
            <a:pPr indent="0" marL="0">
              <a:buNone/>
            </a:pPr>
            <a:r>
              <a:rPr lang="en-US" sz="950" i="1" dirty="0">
                <a:solidFill>
                  <a:srgbClr val="61AFDA"/>
                </a:solidFill>
                <a:latin typeface="Calibri" pitchFamily="34" charset="0"/>
                <a:ea typeface="Calibri" pitchFamily="34" charset="-122"/>
                <a:cs typeface="Calibri" pitchFamily="34" charset="-120"/>
              </a:rPr>
              <a:t>Live in year one</a:t>
            </a:r>
            <a:endParaRPr lang="en-US" sz="950" dirty="0"/>
          </a:p>
        </p:txBody>
      </p:sp>
      <p:sp>
        <p:nvSpPr>
          <p:cNvPr id="15" name="Shape 11"/>
          <p:cNvSpPr/>
          <p:nvPr/>
        </p:nvSpPr>
        <p:spPr>
          <a:xfrm>
            <a:off x="5059558" y="3200400"/>
            <a:ext cx="2072579" cy="2926080"/>
          </a:xfrm>
          <a:prstGeom prst="roundRect">
            <a:avLst>
              <a:gd name="adj" fmla="val 4412"/>
            </a:avLst>
          </a:prstGeom>
          <a:solidFill>
            <a:srgbClr val="2C3E4E"/>
          </a:solidFill>
          <a:ln w="12700">
            <a:solidFill>
              <a:srgbClr val="3A4E60"/>
            </a:solidFill>
            <a:prstDash val="solid"/>
          </a:ln>
        </p:spPr>
      </p:sp>
      <p:pic>
        <p:nvPicPr>
          <p:cNvPr id="16" name="Image 2" descr="preencoded.png">    </p:cNvPr>
          <p:cNvPicPr>
            <a:picLocks noChangeAspect="1"/>
          </p:cNvPicPr>
          <p:nvPr/>
        </p:nvPicPr>
        <p:blipFill>
          <a:blip r:embed="rId4"/>
          <a:stretch>
            <a:fillRect/>
          </a:stretch>
        </p:blipFill>
        <p:spPr>
          <a:xfrm>
            <a:off x="5260726" y="3429000"/>
            <a:ext cx="457200" cy="457200"/>
          </a:xfrm>
          <a:prstGeom prst="rect">
            <a:avLst/>
          </a:prstGeom>
        </p:spPr>
      </p:pic>
      <p:sp>
        <p:nvSpPr>
          <p:cNvPr id="17" name="Text 12"/>
          <p:cNvSpPr/>
          <p:nvPr/>
        </p:nvSpPr>
        <p:spPr>
          <a:xfrm>
            <a:off x="5260726" y="4005072"/>
            <a:ext cx="1670243" cy="5486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Patients</a:t>
            </a:r>
            <a:endParaRPr lang="en-US" sz="1250" dirty="0"/>
          </a:p>
        </p:txBody>
      </p:sp>
      <p:sp>
        <p:nvSpPr>
          <p:cNvPr id="18" name="Text 13"/>
          <p:cNvSpPr/>
          <p:nvPr/>
        </p:nvSpPr>
        <p:spPr>
          <a:xfrm>
            <a:off x="5260726" y="4617720"/>
            <a:ext cx="1670243" cy="914400"/>
          </a:xfrm>
          <a:prstGeom prst="rect">
            <a:avLst/>
          </a:prstGeom>
          <a:noFill/>
          <a:ln/>
        </p:spPr>
        <p:txBody>
          <a:bodyPr wrap="square" lIns="0" tIns="0" rIns="0" bIns="0" rtlCol="0" anchor="t"/>
          <a:lstStyle/>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4 · Free record, optional family plan</a:t>
            </a:r>
            <a:endParaRPr lang="en-US" sz="1050" dirty="0"/>
          </a:p>
        </p:txBody>
      </p:sp>
      <p:sp>
        <p:nvSpPr>
          <p:cNvPr id="19" name="Text 14"/>
          <p:cNvSpPr/>
          <p:nvPr/>
        </p:nvSpPr>
        <p:spPr>
          <a:xfrm>
            <a:off x="5260726" y="5669280"/>
            <a:ext cx="1670243" cy="274320"/>
          </a:xfrm>
          <a:prstGeom prst="rect">
            <a:avLst/>
          </a:prstGeom>
          <a:noFill/>
          <a:ln/>
        </p:spPr>
        <p:txBody>
          <a:bodyPr wrap="square" lIns="0" tIns="0" rIns="0" bIns="0" rtlCol="0" anchor="t"/>
          <a:lstStyle/>
          <a:p>
            <a:pPr indent="0" marL="0">
              <a:buNone/>
            </a:pPr>
            <a:r>
              <a:rPr lang="en-US" sz="950" i="1" dirty="0">
                <a:solidFill>
                  <a:srgbClr val="61AFDA"/>
                </a:solidFill>
                <a:latin typeface="Calibri" pitchFamily="34" charset="0"/>
                <a:ea typeface="Calibri" pitchFamily="34" charset="-122"/>
                <a:cs typeface="Calibri" pitchFamily="34" charset="-120"/>
              </a:rPr>
              <a:t>Free; plan later</a:t>
            </a:r>
            <a:endParaRPr lang="en-US" sz="950" dirty="0"/>
          </a:p>
        </p:txBody>
      </p:sp>
      <p:sp>
        <p:nvSpPr>
          <p:cNvPr id="20" name="Shape 15"/>
          <p:cNvSpPr/>
          <p:nvPr/>
        </p:nvSpPr>
        <p:spPr>
          <a:xfrm>
            <a:off x="7315017" y="3200400"/>
            <a:ext cx="2072579" cy="2926080"/>
          </a:xfrm>
          <a:prstGeom prst="roundRect">
            <a:avLst>
              <a:gd name="adj" fmla="val 4412"/>
            </a:avLst>
          </a:prstGeom>
          <a:solidFill>
            <a:srgbClr val="2C3E4E"/>
          </a:solidFill>
          <a:ln w="12700">
            <a:solidFill>
              <a:srgbClr val="3A4E60"/>
            </a:solidFill>
            <a:prstDash val="solid"/>
          </a:ln>
        </p:spPr>
      </p:sp>
      <p:pic>
        <p:nvPicPr>
          <p:cNvPr id="21" name="Image 3" descr="preencoded.png">    </p:cNvPr>
          <p:cNvPicPr>
            <a:picLocks noChangeAspect="1"/>
          </p:cNvPicPr>
          <p:nvPr/>
        </p:nvPicPr>
        <p:blipFill>
          <a:blip r:embed="rId5"/>
          <a:stretch>
            <a:fillRect/>
          </a:stretch>
        </p:blipFill>
        <p:spPr>
          <a:xfrm>
            <a:off x="7516185" y="3429000"/>
            <a:ext cx="457200" cy="457200"/>
          </a:xfrm>
          <a:prstGeom prst="rect">
            <a:avLst/>
          </a:prstGeom>
        </p:spPr>
      </p:pic>
      <p:sp>
        <p:nvSpPr>
          <p:cNvPr id="22" name="Text 16"/>
          <p:cNvSpPr/>
          <p:nvPr/>
        </p:nvSpPr>
        <p:spPr>
          <a:xfrm>
            <a:off x="7516185" y="4005072"/>
            <a:ext cx="1670243" cy="5486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Government and hospital networks</a:t>
            </a:r>
            <a:endParaRPr lang="en-US" sz="1250" dirty="0"/>
          </a:p>
        </p:txBody>
      </p:sp>
      <p:sp>
        <p:nvSpPr>
          <p:cNvPr id="23" name="Text 17"/>
          <p:cNvSpPr/>
          <p:nvPr/>
        </p:nvSpPr>
        <p:spPr>
          <a:xfrm>
            <a:off x="7516185" y="4617720"/>
            <a:ext cx="1670243" cy="914400"/>
          </a:xfrm>
          <a:prstGeom prst="rect">
            <a:avLst/>
          </a:prstGeom>
          <a:noFill/>
          <a:ln/>
        </p:spPr>
        <p:txBody>
          <a:bodyPr wrap="square" lIns="0" tIns="0" rIns="0" bIns="0" rtlCol="0" anchor="t"/>
          <a:lstStyle/>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6 · Dedicated cell licence</a:t>
            </a:r>
            <a:endParaRPr lang="en-US" sz="1050" dirty="0"/>
          </a:p>
        </p:txBody>
      </p:sp>
      <p:sp>
        <p:nvSpPr>
          <p:cNvPr id="24" name="Text 18"/>
          <p:cNvSpPr/>
          <p:nvPr/>
        </p:nvSpPr>
        <p:spPr>
          <a:xfrm>
            <a:off x="7516185" y="5669280"/>
            <a:ext cx="1670243" cy="274320"/>
          </a:xfrm>
          <a:prstGeom prst="rect">
            <a:avLst/>
          </a:prstGeom>
          <a:noFill/>
          <a:ln/>
        </p:spPr>
        <p:txBody>
          <a:bodyPr wrap="square" lIns="0" tIns="0" rIns="0" bIns="0" rtlCol="0" anchor="t"/>
          <a:lstStyle/>
          <a:p>
            <a:pPr indent="0" marL="0">
              <a:buNone/>
            </a:pPr>
            <a:r>
              <a:rPr lang="en-US" sz="950" i="1" dirty="0">
                <a:solidFill>
                  <a:srgbClr val="61AFDA"/>
                </a:solidFill>
                <a:latin typeface="Calibri" pitchFamily="34" charset="0"/>
                <a:ea typeface="Calibri" pitchFamily="34" charset="-122"/>
                <a:cs typeface="Calibri" pitchFamily="34" charset="-120"/>
              </a:rPr>
              <a:t>Year two</a:t>
            </a:r>
            <a:endParaRPr lang="en-US" sz="950" dirty="0"/>
          </a:p>
        </p:txBody>
      </p:sp>
      <p:sp>
        <p:nvSpPr>
          <p:cNvPr id="25" name="Shape 19"/>
          <p:cNvSpPr/>
          <p:nvPr/>
        </p:nvSpPr>
        <p:spPr>
          <a:xfrm>
            <a:off x="9570476" y="3200400"/>
            <a:ext cx="2072579" cy="2926080"/>
          </a:xfrm>
          <a:prstGeom prst="roundRect">
            <a:avLst>
              <a:gd name="adj" fmla="val 4412"/>
            </a:avLst>
          </a:prstGeom>
          <a:solidFill>
            <a:srgbClr val="2C3E4E"/>
          </a:solidFill>
          <a:ln w="12700">
            <a:solidFill>
              <a:srgbClr val="3A4E60"/>
            </a:solidFill>
            <a:prstDash val="solid"/>
          </a:ln>
        </p:spPr>
      </p:sp>
      <p:pic>
        <p:nvPicPr>
          <p:cNvPr id="26" name="Image 4" descr="preencoded.png">    </p:cNvPr>
          <p:cNvPicPr>
            <a:picLocks noChangeAspect="1"/>
          </p:cNvPicPr>
          <p:nvPr/>
        </p:nvPicPr>
        <p:blipFill>
          <a:blip r:embed="rId6"/>
          <a:stretch>
            <a:fillRect/>
          </a:stretch>
        </p:blipFill>
        <p:spPr>
          <a:xfrm>
            <a:off x="9771644" y="3429000"/>
            <a:ext cx="457200" cy="457200"/>
          </a:xfrm>
          <a:prstGeom prst="rect">
            <a:avLst/>
          </a:prstGeom>
        </p:spPr>
      </p:pic>
      <p:sp>
        <p:nvSpPr>
          <p:cNvPr id="27" name="Text 20"/>
          <p:cNvSpPr/>
          <p:nvPr/>
        </p:nvSpPr>
        <p:spPr>
          <a:xfrm>
            <a:off x="9771644" y="4005072"/>
            <a:ext cx="1670243" cy="548640"/>
          </a:xfrm>
          <a:prstGeom prst="rect">
            <a:avLst/>
          </a:prstGeom>
          <a:noFill/>
          <a:ln/>
        </p:spPr>
        <p:txBody>
          <a:bodyPr wrap="square" lIns="0" tIns="0" rIns="0" bIns="0" rtlCol="0" anchor="t"/>
          <a:lstStyle/>
          <a:p>
            <a:pPr indent="0" marL="0">
              <a:lnSpc>
                <a:spcPct val="105000"/>
              </a:lnSpc>
              <a:buNone/>
            </a:pPr>
            <a:r>
              <a:rPr lang="en-US" sz="1250" b="1" dirty="0">
                <a:solidFill>
                  <a:srgbClr val="FFFFFF"/>
                </a:solidFill>
                <a:latin typeface="Calibri" pitchFamily="34" charset="0"/>
                <a:ea typeface="Calibri" pitchFamily="34" charset="-122"/>
                <a:cs typeface="Calibri" pitchFamily="34" charset="-120"/>
              </a:rPr>
              <a:t>Insurers, TPAs and partner apps</a:t>
            </a:r>
            <a:endParaRPr lang="en-US" sz="1250" dirty="0"/>
          </a:p>
        </p:txBody>
      </p:sp>
      <p:sp>
        <p:nvSpPr>
          <p:cNvPr id="28" name="Text 21"/>
          <p:cNvSpPr/>
          <p:nvPr/>
        </p:nvSpPr>
        <p:spPr>
          <a:xfrm>
            <a:off x="9771644" y="4617720"/>
            <a:ext cx="1670243" cy="914400"/>
          </a:xfrm>
          <a:prstGeom prst="rect">
            <a:avLst/>
          </a:prstGeom>
          <a:noFill/>
          <a:ln/>
        </p:spPr>
        <p:txBody>
          <a:bodyPr wrap="square" lIns="0" tIns="0" rIns="0" bIns="0" rtlCol="0" anchor="t"/>
          <a:lstStyle/>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7 · Consented data access</a:t>
            </a:r>
            <a:endParaRPr lang="en-US" sz="1050" dirty="0"/>
          </a:p>
          <a:p>
            <a:pPr indent="0" marL="0">
              <a:lnSpc>
                <a:spcPct val="120000"/>
              </a:lnSpc>
              <a:buNone/>
            </a:pPr>
            <a:r>
              <a:rPr lang="en-US" sz="1050" dirty="0">
                <a:solidFill>
                  <a:srgbClr val="DCEBF5"/>
                </a:solidFill>
                <a:latin typeface="Calibri" pitchFamily="34" charset="0"/>
                <a:ea typeface="Calibri" pitchFamily="34" charset="-122"/>
                <a:cs typeface="Calibri" pitchFamily="34" charset="-120"/>
              </a:rPr>
              <a:t>8 · API platform</a:t>
            </a:r>
            <a:endParaRPr lang="en-US" sz="1050" dirty="0"/>
          </a:p>
        </p:txBody>
      </p:sp>
      <p:sp>
        <p:nvSpPr>
          <p:cNvPr id="29" name="Text 22"/>
          <p:cNvSpPr/>
          <p:nvPr/>
        </p:nvSpPr>
        <p:spPr>
          <a:xfrm>
            <a:off x="9771644" y="5669280"/>
            <a:ext cx="1670243" cy="274320"/>
          </a:xfrm>
          <a:prstGeom prst="rect">
            <a:avLst/>
          </a:prstGeom>
          <a:noFill/>
          <a:ln/>
        </p:spPr>
        <p:txBody>
          <a:bodyPr wrap="square" lIns="0" tIns="0" rIns="0" bIns="0" rtlCol="0" anchor="t"/>
          <a:lstStyle/>
          <a:p>
            <a:pPr indent="0" marL="0">
              <a:buNone/>
            </a:pPr>
            <a:r>
              <a:rPr lang="en-US" sz="950" i="1" dirty="0">
                <a:solidFill>
                  <a:srgbClr val="61AFDA"/>
                </a:solidFill>
                <a:latin typeface="Calibri" pitchFamily="34" charset="0"/>
                <a:ea typeface="Calibri" pitchFamily="34" charset="-122"/>
                <a:cs typeface="Calibri" pitchFamily="34" charset="-120"/>
              </a:rPr>
              <a:t>Year three, after legal review</a:t>
            </a:r>
            <a:endParaRPr lang="en-US" sz="950" dirty="0"/>
          </a:p>
        </p:txBody>
      </p:sp>
      <p:sp>
        <p:nvSpPr>
          <p:cNvPr id="31" name="Text 23"/>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MODEL 1 · HOSPITAL SUBSCRIPTION BY TIER</a:t>
            </a:r>
            <a:endParaRPr lang="en-US" sz="1050" dirty="0"/>
          </a:p>
        </p:txBody>
      </p:sp>
      <p:sp>
        <p:nvSpPr>
          <p:cNvPr id="3" name="Text 1"/>
          <p:cNvSpPr/>
          <p:nvPr/>
        </p:nvSpPr>
        <p:spPr>
          <a:xfrm>
            <a:off x="548640" y="822960"/>
            <a:ext cx="11094415" cy="731520"/>
          </a:xfrm>
          <a:prstGeom prst="rect">
            <a:avLst/>
          </a:prstGeom>
          <a:noFill/>
          <a:ln/>
        </p:spPr>
        <p:txBody>
          <a:bodyPr wrap="square" lIns="0" tIns="0" rIns="0" bIns="0" rtlCol="0" anchor="t"/>
          <a:lstStyle/>
          <a:p>
            <a:pPr indent="0" marL="0">
              <a:buNone/>
            </a:pPr>
            <a:r>
              <a:rPr lang="en-US" sz="2600" dirty="0">
                <a:solidFill>
                  <a:srgbClr val="22303C"/>
                </a:solidFill>
                <a:latin typeface="Cambria" pitchFamily="34" charset="0"/>
                <a:ea typeface="Cambria" pitchFamily="34" charset="-122"/>
                <a:cs typeface="Cambria" pitchFamily="34" charset="-120"/>
              </a:rPr>
              <a:t>The floor: a platform fee that follows the isolation tier already in the architecture.</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7589520" cy="914400"/>
        </p:xfrm>
        <a:graphic>
          <a:graphicData uri="http://schemas.openxmlformats.org/drawingml/2006/table">
            <a:tbl>
              <a:tblPr/>
              <a:tblGrid>
                <a:gridCol w="1234440"/>
                <a:gridCol w="2011680"/>
                <a:gridCol w="2103120"/>
                <a:gridCol w="2240280"/>
              </a:tblGrid>
              <a:tr h="347472">
                <a:tc>
                  <a:txBody>
                    <a:bodyPr/>
                    <a:lstStyle/>
                    <a:p>
                      <a:pPr algn="l" indent="0" marL="0">
                        <a:buNone/>
                      </a:pPr>
                      <a:endParaRPr lang="en-US" sz="11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AF7F1"/>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Pooled</a:t>
                      </a:r>
                      <a:endParaRPr lang="en-US" sz="11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Siloed</a:t>
                      </a:r>
                      <a:endParaRPr lang="en-US" sz="11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Dedicated</a:t>
                      </a:r>
                      <a:endParaRPr lang="en-US" sz="11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r>
              <a:tr h="457200">
                <a:tc>
                  <a:txBody>
                    <a:bodyPr/>
                    <a:lstStyle/>
                    <a:p>
                      <a:pPr algn="l" indent="0" marL="0">
                        <a:buNone/>
                      </a:pPr>
                      <a:r>
                        <a:rPr lang="en-US" sz="1050" b="1" dirty="0">
                          <a:solidFill>
                            <a:srgbClr val="005D92"/>
                          </a:solidFill>
                          <a:latin typeface="Calibri" pitchFamily="34" charset="0"/>
                          <a:ea typeface="Calibri" pitchFamily="34" charset="-122"/>
                          <a:cs typeface="Calibri" pitchFamily="34" charset="-120"/>
                        </a:rPr>
                        <a:t>Who</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Clinics, polyclinics, small labs</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Hospitals</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Hospital networks, government, national platforms</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005D92"/>
                          </a:solidFill>
                          <a:latin typeface="Calibri" pitchFamily="34" charset="0"/>
                          <a:ea typeface="Calibri" pitchFamily="34" charset="-122"/>
                          <a:cs typeface="Calibri" pitchFamily="34" charset="-120"/>
                        </a:rPr>
                        <a:t>Isolation</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Shared tables, row-level security</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Schema per tenant on shared clusters</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Own cluster, pinned region, optional customer-held keys</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r>
              <a:tr h="640080">
                <a:tc>
                  <a:txBody>
                    <a:bodyPr/>
                    <a:lstStyle/>
                    <a:p>
                      <a:pPr algn="l" indent="0" marL="0">
                        <a:buNone/>
                      </a:pPr>
                      <a:r>
                        <a:rPr lang="en-US" sz="1050" b="1" dirty="0">
                          <a:solidFill>
                            <a:srgbClr val="005D92"/>
                          </a:solidFill>
                          <a:latin typeface="Calibri" pitchFamily="34" charset="0"/>
                          <a:ea typeface="Calibri" pitchFamily="34" charset="-122"/>
                          <a:cs typeface="Calibri" pitchFamily="34" charset="-120"/>
                        </a:rPr>
                        <a:t>Included</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Doctor and patient apps, QR, consent, audit, one feed</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Everything in Pooled, plus multiple feeds, admin console, SSO</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Everything in Siloed, plus custom SLOs, in-cell AI models, dedicated support</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005D92"/>
                          </a:solidFill>
                          <a:latin typeface="Calibri" pitchFamily="34" charset="0"/>
                          <a:ea typeface="Calibri" pitchFamily="34" charset="-122"/>
                          <a:cs typeface="Calibri" pitchFamily="34" charset="-120"/>
                        </a:rPr>
                        <a:t>Price components</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Platform fee + seats</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Platform fee + seats + per-feed fee</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Annual licence + implementation + support</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r>
              <a:tr h="411480">
                <a:tc>
                  <a:txBody>
                    <a:bodyPr/>
                    <a:lstStyle/>
                    <a:p>
                      <a:pPr algn="l" indent="0" marL="0">
                        <a:buNone/>
                      </a:pPr>
                      <a:r>
                        <a:rPr lang="en-US" sz="1050" b="1" dirty="0">
                          <a:solidFill>
                            <a:srgbClr val="005D92"/>
                          </a:solidFill>
                          <a:latin typeface="Calibri" pitchFamily="34" charset="0"/>
                          <a:ea typeface="Calibri" pitchFamily="34" charset="-122"/>
                          <a:cs typeface="Calibri" pitchFamily="34" charset="-120"/>
                        </a:rPr>
                        <a:t>Contract</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Monthly, self-serve</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Annual, department or hospital-wide</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Multi-year, procurement</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r>
              <a:tr h="457200">
                <a:tc>
                  <a:txBody>
                    <a:bodyPr/>
                    <a:lstStyle/>
                    <a:p>
                      <a:pPr algn="l" indent="0" marL="0">
                        <a:buNone/>
                      </a:pPr>
                      <a:r>
                        <a:rPr lang="en-US" sz="1050" b="1" dirty="0">
                          <a:solidFill>
                            <a:srgbClr val="005D92"/>
                          </a:solidFill>
                          <a:latin typeface="Calibri" pitchFamily="34" charset="0"/>
                          <a:ea typeface="Calibri" pitchFamily="34" charset="-122"/>
                          <a:cs typeface="Calibri" pitchFamily="34" charset="-120"/>
                        </a:rPr>
                        <a:t>Onboarding</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Minutes, automated</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Days: feeds proven in sandbox</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algn="l" indent="0" marL="0">
                        <a:buNone/>
                      </a:pPr>
                      <a:r>
                        <a:rPr lang="en-US" sz="1050" dirty="0">
                          <a:solidFill>
                            <a:srgbClr val="3A4756"/>
                          </a:solidFill>
                          <a:latin typeface="Calibri" pitchFamily="34" charset="0"/>
                          <a:ea typeface="Calibri" pitchFamily="34" charset="-122"/>
                          <a:cs typeface="Calibri" pitchFamily="34" charset="-120"/>
                        </a:rPr>
                        <a:t>Weeks: residency, keys, identity federation</a:t>
                      </a:r>
                      <a:endParaRPr lang="en-US" sz="1050" dirty="0">
                        <a:latin typeface="Calibri" charset="0"/>
                        <a:ea typeface="Calibri" charset="0"/>
                        <a:cs typeface="Calibri" charset="0"/>
                      </a:endParaRPr>
                    </a:p>
                  </a:txBody>
                  <a:tcPr marL="101600" marR="1016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r>
            </a:tbl>
          </a:graphicData>
        </a:graphic>
      </p:graphicFrame>
      <p:sp>
        <p:nvSpPr>
          <p:cNvPr id="5" name="Shape 2"/>
          <p:cNvSpPr/>
          <p:nvPr/>
        </p:nvSpPr>
        <p:spPr>
          <a:xfrm>
            <a:off x="8458200" y="1691640"/>
            <a:ext cx="3184855" cy="4526280"/>
          </a:xfrm>
          <a:prstGeom prst="roundRect">
            <a:avLst>
              <a:gd name="adj" fmla="val 3445"/>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sp>
        <p:nvSpPr>
          <p:cNvPr id="6" name="Text 3"/>
          <p:cNvSpPr/>
          <p:nvPr/>
        </p:nvSpPr>
        <p:spPr>
          <a:xfrm>
            <a:off x="8714232" y="1874520"/>
            <a:ext cx="2672791" cy="228600"/>
          </a:xfrm>
          <a:prstGeom prst="rect">
            <a:avLst/>
          </a:prstGeom>
          <a:noFill/>
          <a:ln/>
        </p:spPr>
        <p:txBody>
          <a:bodyPr wrap="square" lIns="0" tIns="0" rIns="0" bIns="0" rtlCol="0" anchor="t"/>
          <a:lstStyle/>
          <a:p>
            <a:pPr indent="0" marL="0">
              <a:buNone/>
            </a:pPr>
            <a:r>
              <a:rPr lang="en-US" sz="950" b="1" spc="300" kern="0" dirty="0">
                <a:solidFill>
                  <a:srgbClr val="005D92"/>
                </a:solidFill>
                <a:latin typeface="Calibri" pitchFamily="34" charset="0"/>
                <a:ea typeface="Calibri" pitchFamily="34" charset="-122"/>
                <a:cs typeface="Calibri" pitchFamily="34" charset="-120"/>
              </a:rPr>
              <a:t>THE TWO ADD-ONS</a:t>
            </a:r>
            <a:endParaRPr lang="en-US" sz="950" dirty="0"/>
          </a:p>
        </p:txBody>
      </p:sp>
      <p:pic>
        <p:nvPicPr>
          <p:cNvPr id="7" name="Image 0" descr="preencoded.png">    </p:cNvPr>
          <p:cNvPicPr>
            <a:picLocks noChangeAspect="1"/>
          </p:cNvPicPr>
          <p:nvPr/>
        </p:nvPicPr>
        <p:blipFill>
          <a:blip r:embed="rId2"/>
          <a:stretch>
            <a:fillRect/>
          </a:stretch>
        </p:blipFill>
        <p:spPr>
          <a:xfrm>
            <a:off x="8714232" y="2194560"/>
            <a:ext cx="365760" cy="365760"/>
          </a:xfrm>
          <a:prstGeom prst="rect">
            <a:avLst/>
          </a:prstGeom>
        </p:spPr>
      </p:pic>
      <p:sp>
        <p:nvSpPr>
          <p:cNvPr id="8" name="Text 4"/>
          <p:cNvSpPr/>
          <p:nvPr/>
        </p:nvSpPr>
        <p:spPr>
          <a:xfrm>
            <a:off x="9189720" y="2176272"/>
            <a:ext cx="2179015"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Seat per active clinician</a:t>
            </a:r>
            <a:endParaRPr lang="en-US" sz="1250" dirty="0"/>
          </a:p>
        </p:txBody>
      </p:sp>
      <p:sp>
        <p:nvSpPr>
          <p:cNvPr id="9" name="Text 5"/>
          <p:cNvSpPr/>
          <p:nvPr/>
        </p:nvSpPr>
        <p:spPr>
          <a:xfrm>
            <a:off x="9189720" y="2432304"/>
            <a:ext cx="2179015" cy="86868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Counted monthly on clinicians who opened a chart, not on the staff list. Department licences cap the bill for a large OPD and remove the incentive to under-register.</a:t>
            </a:r>
            <a:endParaRPr lang="en-US" sz="1050" dirty="0"/>
          </a:p>
        </p:txBody>
      </p:sp>
      <p:pic>
        <p:nvPicPr>
          <p:cNvPr id="10" name="Image 1" descr="preencoded.png">    </p:cNvPr>
          <p:cNvPicPr>
            <a:picLocks noChangeAspect="1"/>
          </p:cNvPicPr>
          <p:nvPr/>
        </p:nvPicPr>
        <p:blipFill>
          <a:blip r:embed="rId3"/>
          <a:stretch>
            <a:fillRect/>
          </a:stretch>
        </p:blipFill>
        <p:spPr>
          <a:xfrm>
            <a:off x="8714232" y="3429000"/>
            <a:ext cx="365760" cy="365760"/>
          </a:xfrm>
          <a:prstGeom prst="rect">
            <a:avLst/>
          </a:prstGeom>
        </p:spPr>
      </p:pic>
      <p:sp>
        <p:nvSpPr>
          <p:cNvPr id="11" name="Text 6"/>
          <p:cNvSpPr/>
          <p:nvPr/>
        </p:nvSpPr>
        <p:spPr>
          <a:xfrm>
            <a:off x="9189720" y="3410712"/>
            <a:ext cx="2179015"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One-time fee per feed</a:t>
            </a:r>
            <a:endParaRPr lang="en-US" sz="1250" dirty="0"/>
          </a:p>
        </p:txBody>
      </p:sp>
      <p:sp>
        <p:nvSpPr>
          <p:cNvPr id="12" name="Text 7"/>
          <p:cNvSpPr/>
          <p:nvPr/>
        </p:nvSpPr>
        <p:spPr>
          <a:xfrm>
            <a:off x="9189720" y="3666744"/>
            <a:ext cx="2179015" cy="86868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LIS, HIS, PACS: each feed is mapped, proven on synthetic data in the sandbox, then switched on. The fee covers our integration hours, not the hospital vendor’s.</a:t>
            </a:r>
            <a:endParaRPr lang="en-US" sz="1050" dirty="0"/>
          </a:p>
        </p:txBody>
      </p:sp>
      <p:sp>
        <p:nvSpPr>
          <p:cNvPr id="13" name="Text 8"/>
          <p:cNvSpPr/>
          <p:nvPr/>
        </p:nvSpPr>
        <p:spPr>
          <a:xfrm>
            <a:off x="8714232" y="4663440"/>
            <a:ext cx="2672791" cy="228600"/>
          </a:xfrm>
          <a:prstGeom prst="rect">
            <a:avLst/>
          </a:prstGeom>
          <a:noFill/>
          <a:ln/>
        </p:spPr>
        <p:txBody>
          <a:bodyPr wrap="square" lIns="0" tIns="0" rIns="0" bIns="0" rtlCol="0" anchor="t"/>
          <a:lstStyle/>
          <a:p>
            <a:pPr indent="0" marL="0">
              <a:buNone/>
            </a:pPr>
            <a:r>
              <a:rPr lang="en-US" sz="950" b="1" spc="300" kern="0" dirty="0">
                <a:solidFill>
                  <a:srgbClr val="21763C"/>
                </a:solidFill>
                <a:latin typeface="Calibri" pitchFamily="34" charset="0"/>
                <a:ea typeface="Calibri" pitchFamily="34" charset="-122"/>
                <a:cs typeface="Calibri" pitchFamily="34" charset="-120"/>
              </a:rPr>
              <a:t>WHY THE HOSPITAL PAYS</a:t>
            </a:r>
            <a:endParaRPr lang="en-US" sz="950" dirty="0"/>
          </a:p>
        </p:txBody>
      </p:sp>
      <p:sp>
        <p:nvSpPr>
          <p:cNvPr id="14" name="Text 9"/>
          <p:cNvSpPr/>
          <p:nvPr/>
        </p:nvSpPr>
        <p:spPr>
          <a:xfrm>
            <a:off x="8714232" y="4919472"/>
            <a:ext cx="2672791" cy="118872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Clinician minutes per consult, throughput per OPD session, fewer decisions on a partial file, and a consent and audit posture it would otherwise build itself.</a:t>
            </a:r>
            <a:endParaRPr lang="en-US" sz="1050" dirty="0"/>
          </a:p>
        </p:txBody>
      </p:sp>
      <p:sp>
        <p:nvSpPr>
          <p:cNvPr id="15" name="Text 10"/>
          <p:cNvSpPr/>
          <p:nvPr/>
        </p:nvSpPr>
        <p:spPr>
          <a:xfrm>
            <a:off x="548640" y="6355080"/>
            <a:ext cx="7589520" cy="274320"/>
          </a:xfrm>
          <a:prstGeom prst="rect">
            <a:avLst/>
          </a:prstGeom>
          <a:noFill/>
          <a:ln/>
        </p:spPr>
        <p:txBody>
          <a:bodyPr wrap="square" lIns="0" tIns="0" rIns="0" bIns="0" rtlCol="0" anchor="t"/>
          <a:lstStyle/>
          <a:p>
            <a:pPr indent="0" marL="0">
              <a:buNone/>
            </a:pPr>
            <a:r>
              <a:rPr lang="en-US" sz="1050" i="1" dirty="0">
                <a:solidFill>
                  <a:srgbClr val="5C6873"/>
                </a:solidFill>
                <a:latin typeface="Calibri" pitchFamily="34" charset="0"/>
                <a:ea typeface="Calibri" pitchFamily="34" charset="-122"/>
                <a:cs typeface="Calibri" pitchFamily="34" charset="-120"/>
              </a:rPr>
              <a:t>Tiers map one-to-one to the isolation tiers in the platform design: same code, different isolation, different price.</a:t>
            </a:r>
            <a:endParaRPr lang="en-US" sz="1050" dirty="0"/>
          </a:p>
        </p:txBody>
      </p:sp>
      <p:sp>
        <p:nvSpPr>
          <p:cNvPr id="16" name="Text 11"/>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MODEL 2 · METERED AI BRIEFS</a:t>
            </a:r>
            <a:endParaRPr lang="en-US" sz="1050" dirty="0"/>
          </a:p>
        </p:txBody>
      </p:sp>
      <p:sp>
        <p:nvSpPr>
          <p:cNvPr id="3" name="Text 1"/>
          <p:cNvSpPr/>
          <p:nvPr/>
        </p:nvSpPr>
        <p:spPr>
          <a:xfrm>
            <a:off x="548640" y="822960"/>
            <a:ext cx="11094415" cy="731520"/>
          </a:xfrm>
          <a:prstGeom prst="rect">
            <a:avLst/>
          </a:prstGeom>
          <a:noFill/>
          <a:ln/>
        </p:spPr>
        <p:txBody>
          <a:bodyPr wrap="square" lIns="0" tIns="0" rIns="0" bIns="0" rtlCol="0" anchor="t"/>
          <a:lstStyle/>
          <a:p>
            <a:pPr indent="0" marL="0">
              <a:buNone/>
            </a:pPr>
            <a:r>
              <a:rPr lang="en-US" sz="2800" dirty="0">
                <a:solidFill>
                  <a:srgbClr val="22303C"/>
                </a:solidFill>
                <a:latin typeface="Cambria" pitchFamily="34" charset="0"/>
                <a:ea typeface="Cambria" pitchFamily="34" charset="-122"/>
                <a:cs typeface="Cambria" pitchFamily="34" charset="-120"/>
              </a:rPr>
              <a:t>Usage above the quota is billed per brief. The model cost is a pass-through, not a margin trap.</a:t>
            </a:r>
            <a:endParaRPr lang="en-US" sz="2800" dirty="0"/>
          </a:p>
        </p:txBody>
      </p:sp>
      <p:sp>
        <p:nvSpPr>
          <p:cNvPr id="4" name="Shape 2"/>
          <p:cNvSpPr/>
          <p:nvPr/>
        </p:nvSpPr>
        <p:spPr>
          <a:xfrm>
            <a:off x="548640" y="1691640"/>
            <a:ext cx="2636444" cy="868680"/>
          </a:xfrm>
          <a:prstGeom prst="roundRect">
            <a:avLst>
              <a:gd name="adj" fmla="val 12632"/>
            </a:avLst>
          </a:prstGeom>
          <a:solidFill>
            <a:srgbClr val="DFEEF7"/>
          </a:solidFill>
          <a:ln w="9525">
            <a:solidFill>
              <a:srgbClr val="DFEEF7"/>
            </a:solidFill>
            <a:prstDash val="solid"/>
          </a:ln>
        </p:spPr>
      </p:sp>
      <p:sp>
        <p:nvSpPr>
          <p:cNvPr id="5" name="Text 3"/>
          <p:cNvSpPr/>
          <p:nvPr/>
        </p:nvSpPr>
        <p:spPr>
          <a:xfrm>
            <a:off x="731520"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WHO PAYS</a:t>
            </a:r>
            <a:endParaRPr lang="en-US" sz="900" dirty="0"/>
          </a:p>
        </p:txBody>
      </p:sp>
      <p:sp>
        <p:nvSpPr>
          <p:cNvPr id="6" name="Text 4"/>
          <p:cNvSpPr/>
          <p:nvPr/>
        </p:nvSpPr>
        <p:spPr>
          <a:xfrm>
            <a:off x="731520"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Hospital, on the same invoice</a:t>
            </a:r>
            <a:endParaRPr lang="en-US" sz="1150" dirty="0"/>
          </a:p>
        </p:txBody>
      </p:sp>
      <p:sp>
        <p:nvSpPr>
          <p:cNvPr id="7" name="Shape 5"/>
          <p:cNvSpPr/>
          <p:nvPr/>
        </p:nvSpPr>
        <p:spPr>
          <a:xfrm>
            <a:off x="3367964" y="1691640"/>
            <a:ext cx="2636444" cy="868680"/>
          </a:xfrm>
          <a:prstGeom prst="roundRect">
            <a:avLst>
              <a:gd name="adj" fmla="val 12632"/>
            </a:avLst>
          </a:prstGeom>
          <a:solidFill>
            <a:srgbClr val="DFEEF7"/>
          </a:solidFill>
          <a:ln w="9525">
            <a:solidFill>
              <a:srgbClr val="DFEEF7"/>
            </a:solidFill>
            <a:prstDash val="solid"/>
          </a:ln>
        </p:spPr>
      </p:sp>
      <p:sp>
        <p:nvSpPr>
          <p:cNvPr id="8" name="Text 6"/>
          <p:cNvSpPr/>
          <p:nvPr/>
        </p:nvSpPr>
        <p:spPr>
          <a:xfrm>
            <a:off x="3550844"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UNIT</a:t>
            </a:r>
            <a:endParaRPr lang="en-US" sz="900" dirty="0"/>
          </a:p>
        </p:txBody>
      </p:sp>
      <p:sp>
        <p:nvSpPr>
          <p:cNvPr id="9" name="Text 7"/>
          <p:cNvSpPr/>
          <p:nvPr/>
        </p:nvSpPr>
        <p:spPr>
          <a:xfrm>
            <a:off x="3550844"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One generated clinical brief</a:t>
            </a:r>
            <a:endParaRPr lang="en-US" sz="1150" dirty="0"/>
          </a:p>
        </p:txBody>
      </p:sp>
      <p:sp>
        <p:nvSpPr>
          <p:cNvPr id="10" name="Shape 8"/>
          <p:cNvSpPr/>
          <p:nvPr/>
        </p:nvSpPr>
        <p:spPr>
          <a:xfrm>
            <a:off x="6187288" y="1691640"/>
            <a:ext cx="2636444" cy="868680"/>
          </a:xfrm>
          <a:prstGeom prst="roundRect">
            <a:avLst>
              <a:gd name="adj" fmla="val 12632"/>
            </a:avLst>
          </a:prstGeom>
          <a:solidFill>
            <a:srgbClr val="DFEEF7"/>
          </a:solidFill>
          <a:ln w="9525">
            <a:solidFill>
              <a:srgbClr val="DFEEF7"/>
            </a:solidFill>
            <a:prstDash val="solid"/>
          </a:ln>
        </p:spPr>
      </p:sp>
      <p:sp>
        <p:nvSpPr>
          <p:cNvPr id="11" name="Text 9"/>
          <p:cNvSpPr/>
          <p:nvPr/>
        </p:nvSpPr>
        <p:spPr>
          <a:xfrm>
            <a:off x="6370168"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INCLUDED</a:t>
            </a:r>
            <a:endParaRPr lang="en-US" sz="900" dirty="0"/>
          </a:p>
        </p:txBody>
      </p:sp>
      <p:sp>
        <p:nvSpPr>
          <p:cNvPr id="12" name="Text 10"/>
          <p:cNvSpPr/>
          <p:nvPr/>
        </p:nvSpPr>
        <p:spPr>
          <a:xfrm>
            <a:off x="6370168"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Monthly quota inside the tier</a:t>
            </a:r>
            <a:endParaRPr lang="en-US" sz="1150" dirty="0"/>
          </a:p>
        </p:txBody>
      </p:sp>
      <p:sp>
        <p:nvSpPr>
          <p:cNvPr id="13" name="Shape 11"/>
          <p:cNvSpPr/>
          <p:nvPr/>
        </p:nvSpPr>
        <p:spPr>
          <a:xfrm>
            <a:off x="9006611" y="1691640"/>
            <a:ext cx="2636444" cy="868680"/>
          </a:xfrm>
          <a:prstGeom prst="roundRect">
            <a:avLst>
              <a:gd name="adj" fmla="val 12632"/>
            </a:avLst>
          </a:prstGeom>
          <a:solidFill>
            <a:srgbClr val="DFEEF7"/>
          </a:solidFill>
          <a:ln w="9525">
            <a:solidFill>
              <a:srgbClr val="DFEEF7"/>
            </a:solidFill>
            <a:prstDash val="solid"/>
          </a:ln>
        </p:spPr>
      </p:sp>
      <p:sp>
        <p:nvSpPr>
          <p:cNvPr id="14" name="Text 12"/>
          <p:cNvSpPr/>
          <p:nvPr/>
        </p:nvSpPr>
        <p:spPr>
          <a:xfrm>
            <a:off x="9189491"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METERING</a:t>
            </a:r>
            <a:endParaRPr lang="en-US" sz="900" dirty="0"/>
          </a:p>
        </p:txBody>
      </p:sp>
      <p:sp>
        <p:nvSpPr>
          <p:cNvPr id="15" name="Text 13"/>
          <p:cNvSpPr/>
          <p:nvPr/>
        </p:nvSpPr>
        <p:spPr>
          <a:xfrm>
            <a:off x="9189491"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Per-tenant token metering, already in the control plane</a:t>
            </a:r>
            <a:endParaRPr lang="en-US" sz="1150" dirty="0"/>
          </a:p>
        </p:txBody>
      </p:sp>
      <p:sp>
        <p:nvSpPr>
          <p:cNvPr id="16" name="Text 14"/>
          <p:cNvSpPr/>
          <p:nvPr/>
        </p:nvSpPr>
        <p:spPr>
          <a:xfrm>
            <a:off x="548640" y="2697480"/>
            <a:ext cx="6766560" cy="228600"/>
          </a:xfrm>
          <a:prstGeom prst="rect">
            <a:avLst/>
          </a:prstGeom>
          <a:noFill/>
          <a:ln/>
        </p:spPr>
        <p:txBody>
          <a:bodyPr wrap="square" lIns="0" tIns="0" rIns="0" bIns="0" rtlCol="0" anchor="t"/>
          <a:lstStyle/>
          <a:p>
            <a:pPr indent="0" marL="0">
              <a:buNone/>
            </a:pPr>
            <a:r>
              <a:rPr lang="en-US" sz="950" b="1" spc="300" kern="0" dirty="0">
                <a:solidFill>
                  <a:srgbClr val="7D868E"/>
                </a:solidFill>
                <a:latin typeface="Calibri" pitchFamily="34" charset="0"/>
                <a:ea typeface="Calibri" pitchFamily="34" charset="-122"/>
                <a:cs typeface="Calibri" pitchFamily="34" charset="-120"/>
              </a:rPr>
              <a:t>HOW IT WORKS</a:t>
            </a:r>
            <a:endParaRPr lang="en-US" sz="950" dirty="0"/>
          </a:p>
        </p:txBody>
      </p:sp>
      <p:pic>
        <p:nvPicPr>
          <p:cNvPr id="17" name="Image 0" descr="preencoded.png">    </p:cNvPr>
          <p:cNvPicPr>
            <a:picLocks noChangeAspect="1"/>
          </p:cNvPicPr>
          <p:nvPr/>
        </p:nvPicPr>
        <p:blipFill>
          <a:blip r:embed="rId2"/>
          <a:stretch>
            <a:fillRect/>
          </a:stretch>
        </p:blipFill>
        <p:spPr>
          <a:xfrm>
            <a:off x="548640" y="3035808"/>
            <a:ext cx="365760" cy="365760"/>
          </a:xfrm>
          <a:prstGeom prst="rect">
            <a:avLst/>
          </a:prstGeom>
        </p:spPr>
      </p:pic>
      <p:sp>
        <p:nvSpPr>
          <p:cNvPr id="18" name="Text 15"/>
          <p:cNvSpPr/>
          <p:nvPr/>
        </p:nvSpPr>
        <p:spPr>
          <a:xfrm>
            <a:off x="1051560" y="301752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Quota, then overage</a:t>
            </a:r>
            <a:endParaRPr lang="en-US" sz="1250" dirty="0"/>
          </a:p>
        </p:txBody>
      </p:sp>
      <p:sp>
        <p:nvSpPr>
          <p:cNvPr id="19" name="Text 16"/>
          <p:cNvSpPr/>
          <p:nvPr/>
        </p:nvSpPr>
        <p:spPr>
          <a:xfrm>
            <a:off x="1051560" y="327355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Each tier carries a monthly brief quota sized to its seat count. Briefs above the quota are billed per brief at a published rate; briefs re-opened from cache within the day are not counted twice.</a:t>
            </a:r>
            <a:endParaRPr lang="en-US" sz="1050" dirty="0"/>
          </a:p>
        </p:txBody>
      </p:sp>
      <p:pic>
        <p:nvPicPr>
          <p:cNvPr id="20" name="Image 1" descr="preencoded.png">    </p:cNvPr>
          <p:cNvPicPr>
            <a:picLocks noChangeAspect="1"/>
          </p:cNvPicPr>
          <p:nvPr/>
        </p:nvPicPr>
        <p:blipFill>
          <a:blip r:embed="rId3"/>
          <a:stretch>
            <a:fillRect/>
          </a:stretch>
        </p:blipFill>
        <p:spPr>
          <a:xfrm>
            <a:off x="548640" y="3904488"/>
            <a:ext cx="365760" cy="365760"/>
          </a:xfrm>
          <a:prstGeom prst="rect">
            <a:avLst/>
          </a:prstGeom>
        </p:spPr>
      </p:pic>
      <p:sp>
        <p:nvSpPr>
          <p:cNvPr id="21" name="Text 17"/>
          <p:cNvSpPr/>
          <p:nvPr/>
        </p:nvSpPr>
        <p:spPr>
          <a:xfrm>
            <a:off x="1051560" y="388620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Cost stack per brief</a:t>
            </a:r>
            <a:endParaRPr lang="en-US" sz="1250" dirty="0"/>
          </a:p>
        </p:txBody>
      </p:sp>
      <p:sp>
        <p:nvSpPr>
          <p:cNvPr id="22" name="Text 18"/>
          <p:cNvSpPr/>
          <p:nvPr/>
        </p:nvSpPr>
        <p:spPr>
          <a:xfrm>
            <a:off x="1051560" y="414223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Authorise, retrieve the consented slice, generate, verify every number against the source, cite, log. Generation is the only line that scales with the model provider’s price.</a:t>
            </a:r>
            <a:endParaRPr lang="en-US" sz="1050" dirty="0"/>
          </a:p>
        </p:txBody>
      </p:sp>
      <p:pic>
        <p:nvPicPr>
          <p:cNvPr id="23" name="Image 2" descr="preencoded.png">    </p:cNvPr>
          <p:cNvPicPr>
            <a:picLocks noChangeAspect="1"/>
          </p:cNvPicPr>
          <p:nvPr/>
        </p:nvPicPr>
        <p:blipFill>
          <a:blip r:embed="rId4"/>
          <a:stretch>
            <a:fillRect/>
          </a:stretch>
        </p:blipFill>
        <p:spPr>
          <a:xfrm>
            <a:off x="548640" y="4773168"/>
            <a:ext cx="365760" cy="365760"/>
          </a:xfrm>
          <a:prstGeom prst="rect">
            <a:avLst/>
          </a:prstGeom>
        </p:spPr>
      </p:pic>
      <p:sp>
        <p:nvSpPr>
          <p:cNvPr id="24" name="Text 19"/>
          <p:cNvSpPr/>
          <p:nvPr/>
        </p:nvSpPr>
        <p:spPr>
          <a:xfrm>
            <a:off x="1051560" y="475488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Pre-computation keeps the cost down</a:t>
            </a:r>
            <a:endParaRPr lang="en-US" sz="1250" dirty="0"/>
          </a:p>
        </p:txBody>
      </p:sp>
      <p:sp>
        <p:nvSpPr>
          <p:cNvPr id="25" name="Text 20"/>
          <p:cNvSpPr/>
          <p:nvPr/>
        </p:nvSpPr>
        <p:spPr>
          <a:xfrm>
            <a:off x="1051560" y="501091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Where the hospital enables it, the brief is refreshed when a new result lands rather than at scan time, so the same brief serves several openings and the scan-time latency target holds.</a:t>
            </a:r>
            <a:endParaRPr lang="en-US" sz="1050" dirty="0"/>
          </a:p>
        </p:txBody>
      </p:sp>
      <p:pic>
        <p:nvPicPr>
          <p:cNvPr id="26" name="Image 3" descr="preencoded.png">    </p:cNvPr>
          <p:cNvPicPr>
            <a:picLocks noChangeAspect="1"/>
          </p:cNvPicPr>
          <p:nvPr/>
        </p:nvPicPr>
        <p:blipFill>
          <a:blip r:embed="rId5"/>
          <a:stretch>
            <a:fillRect/>
          </a:stretch>
        </p:blipFill>
        <p:spPr>
          <a:xfrm>
            <a:off x="548640" y="5641848"/>
            <a:ext cx="365760" cy="365760"/>
          </a:xfrm>
          <a:prstGeom prst="rect">
            <a:avLst/>
          </a:prstGeom>
        </p:spPr>
      </p:pic>
      <p:sp>
        <p:nvSpPr>
          <p:cNvPr id="27" name="Text 21"/>
          <p:cNvSpPr/>
          <p:nvPr/>
        </p:nvSpPr>
        <p:spPr>
          <a:xfrm>
            <a:off x="1051560" y="562356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In-cell models priced as infrastructure</a:t>
            </a:r>
            <a:endParaRPr lang="en-US" sz="1250" dirty="0"/>
          </a:p>
        </p:txBody>
      </p:sp>
      <p:sp>
        <p:nvSpPr>
          <p:cNvPr id="28" name="Text 22"/>
          <p:cNvSpPr/>
          <p:nvPr/>
        </p:nvSpPr>
        <p:spPr>
          <a:xfrm>
            <a:off x="1051560" y="587959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For no-egress postures the open-weight model runs inside the hospital’s dedicated cell and is priced as a monthly infrastructure line, with no per-brief component.</a:t>
            </a:r>
            <a:endParaRPr lang="en-US" sz="1050" dirty="0"/>
          </a:p>
        </p:txBody>
      </p:sp>
      <p:sp>
        <p:nvSpPr>
          <p:cNvPr id="29" name="Shape 23"/>
          <p:cNvSpPr/>
          <p:nvPr/>
        </p:nvSpPr>
        <p:spPr>
          <a:xfrm>
            <a:off x="7635240" y="2697480"/>
            <a:ext cx="4007815" cy="3611880"/>
          </a:xfrm>
          <a:prstGeom prst="roundRect">
            <a:avLst>
              <a:gd name="adj" fmla="val 3038"/>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sp>
        <p:nvSpPr>
          <p:cNvPr id="30" name="Text 24"/>
          <p:cNvSpPr/>
          <p:nvPr/>
        </p:nvSpPr>
        <p:spPr>
          <a:xfrm>
            <a:off x="7891272" y="2880360"/>
            <a:ext cx="3495751" cy="228600"/>
          </a:xfrm>
          <a:prstGeom prst="rect">
            <a:avLst/>
          </a:prstGeom>
          <a:noFill/>
          <a:ln/>
        </p:spPr>
        <p:txBody>
          <a:bodyPr wrap="square" lIns="0" tIns="0" rIns="0" bIns="0" rtlCol="0" anchor="t"/>
          <a:lstStyle/>
          <a:p>
            <a:pPr indent="0" marL="0">
              <a:buNone/>
            </a:pPr>
            <a:r>
              <a:rPr lang="en-US" sz="950" b="1" spc="300" kern="0" dirty="0">
                <a:solidFill>
                  <a:srgbClr val="21763C"/>
                </a:solidFill>
                <a:latin typeface="Calibri" pitchFamily="34" charset="0"/>
                <a:ea typeface="Calibri" pitchFamily="34" charset="-122"/>
                <a:cs typeface="Calibri" pitchFamily="34" charset="-120"/>
              </a:rPr>
              <a:t>WHY THEY PAY</a:t>
            </a:r>
            <a:endParaRPr lang="en-US" sz="950" dirty="0"/>
          </a:p>
        </p:txBody>
      </p:sp>
      <p:sp>
        <p:nvSpPr>
          <p:cNvPr id="31" name="Text 25"/>
          <p:cNvSpPr/>
          <p:nvPr/>
        </p:nvSpPr>
        <p:spPr>
          <a:xfrm>
            <a:off x="7891272" y="3118104"/>
            <a:ext cx="3495751" cy="105156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The brief is the minute-saver; paying per brief ties cost to the minutes saved.</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Quota inside the tier keeps most hospitals on a predictable bill.</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Model choice stays the hospital’s: provider, region, or in-cell.</a:t>
            </a:r>
            <a:endParaRPr lang="en-US" sz="1000" dirty="0"/>
          </a:p>
        </p:txBody>
      </p:sp>
      <p:sp>
        <p:nvSpPr>
          <p:cNvPr id="32" name="Text 26"/>
          <p:cNvSpPr/>
          <p:nvPr/>
        </p:nvSpPr>
        <p:spPr>
          <a:xfrm>
            <a:off x="7891272" y="4233672"/>
            <a:ext cx="3495751" cy="228600"/>
          </a:xfrm>
          <a:prstGeom prst="rect">
            <a:avLst/>
          </a:prstGeom>
          <a:noFill/>
          <a:ln/>
        </p:spPr>
        <p:txBody>
          <a:bodyPr wrap="square" lIns="0" tIns="0" rIns="0" bIns="0" rtlCol="0" anchor="t"/>
          <a:lstStyle/>
          <a:p>
            <a:pPr indent="0" marL="0">
              <a:buNone/>
            </a:pPr>
            <a:r>
              <a:rPr lang="en-US" sz="950" b="1" spc="300" kern="0" dirty="0">
                <a:solidFill>
                  <a:srgbClr val="005D92"/>
                </a:solidFill>
                <a:latin typeface="Calibri" pitchFamily="34" charset="0"/>
                <a:ea typeface="Calibri" pitchFamily="34" charset="-122"/>
                <a:cs typeface="Calibri" pitchFamily="34" charset="-120"/>
              </a:rPr>
              <a:t>NEEDS FROM THE PRODUCT</a:t>
            </a:r>
            <a:endParaRPr lang="en-US" sz="950" dirty="0"/>
          </a:p>
        </p:txBody>
      </p:sp>
      <p:sp>
        <p:nvSpPr>
          <p:cNvPr id="33" name="Text 27"/>
          <p:cNvSpPr/>
          <p:nvPr/>
        </p:nvSpPr>
        <p:spPr>
          <a:xfrm>
            <a:off x="7891272" y="4471416"/>
            <a:ext cx="3495751" cy="64008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Metering and quota enforcement in the control plane (designed).</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Cache keyed on patient, consented slice and model version (designed).</a:t>
            </a:r>
            <a:endParaRPr lang="en-US" sz="1000" dirty="0"/>
          </a:p>
        </p:txBody>
      </p:sp>
      <p:sp>
        <p:nvSpPr>
          <p:cNvPr id="34" name="Text 28"/>
          <p:cNvSpPr/>
          <p:nvPr/>
        </p:nvSpPr>
        <p:spPr>
          <a:xfrm>
            <a:off x="7891272" y="5166360"/>
            <a:ext cx="3495751" cy="228600"/>
          </a:xfrm>
          <a:prstGeom prst="rect">
            <a:avLst/>
          </a:prstGeom>
          <a:noFill/>
          <a:ln/>
        </p:spPr>
        <p:txBody>
          <a:bodyPr wrap="square" lIns="0" tIns="0" rIns="0" bIns="0" rtlCol="0" anchor="t"/>
          <a:lstStyle/>
          <a:p>
            <a:pPr indent="0" marL="0">
              <a:buNone/>
            </a:pPr>
            <a:r>
              <a:rPr lang="en-US" sz="950" b="1" spc="300" kern="0" dirty="0">
                <a:solidFill>
                  <a:srgbClr val="C53637"/>
                </a:solidFill>
                <a:latin typeface="Calibri" pitchFamily="34" charset="0"/>
                <a:ea typeface="Calibri" pitchFamily="34" charset="-122"/>
                <a:cs typeface="Calibri" pitchFamily="34" charset="-120"/>
              </a:rPr>
              <a:t>RISKS AND HOW WE HOLD THEM</a:t>
            </a:r>
            <a:endParaRPr lang="en-US" sz="950" dirty="0"/>
          </a:p>
        </p:txBody>
      </p:sp>
      <p:sp>
        <p:nvSpPr>
          <p:cNvPr id="35" name="Text 29"/>
          <p:cNvSpPr/>
          <p:nvPr/>
        </p:nvSpPr>
        <p:spPr>
          <a:xfrm>
            <a:off x="7891272" y="5404104"/>
            <a:ext cx="3495751" cy="82296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Provider price moves: pass-through with a published margin, provider switch is configuration.</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Alert on runaway usage per tenant; hard cap optional.</a:t>
            </a:r>
            <a:endParaRPr lang="en-US" sz="1000" dirty="0"/>
          </a:p>
        </p:txBody>
      </p:sp>
      <p:sp>
        <p:nvSpPr>
          <p:cNvPr id="36" name="Text 30"/>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MODEL 3 · DIAGNOSTICS AND IMAGING NETWORKS</a:t>
            </a:r>
            <a:endParaRPr lang="en-US" sz="1050" dirty="0"/>
          </a:p>
        </p:txBody>
      </p:sp>
      <p:sp>
        <p:nvSpPr>
          <p:cNvPr id="3" name="Text 1"/>
          <p:cNvSpPr/>
          <p:nvPr/>
        </p:nvSpPr>
        <p:spPr>
          <a:xfrm>
            <a:off x="548640" y="822960"/>
            <a:ext cx="11094415" cy="731520"/>
          </a:xfrm>
          <a:prstGeom prst="rect">
            <a:avLst/>
          </a:prstGeom>
          <a:noFill/>
          <a:ln/>
        </p:spPr>
        <p:txBody>
          <a:bodyPr wrap="square" lIns="0" tIns="0" rIns="0" bIns="0" rtlCol="0" anchor="t"/>
          <a:lstStyle/>
          <a:p>
            <a:pPr indent="0" marL="0">
              <a:buNone/>
            </a:pPr>
            <a:r>
              <a:rPr lang="en-US" sz="2800" dirty="0">
                <a:solidFill>
                  <a:srgbClr val="22303C"/>
                </a:solidFill>
                <a:latin typeface="Cambria" pitchFamily="34" charset="0"/>
                <a:ea typeface="Cambria" pitchFamily="34" charset="-122"/>
                <a:cs typeface="Cambria" pitchFamily="34" charset="-120"/>
              </a:rPr>
              <a:t>Labs pay per finalised report that reaches the patient and the treating doctor.</a:t>
            </a:r>
            <a:endParaRPr lang="en-US" sz="2800" dirty="0"/>
          </a:p>
        </p:txBody>
      </p:sp>
      <p:sp>
        <p:nvSpPr>
          <p:cNvPr id="4" name="Shape 2"/>
          <p:cNvSpPr/>
          <p:nvPr/>
        </p:nvSpPr>
        <p:spPr>
          <a:xfrm>
            <a:off x="548640" y="1691640"/>
            <a:ext cx="2636444" cy="868680"/>
          </a:xfrm>
          <a:prstGeom prst="roundRect">
            <a:avLst>
              <a:gd name="adj" fmla="val 12632"/>
            </a:avLst>
          </a:prstGeom>
          <a:solidFill>
            <a:srgbClr val="DFEEF7"/>
          </a:solidFill>
          <a:ln w="9525">
            <a:solidFill>
              <a:srgbClr val="DFEEF7"/>
            </a:solidFill>
            <a:prstDash val="solid"/>
          </a:ln>
        </p:spPr>
      </p:sp>
      <p:sp>
        <p:nvSpPr>
          <p:cNvPr id="5" name="Text 3"/>
          <p:cNvSpPr/>
          <p:nvPr/>
        </p:nvSpPr>
        <p:spPr>
          <a:xfrm>
            <a:off x="731520"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WHO PAYS</a:t>
            </a:r>
            <a:endParaRPr lang="en-US" sz="900" dirty="0"/>
          </a:p>
        </p:txBody>
      </p:sp>
      <p:sp>
        <p:nvSpPr>
          <p:cNvPr id="6" name="Text 4"/>
          <p:cNvSpPr/>
          <p:nvPr/>
        </p:nvSpPr>
        <p:spPr>
          <a:xfrm>
            <a:off x="731520"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Lab or imaging chain, as a report-only tenant</a:t>
            </a:r>
            <a:endParaRPr lang="en-US" sz="1150" dirty="0"/>
          </a:p>
        </p:txBody>
      </p:sp>
      <p:sp>
        <p:nvSpPr>
          <p:cNvPr id="7" name="Shape 5"/>
          <p:cNvSpPr/>
          <p:nvPr/>
        </p:nvSpPr>
        <p:spPr>
          <a:xfrm>
            <a:off x="3367964" y="1691640"/>
            <a:ext cx="2636444" cy="868680"/>
          </a:xfrm>
          <a:prstGeom prst="roundRect">
            <a:avLst>
              <a:gd name="adj" fmla="val 12632"/>
            </a:avLst>
          </a:prstGeom>
          <a:solidFill>
            <a:srgbClr val="DFEEF7"/>
          </a:solidFill>
          <a:ln w="9525">
            <a:solidFill>
              <a:srgbClr val="DFEEF7"/>
            </a:solidFill>
            <a:prstDash val="solid"/>
          </a:ln>
        </p:spPr>
      </p:sp>
      <p:sp>
        <p:nvSpPr>
          <p:cNvPr id="8" name="Text 6"/>
          <p:cNvSpPr/>
          <p:nvPr/>
        </p:nvSpPr>
        <p:spPr>
          <a:xfrm>
            <a:off x="3550844"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UNIT</a:t>
            </a:r>
            <a:endParaRPr lang="en-US" sz="900" dirty="0"/>
          </a:p>
        </p:txBody>
      </p:sp>
      <p:sp>
        <p:nvSpPr>
          <p:cNvPr id="9" name="Text 7"/>
          <p:cNvSpPr/>
          <p:nvPr/>
        </p:nvSpPr>
        <p:spPr>
          <a:xfrm>
            <a:off x="3550844"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One finalised report delivered</a:t>
            </a:r>
            <a:endParaRPr lang="en-US" sz="1150" dirty="0"/>
          </a:p>
        </p:txBody>
      </p:sp>
      <p:sp>
        <p:nvSpPr>
          <p:cNvPr id="10" name="Shape 8"/>
          <p:cNvSpPr/>
          <p:nvPr/>
        </p:nvSpPr>
        <p:spPr>
          <a:xfrm>
            <a:off x="6187288" y="1691640"/>
            <a:ext cx="2636444" cy="868680"/>
          </a:xfrm>
          <a:prstGeom prst="roundRect">
            <a:avLst>
              <a:gd name="adj" fmla="val 12632"/>
            </a:avLst>
          </a:prstGeom>
          <a:solidFill>
            <a:srgbClr val="DFEEF7"/>
          </a:solidFill>
          <a:ln w="9525">
            <a:solidFill>
              <a:srgbClr val="DFEEF7"/>
            </a:solidFill>
            <a:prstDash val="solid"/>
          </a:ln>
        </p:spPr>
      </p:sp>
      <p:sp>
        <p:nvSpPr>
          <p:cNvPr id="11" name="Text 9"/>
          <p:cNvSpPr/>
          <p:nvPr/>
        </p:nvSpPr>
        <p:spPr>
          <a:xfrm>
            <a:off x="6370168"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REPLACES</a:t>
            </a:r>
            <a:endParaRPr lang="en-US" sz="900" dirty="0"/>
          </a:p>
        </p:txBody>
      </p:sp>
      <p:sp>
        <p:nvSpPr>
          <p:cNvPr id="12" name="Text 10"/>
          <p:cNvSpPr/>
          <p:nvPr/>
        </p:nvSpPr>
        <p:spPr>
          <a:xfrm>
            <a:off x="6370168"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SMS links, PDF portals, courier copies</a:t>
            </a:r>
            <a:endParaRPr lang="en-US" sz="1150" dirty="0"/>
          </a:p>
        </p:txBody>
      </p:sp>
      <p:sp>
        <p:nvSpPr>
          <p:cNvPr id="13" name="Shape 11"/>
          <p:cNvSpPr/>
          <p:nvPr/>
        </p:nvSpPr>
        <p:spPr>
          <a:xfrm>
            <a:off x="9006611" y="1691640"/>
            <a:ext cx="2636444" cy="868680"/>
          </a:xfrm>
          <a:prstGeom prst="roundRect">
            <a:avLst>
              <a:gd name="adj" fmla="val 12632"/>
            </a:avLst>
          </a:prstGeom>
          <a:solidFill>
            <a:srgbClr val="DFEEF7"/>
          </a:solidFill>
          <a:ln w="9525">
            <a:solidFill>
              <a:srgbClr val="DFEEF7"/>
            </a:solidFill>
            <a:prstDash val="solid"/>
          </a:ln>
        </p:spPr>
      </p:sp>
      <p:sp>
        <p:nvSpPr>
          <p:cNvPr id="14" name="Text 12"/>
          <p:cNvSpPr/>
          <p:nvPr/>
        </p:nvSpPr>
        <p:spPr>
          <a:xfrm>
            <a:off x="9189491"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VOLUME BANDS</a:t>
            </a:r>
            <a:endParaRPr lang="en-US" sz="900" dirty="0"/>
          </a:p>
        </p:txBody>
      </p:sp>
      <p:sp>
        <p:nvSpPr>
          <p:cNvPr id="15" name="Text 13"/>
          <p:cNvSpPr/>
          <p:nvPr/>
        </p:nvSpPr>
        <p:spPr>
          <a:xfrm>
            <a:off x="9189491"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Price per report falls with monthly volume</a:t>
            </a:r>
            <a:endParaRPr lang="en-US" sz="1150" dirty="0"/>
          </a:p>
        </p:txBody>
      </p:sp>
      <p:sp>
        <p:nvSpPr>
          <p:cNvPr id="16" name="Text 14"/>
          <p:cNvSpPr/>
          <p:nvPr/>
        </p:nvSpPr>
        <p:spPr>
          <a:xfrm>
            <a:off x="548640" y="2697480"/>
            <a:ext cx="6766560" cy="228600"/>
          </a:xfrm>
          <a:prstGeom prst="rect">
            <a:avLst/>
          </a:prstGeom>
          <a:noFill/>
          <a:ln/>
        </p:spPr>
        <p:txBody>
          <a:bodyPr wrap="square" lIns="0" tIns="0" rIns="0" bIns="0" rtlCol="0" anchor="t"/>
          <a:lstStyle/>
          <a:p>
            <a:pPr indent="0" marL="0">
              <a:buNone/>
            </a:pPr>
            <a:r>
              <a:rPr lang="en-US" sz="950" b="1" spc="300" kern="0" dirty="0">
                <a:solidFill>
                  <a:srgbClr val="7D868E"/>
                </a:solidFill>
                <a:latin typeface="Calibri" pitchFamily="34" charset="0"/>
                <a:ea typeface="Calibri" pitchFamily="34" charset="-122"/>
                <a:cs typeface="Calibri" pitchFamily="34" charset="-120"/>
              </a:rPr>
              <a:t>HOW IT WORKS</a:t>
            </a:r>
            <a:endParaRPr lang="en-US" sz="950" dirty="0"/>
          </a:p>
        </p:txBody>
      </p:sp>
      <p:pic>
        <p:nvPicPr>
          <p:cNvPr id="17" name="Image 0" descr="preencoded.png">    </p:cNvPr>
          <p:cNvPicPr>
            <a:picLocks noChangeAspect="1"/>
          </p:cNvPicPr>
          <p:nvPr/>
        </p:nvPicPr>
        <p:blipFill>
          <a:blip r:embed="rId2"/>
          <a:stretch>
            <a:fillRect/>
          </a:stretch>
        </p:blipFill>
        <p:spPr>
          <a:xfrm>
            <a:off x="548640" y="3035808"/>
            <a:ext cx="365760" cy="365760"/>
          </a:xfrm>
          <a:prstGeom prst="rect">
            <a:avLst/>
          </a:prstGeom>
        </p:spPr>
      </p:pic>
      <p:sp>
        <p:nvSpPr>
          <p:cNvPr id="18" name="Text 15"/>
          <p:cNvSpPr/>
          <p:nvPr/>
        </p:nvSpPr>
        <p:spPr>
          <a:xfrm>
            <a:off x="1051560" y="301752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Report-only tenant</a:t>
            </a:r>
            <a:endParaRPr lang="en-US" sz="1250" dirty="0"/>
          </a:p>
        </p:txBody>
      </p:sp>
      <p:sp>
        <p:nvSpPr>
          <p:cNvPr id="19" name="Text 16"/>
          <p:cNvSpPr/>
          <p:nvPr/>
        </p:nvSpPr>
        <p:spPr>
          <a:xfrm>
            <a:off x="1051560" y="327355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The lab connects its LIS or RIS as a feed; it never sees other tenants’ data and holds no doctor seats. The integration is the same sandbox-proven path a hospital uses.</a:t>
            </a:r>
            <a:endParaRPr lang="en-US" sz="1050" dirty="0"/>
          </a:p>
        </p:txBody>
      </p:sp>
      <p:pic>
        <p:nvPicPr>
          <p:cNvPr id="20" name="Image 1" descr="preencoded.png">    </p:cNvPr>
          <p:cNvPicPr>
            <a:picLocks noChangeAspect="1"/>
          </p:cNvPicPr>
          <p:nvPr/>
        </p:nvPicPr>
        <p:blipFill>
          <a:blip r:embed="rId3"/>
          <a:stretch>
            <a:fillRect/>
          </a:stretch>
        </p:blipFill>
        <p:spPr>
          <a:xfrm>
            <a:off x="548640" y="3904488"/>
            <a:ext cx="365760" cy="365760"/>
          </a:xfrm>
          <a:prstGeom prst="rect">
            <a:avLst/>
          </a:prstGeom>
        </p:spPr>
      </p:pic>
      <p:sp>
        <p:nvSpPr>
          <p:cNvPr id="21" name="Text 17"/>
          <p:cNvSpPr/>
          <p:nvPr/>
        </p:nvSpPr>
        <p:spPr>
          <a:xfrm>
            <a:off x="1051560" y="388620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Delivery is the product</a:t>
            </a:r>
            <a:endParaRPr lang="en-US" sz="1250" dirty="0"/>
          </a:p>
        </p:txBody>
      </p:sp>
      <p:sp>
        <p:nvSpPr>
          <p:cNvPr id="22" name="Text 18"/>
          <p:cNvSpPr/>
          <p:nvPr/>
        </p:nvSpPr>
        <p:spPr>
          <a:xfrm>
            <a:off x="1051560" y="414223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When the LIS marks a report final, it is published to the patient’s phone under the lab’s publication rule and appears on the timeline of every doctor the patient has authorised. Amendments create a new version and say so.</a:t>
            </a:r>
            <a:endParaRPr lang="en-US" sz="1050" dirty="0"/>
          </a:p>
        </p:txBody>
      </p:sp>
      <p:pic>
        <p:nvPicPr>
          <p:cNvPr id="23" name="Image 2" descr="preencoded.png">    </p:cNvPr>
          <p:cNvPicPr>
            <a:picLocks noChangeAspect="1"/>
          </p:cNvPicPr>
          <p:nvPr/>
        </p:nvPicPr>
        <p:blipFill>
          <a:blip r:embed="rId4"/>
          <a:stretch>
            <a:fillRect/>
          </a:stretch>
        </p:blipFill>
        <p:spPr>
          <a:xfrm>
            <a:off x="548640" y="4773168"/>
            <a:ext cx="365760" cy="365760"/>
          </a:xfrm>
          <a:prstGeom prst="rect">
            <a:avLst/>
          </a:prstGeom>
        </p:spPr>
      </p:pic>
      <p:sp>
        <p:nvSpPr>
          <p:cNvPr id="24" name="Text 19"/>
          <p:cNvSpPr/>
          <p:nvPr/>
        </p:nvSpPr>
        <p:spPr>
          <a:xfrm>
            <a:off x="1051560" y="475488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Compliance handled once</a:t>
            </a:r>
            <a:endParaRPr lang="en-US" sz="1250" dirty="0"/>
          </a:p>
        </p:txBody>
      </p:sp>
      <p:sp>
        <p:nvSpPr>
          <p:cNvPr id="25" name="Text 20"/>
          <p:cNvSpPr/>
          <p:nvPr/>
        </p:nvSpPr>
        <p:spPr>
          <a:xfrm>
            <a:off x="1051560" y="501091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The lab’s ABDM reporting obligations, consent capture, provenance and audit are carried by the platform rather than by a portal the lab maintains.</a:t>
            </a:r>
            <a:endParaRPr lang="en-US" sz="1050" dirty="0"/>
          </a:p>
        </p:txBody>
      </p:sp>
      <p:pic>
        <p:nvPicPr>
          <p:cNvPr id="26" name="Image 3" descr="preencoded.png">    </p:cNvPr>
          <p:cNvPicPr>
            <a:picLocks noChangeAspect="1"/>
          </p:cNvPicPr>
          <p:nvPr/>
        </p:nvPicPr>
        <p:blipFill>
          <a:blip r:embed="rId5"/>
          <a:stretch>
            <a:fillRect/>
          </a:stretch>
        </p:blipFill>
        <p:spPr>
          <a:xfrm>
            <a:off x="548640" y="5641848"/>
            <a:ext cx="365760" cy="365760"/>
          </a:xfrm>
          <a:prstGeom prst="rect">
            <a:avLst/>
          </a:prstGeom>
        </p:spPr>
      </p:pic>
      <p:sp>
        <p:nvSpPr>
          <p:cNvPr id="27" name="Text 21"/>
          <p:cNvSpPr/>
          <p:nvPr/>
        </p:nvSpPr>
        <p:spPr>
          <a:xfrm>
            <a:off x="1051560" y="562356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Two-sided pull</a:t>
            </a:r>
            <a:endParaRPr lang="en-US" sz="1250" dirty="0"/>
          </a:p>
        </p:txBody>
      </p:sp>
      <p:sp>
        <p:nvSpPr>
          <p:cNvPr id="28" name="Text 22"/>
          <p:cNvSpPr/>
          <p:nvPr/>
        </p:nvSpPr>
        <p:spPr>
          <a:xfrm>
            <a:off x="1051560" y="587959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Every lab that joins makes each hospital’s history more complete; every hospital that joins puts the lab’s report in front of the treating doctor, which is what a referring lab wants.</a:t>
            </a:r>
            <a:endParaRPr lang="en-US" sz="1050" dirty="0"/>
          </a:p>
        </p:txBody>
      </p:sp>
      <p:sp>
        <p:nvSpPr>
          <p:cNvPr id="29" name="Shape 23"/>
          <p:cNvSpPr/>
          <p:nvPr/>
        </p:nvSpPr>
        <p:spPr>
          <a:xfrm>
            <a:off x="7635240" y="2697480"/>
            <a:ext cx="4007815" cy="3611880"/>
          </a:xfrm>
          <a:prstGeom prst="roundRect">
            <a:avLst>
              <a:gd name="adj" fmla="val 3038"/>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sp>
        <p:nvSpPr>
          <p:cNvPr id="30" name="Text 24"/>
          <p:cNvSpPr/>
          <p:nvPr/>
        </p:nvSpPr>
        <p:spPr>
          <a:xfrm>
            <a:off x="7891272" y="2880360"/>
            <a:ext cx="3495751" cy="228600"/>
          </a:xfrm>
          <a:prstGeom prst="rect">
            <a:avLst/>
          </a:prstGeom>
          <a:noFill/>
          <a:ln/>
        </p:spPr>
        <p:txBody>
          <a:bodyPr wrap="square" lIns="0" tIns="0" rIns="0" bIns="0" rtlCol="0" anchor="t"/>
          <a:lstStyle/>
          <a:p>
            <a:pPr indent="0" marL="0">
              <a:buNone/>
            </a:pPr>
            <a:r>
              <a:rPr lang="en-US" sz="950" b="1" spc="300" kern="0" dirty="0">
                <a:solidFill>
                  <a:srgbClr val="21763C"/>
                </a:solidFill>
                <a:latin typeface="Calibri" pitchFamily="34" charset="0"/>
                <a:ea typeface="Calibri" pitchFamily="34" charset="-122"/>
                <a:cs typeface="Calibri" pitchFamily="34" charset="-120"/>
              </a:rPr>
              <a:t>WHY THEY PAY</a:t>
            </a:r>
            <a:endParaRPr lang="en-US" sz="950" dirty="0"/>
          </a:p>
        </p:txBody>
      </p:sp>
      <p:sp>
        <p:nvSpPr>
          <p:cNvPr id="31" name="Text 25"/>
          <p:cNvSpPr/>
          <p:nvPr/>
        </p:nvSpPr>
        <p:spPr>
          <a:xfrm>
            <a:off x="7891272" y="3118104"/>
            <a:ext cx="3495751" cy="105156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Cheaper than running a patient portal and SMS gateway.</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Referral stickiness: the report lands where the doctor already looks.</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One integration covers many hospitals and all patients.</a:t>
            </a:r>
            <a:endParaRPr lang="en-US" sz="1000" dirty="0"/>
          </a:p>
        </p:txBody>
      </p:sp>
      <p:sp>
        <p:nvSpPr>
          <p:cNvPr id="32" name="Text 26"/>
          <p:cNvSpPr/>
          <p:nvPr/>
        </p:nvSpPr>
        <p:spPr>
          <a:xfrm>
            <a:off x="7891272" y="4233672"/>
            <a:ext cx="3495751" cy="228600"/>
          </a:xfrm>
          <a:prstGeom prst="rect">
            <a:avLst/>
          </a:prstGeom>
          <a:noFill/>
          <a:ln/>
        </p:spPr>
        <p:txBody>
          <a:bodyPr wrap="square" lIns="0" tIns="0" rIns="0" bIns="0" rtlCol="0" anchor="t"/>
          <a:lstStyle/>
          <a:p>
            <a:pPr indent="0" marL="0">
              <a:buNone/>
            </a:pPr>
            <a:r>
              <a:rPr lang="en-US" sz="950" b="1" spc="300" kern="0" dirty="0">
                <a:solidFill>
                  <a:srgbClr val="005D92"/>
                </a:solidFill>
                <a:latin typeface="Calibri" pitchFamily="34" charset="0"/>
                <a:ea typeface="Calibri" pitchFamily="34" charset="-122"/>
                <a:cs typeface="Calibri" pitchFamily="34" charset="-120"/>
              </a:rPr>
              <a:t>NEEDS FROM THE PRODUCT</a:t>
            </a:r>
            <a:endParaRPr lang="en-US" sz="950" dirty="0"/>
          </a:p>
        </p:txBody>
      </p:sp>
      <p:sp>
        <p:nvSpPr>
          <p:cNvPr id="33" name="Text 27"/>
          <p:cNvSpPr/>
          <p:nvPr/>
        </p:nvSpPr>
        <p:spPr>
          <a:xfrm>
            <a:off x="7891272" y="4471416"/>
            <a:ext cx="3495751" cy="64008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Report lifecycle and publication rules (designed).</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Identity resolution with a human queue for ambiguous matches (designed).</a:t>
            </a:r>
            <a:endParaRPr lang="en-US" sz="1000" dirty="0"/>
          </a:p>
        </p:txBody>
      </p:sp>
      <p:sp>
        <p:nvSpPr>
          <p:cNvPr id="34" name="Text 28"/>
          <p:cNvSpPr/>
          <p:nvPr/>
        </p:nvSpPr>
        <p:spPr>
          <a:xfrm>
            <a:off x="7891272" y="5166360"/>
            <a:ext cx="3495751" cy="228600"/>
          </a:xfrm>
          <a:prstGeom prst="rect">
            <a:avLst/>
          </a:prstGeom>
          <a:noFill/>
          <a:ln/>
        </p:spPr>
        <p:txBody>
          <a:bodyPr wrap="square" lIns="0" tIns="0" rIns="0" bIns="0" rtlCol="0" anchor="t"/>
          <a:lstStyle/>
          <a:p>
            <a:pPr indent="0" marL="0">
              <a:buNone/>
            </a:pPr>
            <a:r>
              <a:rPr lang="en-US" sz="950" b="1" spc="300" kern="0" dirty="0">
                <a:solidFill>
                  <a:srgbClr val="C53637"/>
                </a:solidFill>
                <a:latin typeface="Calibri" pitchFamily="34" charset="0"/>
                <a:ea typeface="Calibri" pitchFamily="34" charset="-122"/>
                <a:cs typeface="Calibri" pitchFamily="34" charset="-120"/>
              </a:rPr>
              <a:t>RISKS AND HOW WE HOLD THEM</a:t>
            </a:r>
            <a:endParaRPr lang="en-US" sz="950" dirty="0"/>
          </a:p>
        </p:txBody>
      </p:sp>
      <p:sp>
        <p:nvSpPr>
          <p:cNvPr id="35" name="Text 29"/>
          <p:cNvSpPr/>
          <p:nvPr/>
        </p:nvSpPr>
        <p:spPr>
          <a:xfrm>
            <a:off x="7891272" y="5404104"/>
            <a:ext cx="3495751" cy="82296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Thin lab margins: volume bands and a bundle with the hospital tier.</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A lab pushing preliminary results as final: lifecycle states enforced at ingest.</a:t>
            </a:r>
            <a:endParaRPr lang="en-US" sz="1000" dirty="0"/>
          </a:p>
        </p:txBody>
      </p:sp>
      <p:sp>
        <p:nvSpPr>
          <p:cNvPr id="36" name="Text 30"/>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MODEL 4 · PATIENTS</a:t>
            </a:r>
            <a:endParaRPr lang="en-US" sz="1050" dirty="0"/>
          </a:p>
        </p:txBody>
      </p:sp>
      <p:sp>
        <p:nvSpPr>
          <p:cNvPr id="3" name="Text 1"/>
          <p:cNvSpPr/>
          <p:nvPr/>
        </p:nvSpPr>
        <p:spPr>
          <a:xfrm>
            <a:off x="548640" y="822960"/>
            <a:ext cx="11094415" cy="731520"/>
          </a:xfrm>
          <a:prstGeom prst="rect">
            <a:avLst/>
          </a:prstGeom>
          <a:noFill/>
          <a:ln/>
        </p:spPr>
        <p:txBody>
          <a:bodyPr wrap="square" lIns="0" tIns="0" rIns="0" bIns="0" rtlCol="0" anchor="t"/>
          <a:lstStyle/>
          <a:p>
            <a:pPr indent="0" marL="0">
              <a:buNone/>
            </a:pPr>
            <a:r>
              <a:rPr lang="en-US" sz="2800" dirty="0">
                <a:solidFill>
                  <a:srgbClr val="22303C"/>
                </a:solidFill>
                <a:latin typeface="Cambria" pitchFamily="34" charset="0"/>
                <a:ea typeface="Cambria" pitchFamily="34" charset="-122"/>
                <a:cs typeface="Cambria" pitchFamily="34" charset="-120"/>
              </a:rPr>
              <a:t>The record is free, always. A family plan is retention, not the revenue line.</a:t>
            </a:r>
            <a:endParaRPr lang="en-US" sz="2800" dirty="0"/>
          </a:p>
        </p:txBody>
      </p:sp>
      <p:sp>
        <p:nvSpPr>
          <p:cNvPr id="4" name="Shape 2"/>
          <p:cNvSpPr/>
          <p:nvPr/>
        </p:nvSpPr>
        <p:spPr>
          <a:xfrm>
            <a:off x="548640" y="1691640"/>
            <a:ext cx="2636444" cy="868680"/>
          </a:xfrm>
          <a:prstGeom prst="roundRect">
            <a:avLst>
              <a:gd name="adj" fmla="val 12632"/>
            </a:avLst>
          </a:prstGeom>
          <a:solidFill>
            <a:srgbClr val="DFEEF7"/>
          </a:solidFill>
          <a:ln w="9525">
            <a:solidFill>
              <a:srgbClr val="DFEEF7"/>
            </a:solidFill>
            <a:prstDash val="solid"/>
          </a:ln>
        </p:spPr>
      </p:sp>
      <p:sp>
        <p:nvSpPr>
          <p:cNvPr id="5" name="Text 3"/>
          <p:cNvSpPr/>
          <p:nvPr/>
        </p:nvSpPr>
        <p:spPr>
          <a:xfrm>
            <a:off x="731520"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WHO PAYS</a:t>
            </a:r>
            <a:endParaRPr lang="en-US" sz="900" dirty="0"/>
          </a:p>
        </p:txBody>
      </p:sp>
      <p:sp>
        <p:nvSpPr>
          <p:cNvPr id="6" name="Text 4"/>
          <p:cNvSpPr/>
          <p:nvPr/>
        </p:nvSpPr>
        <p:spPr>
          <a:xfrm>
            <a:off x="731520"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Nobody, for the core</a:t>
            </a:r>
            <a:endParaRPr lang="en-US" sz="1150" dirty="0"/>
          </a:p>
        </p:txBody>
      </p:sp>
      <p:sp>
        <p:nvSpPr>
          <p:cNvPr id="7" name="Shape 5"/>
          <p:cNvSpPr/>
          <p:nvPr/>
        </p:nvSpPr>
        <p:spPr>
          <a:xfrm>
            <a:off x="3367964" y="1691640"/>
            <a:ext cx="2636444" cy="868680"/>
          </a:xfrm>
          <a:prstGeom prst="roundRect">
            <a:avLst>
              <a:gd name="adj" fmla="val 12632"/>
            </a:avLst>
          </a:prstGeom>
          <a:solidFill>
            <a:srgbClr val="DFEEF7"/>
          </a:solidFill>
          <a:ln w="9525">
            <a:solidFill>
              <a:srgbClr val="DFEEF7"/>
            </a:solidFill>
            <a:prstDash val="solid"/>
          </a:ln>
        </p:spPr>
      </p:sp>
      <p:sp>
        <p:nvSpPr>
          <p:cNvPr id="8" name="Text 6"/>
          <p:cNvSpPr/>
          <p:nvPr/>
        </p:nvSpPr>
        <p:spPr>
          <a:xfrm>
            <a:off x="3550844"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FREE FOREVER</a:t>
            </a:r>
            <a:endParaRPr lang="en-US" sz="900" dirty="0"/>
          </a:p>
        </p:txBody>
      </p:sp>
      <p:sp>
        <p:nvSpPr>
          <p:cNvPr id="9" name="Text 7"/>
          <p:cNvSpPr/>
          <p:nvPr/>
        </p:nvSpPr>
        <p:spPr>
          <a:xfrm>
            <a:off x="3550844"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Identity, QR, timeline, consent, emergency card</a:t>
            </a:r>
            <a:endParaRPr lang="en-US" sz="1150" dirty="0"/>
          </a:p>
        </p:txBody>
      </p:sp>
      <p:sp>
        <p:nvSpPr>
          <p:cNvPr id="10" name="Shape 8"/>
          <p:cNvSpPr/>
          <p:nvPr/>
        </p:nvSpPr>
        <p:spPr>
          <a:xfrm>
            <a:off x="6187288" y="1691640"/>
            <a:ext cx="2636444" cy="868680"/>
          </a:xfrm>
          <a:prstGeom prst="roundRect">
            <a:avLst>
              <a:gd name="adj" fmla="val 12632"/>
            </a:avLst>
          </a:prstGeom>
          <a:solidFill>
            <a:srgbClr val="DFEEF7"/>
          </a:solidFill>
          <a:ln w="9525">
            <a:solidFill>
              <a:srgbClr val="DFEEF7"/>
            </a:solidFill>
            <a:prstDash val="solid"/>
          </a:ln>
        </p:spPr>
      </p:sp>
      <p:sp>
        <p:nvSpPr>
          <p:cNvPr id="11" name="Text 9"/>
          <p:cNvSpPr/>
          <p:nvPr/>
        </p:nvSpPr>
        <p:spPr>
          <a:xfrm>
            <a:off x="6370168"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OPTIONAL LATER</a:t>
            </a:r>
            <a:endParaRPr lang="en-US" sz="900" dirty="0"/>
          </a:p>
        </p:txBody>
      </p:sp>
      <p:sp>
        <p:nvSpPr>
          <p:cNvPr id="12" name="Text 10"/>
          <p:cNvSpPr/>
          <p:nvPr/>
        </p:nvSpPr>
        <p:spPr>
          <a:xfrm>
            <a:off x="6370168"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Family plan, monthly</a:t>
            </a:r>
            <a:endParaRPr lang="en-US" sz="1150" dirty="0"/>
          </a:p>
        </p:txBody>
      </p:sp>
      <p:sp>
        <p:nvSpPr>
          <p:cNvPr id="13" name="Shape 11"/>
          <p:cNvSpPr/>
          <p:nvPr/>
        </p:nvSpPr>
        <p:spPr>
          <a:xfrm>
            <a:off x="9006611" y="1691640"/>
            <a:ext cx="2636444" cy="868680"/>
          </a:xfrm>
          <a:prstGeom prst="roundRect">
            <a:avLst>
              <a:gd name="adj" fmla="val 12632"/>
            </a:avLst>
          </a:prstGeom>
          <a:solidFill>
            <a:srgbClr val="DFEEF7"/>
          </a:solidFill>
          <a:ln w="9525">
            <a:solidFill>
              <a:srgbClr val="DFEEF7"/>
            </a:solidFill>
            <a:prstDash val="solid"/>
          </a:ln>
        </p:spPr>
      </p:sp>
      <p:sp>
        <p:nvSpPr>
          <p:cNvPr id="14" name="Text 12"/>
          <p:cNvSpPr/>
          <p:nvPr/>
        </p:nvSpPr>
        <p:spPr>
          <a:xfrm>
            <a:off x="9189491" y="1819656"/>
            <a:ext cx="2270684" cy="228600"/>
          </a:xfrm>
          <a:prstGeom prst="rect">
            <a:avLst/>
          </a:prstGeom>
          <a:noFill/>
          <a:ln/>
        </p:spPr>
        <p:txBody>
          <a:bodyPr wrap="square" lIns="0" tIns="0" rIns="0" bIns="0" rtlCol="0" anchor="t"/>
          <a:lstStyle/>
          <a:p>
            <a:pPr indent="0" marL="0">
              <a:buNone/>
            </a:pPr>
            <a:r>
              <a:rPr lang="en-US" sz="900" b="1" spc="200" kern="0" dirty="0">
                <a:solidFill>
                  <a:srgbClr val="005D92"/>
                </a:solidFill>
                <a:latin typeface="Calibri" pitchFamily="34" charset="0"/>
                <a:ea typeface="Calibri" pitchFamily="34" charset="-122"/>
                <a:cs typeface="Calibri" pitchFamily="34" charset="-120"/>
              </a:rPr>
              <a:t>RULE</a:t>
            </a:r>
            <a:endParaRPr lang="en-US" sz="900" dirty="0"/>
          </a:p>
        </p:txBody>
      </p:sp>
      <p:sp>
        <p:nvSpPr>
          <p:cNvPr id="15" name="Text 13"/>
          <p:cNvSpPr/>
          <p:nvPr/>
        </p:nvSpPr>
        <p:spPr>
          <a:xfrm>
            <a:off x="9189491" y="2057400"/>
            <a:ext cx="2270684" cy="457200"/>
          </a:xfrm>
          <a:prstGeom prst="rect">
            <a:avLst/>
          </a:prstGeom>
          <a:noFill/>
          <a:ln/>
        </p:spPr>
        <p:txBody>
          <a:bodyPr wrap="square" lIns="0" tIns="0" rIns="0" bIns="0" rtlCol="0" anchor="t"/>
          <a:lstStyle/>
          <a:p>
            <a:pPr indent="0" marL="0">
              <a:lnSpc>
                <a:spcPct val="105000"/>
              </a:lnSpc>
              <a:buNone/>
            </a:pPr>
            <a:r>
              <a:rPr lang="en-US" sz="1150" b="1" dirty="0">
                <a:solidFill>
                  <a:srgbClr val="22303C"/>
                </a:solidFill>
                <a:latin typeface="Calibri" pitchFamily="34" charset="0"/>
                <a:ea typeface="Calibri" pitchFamily="34" charset="-122"/>
                <a:cs typeface="Calibri" pitchFamily="34" charset="-120"/>
              </a:rPr>
              <a:t>Consent and access are never behind a paywall</a:t>
            </a:r>
            <a:endParaRPr lang="en-US" sz="1150" dirty="0"/>
          </a:p>
        </p:txBody>
      </p:sp>
      <p:sp>
        <p:nvSpPr>
          <p:cNvPr id="16" name="Text 14"/>
          <p:cNvSpPr/>
          <p:nvPr/>
        </p:nvSpPr>
        <p:spPr>
          <a:xfrm>
            <a:off x="548640" y="2697480"/>
            <a:ext cx="6766560" cy="228600"/>
          </a:xfrm>
          <a:prstGeom prst="rect">
            <a:avLst/>
          </a:prstGeom>
          <a:noFill/>
          <a:ln/>
        </p:spPr>
        <p:txBody>
          <a:bodyPr wrap="square" lIns="0" tIns="0" rIns="0" bIns="0" rtlCol="0" anchor="t"/>
          <a:lstStyle/>
          <a:p>
            <a:pPr indent="0" marL="0">
              <a:buNone/>
            </a:pPr>
            <a:r>
              <a:rPr lang="en-US" sz="950" b="1" spc="300" kern="0" dirty="0">
                <a:solidFill>
                  <a:srgbClr val="7D868E"/>
                </a:solidFill>
                <a:latin typeface="Calibri" pitchFamily="34" charset="0"/>
                <a:ea typeface="Calibri" pitchFamily="34" charset="-122"/>
                <a:cs typeface="Calibri" pitchFamily="34" charset="-120"/>
              </a:rPr>
              <a:t>HOW IT WORKS</a:t>
            </a:r>
            <a:endParaRPr lang="en-US" sz="950" dirty="0"/>
          </a:p>
        </p:txBody>
      </p:sp>
      <p:pic>
        <p:nvPicPr>
          <p:cNvPr id="17" name="Image 0" descr="preencoded.png">    </p:cNvPr>
          <p:cNvPicPr>
            <a:picLocks noChangeAspect="1"/>
          </p:cNvPicPr>
          <p:nvPr/>
        </p:nvPicPr>
        <p:blipFill>
          <a:blip r:embed="rId2"/>
          <a:stretch>
            <a:fillRect/>
          </a:stretch>
        </p:blipFill>
        <p:spPr>
          <a:xfrm>
            <a:off x="548640" y="3035808"/>
            <a:ext cx="365760" cy="365760"/>
          </a:xfrm>
          <a:prstGeom prst="rect">
            <a:avLst/>
          </a:prstGeom>
        </p:spPr>
      </p:pic>
      <p:sp>
        <p:nvSpPr>
          <p:cNvPr id="18" name="Text 15"/>
          <p:cNvSpPr/>
          <p:nvPr/>
        </p:nvSpPr>
        <p:spPr>
          <a:xfrm>
            <a:off x="1051560" y="301752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Why free</a:t>
            </a:r>
            <a:endParaRPr lang="en-US" sz="1250" dirty="0"/>
          </a:p>
        </p:txBody>
      </p:sp>
      <p:sp>
        <p:nvSpPr>
          <p:cNvPr id="19" name="Text 16"/>
          <p:cNvSpPr/>
          <p:nvPr/>
        </p:nvSpPr>
        <p:spPr>
          <a:xfrm>
            <a:off x="1051560" y="327355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A record that patients pay for is a record fewer patients carry, and the hospital product depends on every patient presenting a QR. Consent density is the asset; charging for it would shrink it.</a:t>
            </a:r>
            <a:endParaRPr lang="en-US" sz="1050" dirty="0"/>
          </a:p>
        </p:txBody>
      </p:sp>
      <p:pic>
        <p:nvPicPr>
          <p:cNvPr id="20" name="Image 1" descr="preencoded.png">    </p:cNvPr>
          <p:cNvPicPr>
            <a:picLocks noChangeAspect="1"/>
          </p:cNvPicPr>
          <p:nvPr/>
        </p:nvPicPr>
        <p:blipFill>
          <a:blip r:embed="rId3"/>
          <a:stretch>
            <a:fillRect/>
          </a:stretch>
        </p:blipFill>
        <p:spPr>
          <a:xfrm>
            <a:off x="548640" y="3904488"/>
            <a:ext cx="365760" cy="365760"/>
          </a:xfrm>
          <a:prstGeom prst="rect">
            <a:avLst/>
          </a:prstGeom>
        </p:spPr>
      </p:pic>
      <p:sp>
        <p:nvSpPr>
          <p:cNvPr id="21" name="Text 17"/>
          <p:cNvSpPr/>
          <p:nvPr/>
        </p:nvSpPr>
        <p:spPr>
          <a:xfrm>
            <a:off x="1051560" y="388620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Family plan, when it comes</a:t>
            </a:r>
            <a:endParaRPr lang="en-US" sz="1250" dirty="0"/>
          </a:p>
        </p:txBody>
      </p:sp>
      <p:sp>
        <p:nvSpPr>
          <p:cNvPr id="22" name="Text 18"/>
          <p:cNvSpPr/>
          <p:nvPr/>
        </p:nvSpPr>
        <p:spPr>
          <a:xfrm>
            <a:off x="1051560" y="414223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Dependants under a guardian’s sign-in with their own identity and QR, nominee workflows for the elderly, storage for photographed outside papers, plain-language report explanations, and long-run trend views.</a:t>
            </a:r>
            <a:endParaRPr lang="en-US" sz="1050" dirty="0"/>
          </a:p>
        </p:txBody>
      </p:sp>
      <p:pic>
        <p:nvPicPr>
          <p:cNvPr id="23" name="Image 2" descr="preencoded.png">    </p:cNvPr>
          <p:cNvPicPr>
            <a:picLocks noChangeAspect="1"/>
          </p:cNvPicPr>
          <p:nvPr/>
        </p:nvPicPr>
        <p:blipFill>
          <a:blip r:embed="rId4"/>
          <a:stretch>
            <a:fillRect/>
          </a:stretch>
        </p:blipFill>
        <p:spPr>
          <a:xfrm>
            <a:off x="548640" y="4773168"/>
            <a:ext cx="365760" cy="365760"/>
          </a:xfrm>
          <a:prstGeom prst="rect">
            <a:avLst/>
          </a:prstGeom>
        </p:spPr>
      </p:pic>
      <p:sp>
        <p:nvSpPr>
          <p:cNvPr id="24" name="Text 19"/>
          <p:cNvSpPr/>
          <p:nvPr/>
        </p:nvSpPr>
        <p:spPr>
          <a:xfrm>
            <a:off x="1051560" y="475488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What stays outside the plan</a:t>
            </a:r>
            <a:endParaRPr lang="en-US" sz="1250" dirty="0"/>
          </a:p>
        </p:txBody>
      </p:sp>
      <p:sp>
        <p:nvSpPr>
          <p:cNvPr id="25" name="Text 20"/>
          <p:cNvSpPr/>
          <p:nvPr/>
        </p:nvSpPr>
        <p:spPr>
          <a:xfrm>
            <a:off x="1051560" y="501091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Anything that touches consent, revocation, the access log, the emergency card or the data-rights requests stays free, because those are the patient’s rights, not features.</a:t>
            </a:r>
            <a:endParaRPr lang="en-US" sz="1050" dirty="0"/>
          </a:p>
        </p:txBody>
      </p:sp>
      <p:pic>
        <p:nvPicPr>
          <p:cNvPr id="26" name="Image 3" descr="preencoded.png">    </p:cNvPr>
          <p:cNvPicPr>
            <a:picLocks noChangeAspect="1"/>
          </p:cNvPicPr>
          <p:nvPr/>
        </p:nvPicPr>
        <p:blipFill>
          <a:blip r:embed="rId5"/>
          <a:stretch>
            <a:fillRect/>
          </a:stretch>
        </p:blipFill>
        <p:spPr>
          <a:xfrm>
            <a:off x="548640" y="5641848"/>
            <a:ext cx="365760" cy="365760"/>
          </a:xfrm>
          <a:prstGeom prst="rect">
            <a:avLst/>
          </a:prstGeom>
        </p:spPr>
      </p:pic>
      <p:sp>
        <p:nvSpPr>
          <p:cNvPr id="27" name="Text 21"/>
          <p:cNvSpPr/>
          <p:nvPr/>
        </p:nvSpPr>
        <p:spPr>
          <a:xfrm>
            <a:off x="1051560" y="5623560"/>
            <a:ext cx="6217920" cy="246888"/>
          </a:xfrm>
          <a:prstGeom prst="rect">
            <a:avLst/>
          </a:prstGeom>
          <a:noFill/>
          <a:ln/>
        </p:spPr>
        <p:txBody>
          <a:bodyPr wrap="square" lIns="0" tIns="0" rIns="0" bIns="0" rtlCol="0" anchor="t"/>
          <a:lstStyle/>
          <a:p>
            <a:pPr indent="0" marL="0">
              <a:buNone/>
            </a:pPr>
            <a:r>
              <a:rPr lang="en-US" sz="1250" b="1" dirty="0">
                <a:solidFill>
                  <a:srgbClr val="22303C"/>
                </a:solidFill>
                <a:latin typeface="Calibri" pitchFamily="34" charset="0"/>
                <a:ea typeface="Calibri" pitchFamily="34" charset="-122"/>
                <a:cs typeface="Calibri" pitchFamily="34" charset="-120"/>
              </a:rPr>
              <a:t>Where the value goes</a:t>
            </a:r>
            <a:endParaRPr lang="en-US" sz="1250" dirty="0"/>
          </a:p>
        </p:txBody>
      </p:sp>
      <p:sp>
        <p:nvSpPr>
          <p:cNvPr id="28" name="Text 22"/>
          <p:cNvSpPr/>
          <p:nvPr/>
        </p:nvSpPr>
        <p:spPr>
          <a:xfrm>
            <a:off x="1051560" y="5879592"/>
            <a:ext cx="6217920" cy="5486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A denser patient base raises the value of the hospital and lab tiers; the family plan is priced to cover its own storage and support, not to carry the company.</a:t>
            </a:r>
            <a:endParaRPr lang="en-US" sz="1050" dirty="0"/>
          </a:p>
        </p:txBody>
      </p:sp>
      <p:sp>
        <p:nvSpPr>
          <p:cNvPr id="29" name="Shape 23"/>
          <p:cNvSpPr/>
          <p:nvPr/>
        </p:nvSpPr>
        <p:spPr>
          <a:xfrm>
            <a:off x="7635240" y="2697480"/>
            <a:ext cx="4007815" cy="3611880"/>
          </a:xfrm>
          <a:prstGeom prst="roundRect">
            <a:avLst>
              <a:gd name="adj" fmla="val 3038"/>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sp>
        <p:nvSpPr>
          <p:cNvPr id="30" name="Text 24"/>
          <p:cNvSpPr/>
          <p:nvPr/>
        </p:nvSpPr>
        <p:spPr>
          <a:xfrm>
            <a:off x="7891272" y="2880360"/>
            <a:ext cx="3495751" cy="228600"/>
          </a:xfrm>
          <a:prstGeom prst="rect">
            <a:avLst/>
          </a:prstGeom>
          <a:noFill/>
          <a:ln/>
        </p:spPr>
        <p:txBody>
          <a:bodyPr wrap="square" lIns="0" tIns="0" rIns="0" bIns="0" rtlCol="0" anchor="t"/>
          <a:lstStyle/>
          <a:p>
            <a:pPr indent="0" marL="0">
              <a:buNone/>
            </a:pPr>
            <a:r>
              <a:rPr lang="en-US" sz="950" b="1" spc="300" kern="0" dirty="0">
                <a:solidFill>
                  <a:srgbClr val="21763C"/>
                </a:solidFill>
                <a:latin typeface="Calibri" pitchFamily="34" charset="0"/>
                <a:ea typeface="Calibri" pitchFamily="34" charset="-122"/>
                <a:cs typeface="Calibri" pitchFamily="34" charset="-120"/>
              </a:rPr>
              <a:t>WHY THEY PAY</a:t>
            </a:r>
            <a:endParaRPr lang="en-US" sz="950" dirty="0"/>
          </a:p>
        </p:txBody>
      </p:sp>
      <p:sp>
        <p:nvSpPr>
          <p:cNvPr id="31" name="Text 25"/>
          <p:cNvSpPr/>
          <p:nvPr/>
        </p:nvSpPr>
        <p:spPr>
          <a:xfrm>
            <a:off x="7891272" y="3118104"/>
            <a:ext cx="3495751" cy="105156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Families managing parents and children want one place and a nominee.</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Outside papers photographed once, visible to every treating doctor.</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Explanations in plain language reduce calls to the clinic.</a:t>
            </a:r>
            <a:endParaRPr lang="en-US" sz="1000" dirty="0"/>
          </a:p>
        </p:txBody>
      </p:sp>
      <p:sp>
        <p:nvSpPr>
          <p:cNvPr id="32" name="Text 26"/>
          <p:cNvSpPr/>
          <p:nvPr/>
        </p:nvSpPr>
        <p:spPr>
          <a:xfrm>
            <a:off x="7891272" y="4233672"/>
            <a:ext cx="3495751" cy="228600"/>
          </a:xfrm>
          <a:prstGeom prst="rect">
            <a:avLst/>
          </a:prstGeom>
          <a:noFill/>
          <a:ln/>
        </p:spPr>
        <p:txBody>
          <a:bodyPr wrap="square" lIns="0" tIns="0" rIns="0" bIns="0" rtlCol="0" anchor="t"/>
          <a:lstStyle/>
          <a:p>
            <a:pPr indent="0" marL="0">
              <a:buNone/>
            </a:pPr>
            <a:r>
              <a:rPr lang="en-US" sz="950" b="1" spc="300" kern="0" dirty="0">
                <a:solidFill>
                  <a:srgbClr val="005D92"/>
                </a:solidFill>
                <a:latin typeface="Calibri" pitchFamily="34" charset="0"/>
                <a:ea typeface="Calibri" pitchFamily="34" charset="-122"/>
                <a:cs typeface="Calibri" pitchFamily="34" charset="-120"/>
              </a:rPr>
              <a:t>NEEDS FROM THE PRODUCT</a:t>
            </a:r>
            <a:endParaRPr lang="en-US" sz="950" dirty="0"/>
          </a:p>
        </p:txBody>
      </p:sp>
      <p:sp>
        <p:nvSpPr>
          <p:cNvPr id="33" name="Text 27"/>
          <p:cNvSpPr/>
          <p:nvPr/>
        </p:nvSpPr>
        <p:spPr>
          <a:xfrm>
            <a:off x="7891272" y="4471416"/>
            <a:ext cx="3495751" cy="64008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Guardian links and family profiles (designed).</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Document upload with malware scan and provenance (designed).</a:t>
            </a:r>
            <a:endParaRPr lang="en-US" sz="1000" dirty="0"/>
          </a:p>
        </p:txBody>
      </p:sp>
      <p:sp>
        <p:nvSpPr>
          <p:cNvPr id="34" name="Text 28"/>
          <p:cNvSpPr/>
          <p:nvPr/>
        </p:nvSpPr>
        <p:spPr>
          <a:xfrm>
            <a:off x="7891272" y="5166360"/>
            <a:ext cx="3495751" cy="228600"/>
          </a:xfrm>
          <a:prstGeom prst="rect">
            <a:avLst/>
          </a:prstGeom>
          <a:noFill/>
          <a:ln/>
        </p:spPr>
        <p:txBody>
          <a:bodyPr wrap="square" lIns="0" tIns="0" rIns="0" bIns="0" rtlCol="0" anchor="t"/>
          <a:lstStyle/>
          <a:p>
            <a:pPr indent="0" marL="0">
              <a:buNone/>
            </a:pPr>
            <a:r>
              <a:rPr lang="en-US" sz="950" b="1" spc="300" kern="0" dirty="0">
                <a:solidFill>
                  <a:srgbClr val="C53637"/>
                </a:solidFill>
                <a:latin typeface="Calibri" pitchFamily="34" charset="0"/>
                <a:ea typeface="Calibri" pitchFamily="34" charset="-122"/>
                <a:cs typeface="Calibri" pitchFamily="34" charset="-120"/>
              </a:rPr>
              <a:t>RISKS AND HOW WE HOLD THEM</a:t>
            </a:r>
            <a:endParaRPr lang="en-US" sz="950" dirty="0"/>
          </a:p>
        </p:txBody>
      </p:sp>
      <p:sp>
        <p:nvSpPr>
          <p:cNvPr id="35" name="Text 29"/>
          <p:cNvSpPr/>
          <p:nvPr/>
        </p:nvSpPr>
        <p:spPr>
          <a:xfrm>
            <a:off x="7891272" y="5404104"/>
            <a:ext cx="3495751" cy="822960"/>
          </a:xfrm>
          <a:prstGeom prst="rect">
            <a:avLst/>
          </a:prstGeom>
          <a:noFill/>
          <a:ln/>
        </p:spPr>
        <p:txBody>
          <a:bodyPr wrap="square" lIns="0" tIns="0" rIns="0" bIns="0" rtlCol="0" anchor="t"/>
          <a:lstStyle/>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Low willingness to pay: treat as retention; never gate rights.</a:t>
            </a:r>
            <a:endParaRPr lang="en-US" sz="1000" dirty="0"/>
          </a:p>
          <a:p>
            <a:pPr marL="342900" indent="-342900">
              <a:lnSpc>
                <a:spcPct val="106000"/>
              </a:lnSpc>
              <a:spcAft>
                <a:spcPts val="200"/>
              </a:spcAft>
              <a:buSzPct val="100000"/>
              <a:buChar char="•"/>
            </a:pPr>
            <a:r>
              <a:rPr lang="en-US" sz="1000" dirty="0">
                <a:solidFill>
                  <a:srgbClr val="3A4756"/>
                </a:solidFill>
                <a:latin typeface="Calibri" pitchFamily="34" charset="0"/>
                <a:ea typeface="Calibri" pitchFamily="34" charset="-122"/>
                <a:cs typeface="Calibri" pitchFamily="34" charset="-120"/>
              </a:rPr>
              <a:t>Data-rights requests route to the hospital’s grievance officer, not to a paid tier.</a:t>
            </a:r>
            <a:endParaRPr lang="en-US" sz="1000" dirty="0"/>
          </a:p>
        </p:txBody>
      </p:sp>
      <p:sp>
        <p:nvSpPr>
          <p:cNvPr id="36" name="Text 30"/>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MODELS 5 AND 6 · THE TWO CONTRACT SHAPES</a:t>
            </a:r>
            <a:endParaRPr lang="en-US" sz="1050" dirty="0"/>
          </a:p>
        </p:txBody>
      </p:sp>
      <p:sp>
        <p:nvSpPr>
          <p:cNvPr id="3" name="Text 1"/>
          <p:cNvSpPr/>
          <p:nvPr/>
        </p:nvSpPr>
        <p:spPr>
          <a:xfrm>
            <a:off x="548640" y="822960"/>
            <a:ext cx="11094415" cy="731520"/>
          </a:xfrm>
          <a:prstGeom prst="rect">
            <a:avLst/>
          </a:prstGeom>
          <a:noFill/>
          <a:ln/>
        </p:spPr>
        <p:txBody>
          <a:bodyPr wrap="square" lIns="0" tIns="0" rIns="0" bIns="0" rtlCol="0" anchor="t"/>
          <a:lstStyle/>
          <a:p>
            <a:pPr indent="0" marL="0">
              <a:buNone/>
            </a:pPr>
            <a:r>
              <a:rPr lang="en-US" sz="2800" dirty="0">
                <a:solidFill>
                  <a:srgbClr val="22303C"/>
                </a:solidFill>
                <a:latin typeface="Cambria" pitchFamily="34" charset="0"/>
                <a:ea typeface="Cambria" pitchFamily="34" charset="-122"/>
                <a:cs typeface="Cambria" pitchFamily="34" charset="-120"/>
              </a:rPr>
              <a:t>How a pilot becomes a contract, and how a network becomes a licence.</a:t>
            </a:r>
            <a:endParaRPr lang="en-US" sz="2800" dirty="0"/>
          </a:p>
        </p:txBody>
      </p:sp>
      <p:sp>
        <p:nvSpPr>
          <p:cNvPr id="4" name="Shape 2"/>
          <p:cNvSpPr/>
          <p:nvPr/>
        </p:nvSpPr>
        <p:spPr>
          <a:xfrm>
            <a:off x="548640" y="1691640"/>
            <a:ext cx="5387188" cy="4434840"/>
          </a:xfrm>
          <a:prstGeom prst="roundRect">
            <a:avLst>
              <a:gd name="adj" fmla="val 2474"/>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pic>
        <p:nvPicPr>
          <p:cNvPr id="5" name="Image 0" descr="preencoded.png">    </p:cNvPr>
          <p:cNvPicPr>
            <a:picLocks noChangeAspect="1"/>
          </p:cNvPicPr>
          <p:nvPr/>
        </p:nvPicPr>
        <p:blipFill>
          <a:blip r:embed="rId2"/>
          <a:stretch>
            <a:fillRect/>
          </a:stretch>
        </p:blipFill>
        <p:spPr>
          <a:xfrm>
            <a:off x="804672" y="1947672"/>
            <a:ext cx="457200" cy="457200"/>
          </a:xfrm>
          <a:prstGeom prst="rect">
            <a:avLst/>
          </a:prstGeom>
        </p:spPr>
      </p:pic>
      <p:sp>
        <p:nvSpPr>
          <p:cNvPr id="6" name="Text 3"/>
          <p:cNvSpPr/>
          <p:nvPr/>
        </p:nvSpPr>
        <p:spPr>
          <a:xfrm>
            <a:off x="1371600" y="1920240"/>
            <a:ext cx="4289908" cy="274320"/>
          </a:xfrm>
          <a:prstGeom prst="rect">
            <a:avLst/>
          </a:prstGeom>
          <a:noFill/>
          <a:ln/>
        </p:spPr>
        <p:txBody>
          <a:bodyPr wrap="square" lIns="0" tIns="0" rIns="0" bIns="0" rtlCol="0" anchor="t"/>
          <a:lstStyle/>
          <a:p>
            <a:pPr indent="0" marL="0">
              <a:buNone/>
            </a:pPr>
            <a:r>
              <a:rPr lang="en-US" sz="1500" b="1" dirty="0">
                <a:solidFill>
                  <a:srgbClr val="22303C"/>
                </a:solidFill>
                <a:latin typeface="Cambria" pitchFamily="34" charset="0"/>
                <a:ea typeface="Cambria" pitchFamily="34" charset="-122"/>
                <a:cs typeface="Cambria" pitchFamily="34" charset="-120"/>
              </a:rPr>
              <a:t>5 · Threshold-gated enterprise</a:t>
            </a:r>
            <a:endParaRPr lang="en-US" sz="1500" dirty="0"/>
          </a:p>
        </p:txBody>
      </p:sp>
      <p:sp>
        <p:nvSpPr>
          <p:cNvPr id="7" name="Text 4"/>
          <p:cNvSpPr/>
          <p:nvPr/>
        </p:nvSpPr>
        <p:spPr>
          <a:xfrm>
            <a:off x="1371600" y="2221992"/>
            <a:ext cx="4289908" cy="228600"/>
          </a:xfrm>
          <a:prstGeom prst="rect">
            <a:avLst/>
          </a:prstGeom>
          <a:noFill/>
          <a:ln/>
        </p:spPr>
        <p:txBody>
          <a:bodyPr wrap="square" lIns="0" tIns="0" rIns="0" bIns="0" rtlCol="0" anchor="t"/>
          <a:lstStyle/>
          <a:p>
            <a:pPr indent="0" marL="0">
              <a:buNone/>
            </a:pPr>
            <a:r>
              <a:rPr lang="en-US" sz="1000" dirty="0">
                <a:solidFill>
                  <a:srgbClr val="7D868E"/>
                </a:solidFill>
                <a:latin typeface="Calibri" pitchFamily="34" charset="0"/>
                <a:ea typeface="Calibri" pitchFamily="34" charset="-122"/>
                <a:cs typeface="Calibri" pitchFamily="34" charset="-120"/>
              </a:rPr>
              <a:t>Hospitals and clinic chains · the standard sales motion from year two</a:t>
            </a:r>
            <a:endParaRPr lang="en-US" sz="1000" dirty="0"/>
          </a:p>
        </p:txBody>
      </p:sp>
      <p:sp>
        <p:nvSpPr>
          <p:cNvPr id="8" name="Shape 5"/>
          <p:cNvSpPr/>
          <p:nvPr/>
        </p:nvSpPr>
        <p:spPr>
          <a:xfrm>
            <a:off x="804672" y="2624328"/>
            <a:ext cx="914400" cy="274320"/>
          </a:xfrm>
          <a:prstGeom prst="roundRect">
            <a:avLst>
              <a:gd name="adj" fmla="val 50000"/>
            </a:avLst>
          </a:prstGeom>
          <a:solidFill>
            <a:srgbClr val="DFEEF7"/>
          </a:solidFill>
          <a:ln w="12700">
            <a:solidFill>
              <a:srgbClr val="DFEEF7"/>
            </a:solidFill>
            <a:prstDash val="solid"/>
          </a:ln>
        </p:spPr>
      </p:sp>
      <p:sp>
        <p:nvSpPr>
          <p:cNvPr id="9" name="Text 6"/>
          <p:cNvSpPr/>
          <p:nvPr/>
        </p:nvSpPr>
        <p:spPr>
          <a:xfrm>
            <a:off x="804672" y="2624328"/>
            <a:ext cx="914400" cy="274320"/>
          </a:xfrm>
          <a:prstGeom prst="rect">
            <a:avLst/>
          </a:prstGeom>
          <a:noFill/>
          <a:ln/>
        </p:spPr>
        <p:txBody>
          <a:bodyPr wrap="square" lIns="0" tIns="0" rIns="0" bIns="0" rtlCol="0" anchor="ctr"/>
          <a:lstStyle/>
          <a:p>
            <a:pPr algn="ctr" indent="0" marL="0">
              <a:buNone/>
            </a:pPr>
            <a:r>
              <a:rPr lang="en-US" sz="950" b="1" dirty="0">
                <a:solidFill>
                  <a:srgbClr val="005D92"/>
                </a:solidFill>
                <a:latin typeface="Calibri" pitchFamily="34" charset="0"/>
                <a:ea typeface="Calibri" pitchFamily="34" charset="-122"/>
                <a:cs typeface="Calibri" pitchFamily="34" charset="-120"/>
              </a:rPr>
              <a:t>Week 0</a:t>
            </a:r>
            <a:endParaRPr lang="en-US" sz="950" dirty="0"/>
          </a:p>
        </p:txBody>
      </p:sp>
      <p:sp>
        <p:nvSpPr>
          <p:cNvPr id="10" name="Text 7"/>
          <p:cNvSpPr/>
          <p:nvPr/>
        </p:nvSpPr>
        <p:spPr>
          <a:xfrm>
            <a:off x="1874520" y="2606040"/>
            <a:ext cx="3786988" cy="7772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Flat pilot fee. Thresholds agreed with the clinical panel: scan-to-brief time, claim-level accuracy, consult minutes against a measured baseline.</a:t>
            </a:r>
            <a:endParaRPr lang="en-US" sz="1050" dirty="0"/>
          </a:p>
        </p:txBody>
      </p:sp>
      <p:sp>
        <p:nvSpPr>
          <p:cNvPr id="11" name="Shape 8"/>
          <p:cNvSpPr/>
          <p:nvPr/>
        </p:nvSpPr>
        <p:spPr>
          <a:xfrm>
            <a:off x="804672" y="3493008"/>
            <a:ext cx="914400" cy="274320"/>
          </a:xfrm>
          <a:prstGeom prst="roundRect">
            <a:avLst>
              <a:gd name="adj" fmla="val 50000"/>
            </a:avLst>
          </a:prstGeom>
          <a:solidFill>
            <a:srgbClr val="DFEEF7"/>
          </a:solidFill>
          <a:ln w="12700">
            <a:solidFill>
              <a:srgbClr val="DFEEF7"/>
            </a:solidFill>
            <a:prstDash val="solid"/>
          </a:ln>
        </p:spPr>
      </p:sp>
      <p:sp>
        <p:nvSpPr>
          <p:cNvPr id="12" name="Text 9"/>
          <p:cNvSpPr/>
          <p:nvPr/>
        </p:nvSpPr>
        <p:spPr>
          <a:xfrm>
            <a:off x="804672" y="3493008"/>
            <a:ext cx="914400" cy="274320"/>
          </a:xfrm>
          <a:prstGeom prst="rect">
            <a:avLst/>
          </a:prstGeom>
          <a:noFill/>
          <a:ln/>
        </p:spPr>
        <p:txBody>
          <a:bodyPr wrap="square" lIns="0" tIns="0" rIns="0" bIns="0" rtlCol="0" anchor="ctr"/>
          <a:lstStyle/>
          <a:p>
            <a:pPr algn="ctr" indent="0" marL="0">
              <a:buNone/>
            </a:pPr>
            <a:r>
              <a:rPr lang="en-US" sz="950" b="1" dirty="0">
                <a:solidFill>
                  <a:srgbClr val="005D92"/>
                </a:solidFill>
                <a:latin typeface="Calibri" pitchFamily="34" charset="0"/>
                <a:ea typeface="Calibri" pitchFamily="34" charset="-122"/>
                <a:cs typeface="Calibri" pitchFamily="34" charset="-120"/>
              </a:rPr>
              <a:t>Week 12</a:t>
            </a:r>
            <a:endParaRPr lang="en-US" sz="950" dirty="0"/>
          </a:p>
        </p:txBody>
      </p:sp>
      <p:sp>
        <p:nvSpPr>
          <p:cNvPr id="13" name="Text 10"/>
          <p:cNvSpPr/>
          <p:nvPr/>
        </p:nvSpPr>
        <p:spPr>
          <a:xfrm>
            <a:off x="1874520" y="3474720"/>
            <a:ext cx="3786988" cy="7772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Results reviewed against the thresholds. Enterprise contract unlocks only if they are met; otherwise the pilot ends cleanly with data exported.</a:t>
            </a:r>
            <a:endParaRPr lang="en-US" sz="1050" dirty="0"/>
          </a:p>
        </p:txBody>
      </p:sp>
      <p:sp>
        <p:nvSpPr>
          <p:cNvPr id="14" name="Shape 11"/>
          <p:cNvSpPr/>
          <p:nvPr/>
        </p:nvSpPr>
        <p:spPr>
          <a:xfrm>
            <a:off x="804672" y="4361688"/>
            <a:ext cx="914400" cy="274320"/>
          </a:xfrm>
          <a:prstGeom prst="roundRect">
            <a:avLst>
              <a:gd name="adj" fmla="val 50000"/>
            </a:avLst>
          </a:prstGeom>
          <a:solidFill>
            <a:srgbClr val="DFEEF7"/>
          </a:solidFill>
          <a:ln w="12700">
            <a:solidFill>
              <a:srgbClr val="DFEEF7"/>
            </a:solidFill>
            <a:prstDash val="solid"/>
          </a:ln>
        </p:spPr>
      </p:sp>
      <p:sp>
        <p:nvSpPr>
          <p:cNvPr id="15" name="Text 12"/>
          <p:cNvSpPr/>
          <p:nvPr/>
        </p:nvSpPr>
        <p:spPr>
          <a:xfrm>
            <a:off x="804672" y="4361688"/>
            <a:ext cx="914400" cy="274320"/>
          </a:xfrm>
          <a:prstGeom prst="rect">
            <a:avLst/>
          </a:prstGeom>
          <a:noFill/>
          <a:ln/>
        </p:spPr>
        <p:txBody>
          <a:bodyPr wrap="square" lIns="0" tIns="0" rIns="0" bIns="0" rtlCol="0" anchor="ctr"/>
          <a:lstStyle/>
          <a:p>
            <a:pPr algn="ctr" indent="0" marL="0">
              <a:buNone/>
            </a:pPr>
            <a:r>
              <a:rPr lang="en-US" sz="950" b="1" dirty="0">
                <a:solidFill>
                  <a:srgbClr val="005D92"/>
                </a:solidFill>
                <a:latin typeface="Calibri" pitchFamily="34" charset="0"/>
                <a:ea typeface="Calibri" pitchFamily="34" charset="-122"/>
                <a:cs typeface="Calibri" pitchFamily="34" charset="-120"/>
              </a:rPr>
              <a:t>Year 1 to 3</a:t>
            </a:r>
            <a:endParaRPr lang="en-US" sz="950" dirty="0"/>
          </a:p>
        </p:txBody>
      </p:sp>
      <p:sp>
        <p:nvSpPr>
          <p:cNvPr id="16" name="Text 13"/>
          <p:cNvSpPr/>
          <p:nvPr/>
        </p:nvSpPr>
        <p:spPr>
          <a:xfrm>
            <a:off x="1874520" y="4343400"/>
            <a:ext cx="3786988" cy="7772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Annual subscription at the hospital’s tier, seats and feeds added department by department, brief quota grown with usage.</a:t>
            </a:r>
            <a:endParaRPr lang="en-US" sz="1050" dirty="0"/>
          </a:p>
        </p:txBody>
      </p:sp>
      <p:sp>
        <p:nvSpPr>
          <p:cNvPr id="17" name="Text 14"/>
          <p:cNvSpPr/>
          <p:nvPr/>
        </p:nvSpPr>
        <p:spPr>
          <a:xfrm>
            <a:off x="804672" y="5303520"/>
            <a:ext cx="4875124" cy="777240"/>
          </a:xfrm>
          <a:prstGeom prst="rect">
            <a:avLst/>
          </a:prstGeom>
          <a:noFill/>
          <a:ln/>
        </p:spPr>
        <p:txBody>
          <a:bodyPr wrap="square" lIns="0" tIns="0" rIns="0" bIns="0" rtlCol="0" anchor="t"/>
          <a:lstStyle/>
          <a:p>
            <a:pPr indent="0" marL="0">
              <a:lnSpc>
                <a:spcPct val="112000"/>
              </a:lnSpc>
              <a:buNone/>
            </a:pPr>
            <a:r>
              <a:rPr lang="en-US" sz="1050" i="1" dirty="0">
                <a:solidFill>
                  <a:srgbClr val="5C6873"/>
                </a:solidFill>
                <a:latin typeface="Calibri" pitchFamily="34" charset="0"/>
                <a:ea typeface="Calibri" pitchFamily="34" charset="-122"/>
                <a:cs typeface="Calibri" pitchFamily="34" charset="-120"/>
              </a:rPr>
              <a:t>Why it works: the hospital buys measured results, not promises; we price the pilot to lose nothing if the thresholds fail. Risk: a hospital that never sets thresholds; the panel sets them in week 0 or the pilot does not start.</a:t>
            </a:r>
            <a:endParaRPr lang="en-US" sz="1050" dirty="0"/>
          </a:p>
        </p:txBody>
      </p:sp>
      <p:sp>
        <p:nvSpPr>
          <p:cNvPr id="18" name="Shape 15"/>
          <p:cNvSpPr/>
          <p:nvPr/>
        </p:nvSpPr>
        <p:spPr>
          <a:xfrm>
            <a:off x="6255868" y="1691640"/>
            <a:ext cx="5387188" cy="4434840"/>
          </a:xfrm>
          <a:prstGeom prst="roundRect">
            <a:avLst>
              <a:gd name="adj" fmla="val 2474"/>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pic>
        <p:nvPicPr>
          <p:cNvPr id="19" name="Image 1" descr="preencoded.png">    </p:cNvPr>
          <p:cNvPicPr>
            <a:picLocks noChangeAspect="1"/>
          </p:cNvPicPr>
          <p:nvPr/>
        </p:nvPicPr>
        <p:blipFill>
          <a:blip r:embed="rId3"/>
          <a:stretch>
            <a:fillRect/>
          </a:stretch>
        </p:blipFill>
        <p:spPr>
          <a:xfrm>
            <a:off x="6511900" y="1947672"/>
            <a:ext cx="457200" cy="457200"/>
          </a:xfrm>
          <a:prstGeom prst="rect">
            <a:avLst/>
          </a:prstGeom>
        </p:spPr>
      </p:pic>
      <p:sp>
        <p:nvSpPr>
          <p:cNvPr id="20" name="Text 16"/>
          <p:cNvSpPr/>
          <p:nvPr/>
        </p:nvSpPr>
        <p:spPr>
          <a:xfrm>
            <a:off x="7078828" y="1920240"/>
            <a:ext cx="4289908" cy="274320"/>
          </a:xfrm>
          <a:prstGeom prst="rect">
            <a:avLst/>
          </a:prstGeom>
          <a:noFill/>
          <a:ln/>
        </p:spPr>
        <p:txBody>
          <a:bodyPr wrap="square" lIns="0" tIns="0" rIns="0" bIns="0" rtlCol="0" anchor="t"/>
          <a:lstStyle/>
          <a:p>
            <a:pPr indent="0" marL="0">
              <a:buNone/>
            </a:pPr>
            <a:r>
              <a:rPr lang="en-US" sz="1500" b="1" dirty="0">
                <a:solidFill>
                  <a:srgbClr val="22303C"/>
                </a:solidFill>
                <a:latin typeface="Cambria" pitchFamily="34" charset="0"/>
                <a:ea typeface="Cambria" pitchFamily="34" charset="-122"/>
                <a:cs typeface="Cambria" pitchFamily="34" charset="-120"/>
              </a:rPr>
              <a:t>6 · Dedicated cell licence</a:t>
            </a:r>
            <a:endParaRPr lang="en-US" sz="1500" dirty="0"/>
          </a:p>
        </p:txBody>
      </p:sp>
      <p:sp>
        <p:nvSpPr>
          <p:cNvPr id="21" name="Text 17"/>
          <p:cNvSpPr/>
          <p:nvPr/>
        </p:nvSpPr>
        <p:spPr>
          <a:xfrm>
            <a:off x="7078828" y="2221992"/>
            <a:ext cx="4289908" cy="228600"/>
          </a:xfrm>
          <a:prstGeom prst="rect">
            <a:avLst/>
          </a:prstGeom>
          <a:noFill/>
          <a:ln/>
        </p:spPr>
        <p:txBody>
          <a:bodyPr wrap="square" lIns="0" tIns="0" rIns="0" bIns="0" rtlCol="0" anchor="t"/>
          <a:lstStyle/>
          <a:p>
            <a:pPr indent="0" marL="0">
              <a:buNone/>
            </a:pPr>
            <a:r>
              <a:rPr lang="en-US" sz="1000" dirty="0">
                <a:solidFill>
                  <a:srgbClr val="7D868E"/>
                </a:solidFill>
                <a:latin typeface="Calibri" pitchFamily="34" charset="0"/>
                <a:ea typeface="Calibri" pitchFamily="34" charset="-122"/>
                <a:cs typeface="Calibri" pitchFamily="34" charset="-120"/>
              </a:rPr>
              <a:t>Hospital networks, state missions, national platforms · dedicated tier</a:t>
            </a:r>
            <a:endParaRPr lang="en-US" sz="1000" dirty="0"/>
          </a:p>
        </p:txBody>
      </p:sp>
      <p:sp>
        <p:nvSpPr>
          <p:cNvPr id="22" name="Shape 18"/>
          <p:cNvSpPr/>
          <p:nvPr/>
        </p:nvSpPr>
        <p:spPr>
          <a:xfrm>
            <a:off x="6511900" y="2624328"/>
            <a:ext cx="1097280" cy="274320"/>
          </a:xfrm>
          <a:prstGeom prst="roundRect">
            <a:avLst>
              <a:gd name="adj" fmla="val 50000"/>
            </a:avLst>
          </a:prstGeom>
          <a:solidFill>
            <a:srgbClr val="E4DFD5"/>
          </a:solidFill>
          <a:ln w="12700">
            <a:solidFill>
              <a:srgbClr val="E4DFD5"/>
            </a:solidFill>
            <a:prstDash val="solid"/>
          </a:ln>
        </p:spPr>
      </p:sp>
      <p:sp>
        <p:nvSpPr>
          <p:cNvPr id="23" name="Text 19"/>
          <p:cNvSpPr/>
          <p:nvPr/>
        </p:nvSpPr>
        <p:spPr>
          <a:xfrm>
            <a:off x="6511900" y="2624328"/>
            <a:ext cx="1097280" cy="274320"/>
          </a:xfrm>
          <a:prstGeom prst="rect">
            <a:avLst/>
          </a:prstGeom>
          <a:noFill/>
          <a:ln/>
        </p:spPr>
        <p:txBody>
          <a:bodyPr wrap="square" lIns="0" tIns="0" rIns="0" bIns="0" rtlCol="0" anchor="ctr"/>
          <a:lstStyle/>
          <a:p>
            <a:pPr algn="ctr" indent="0" marL="0">
              <a:buNone/>
            </a:pPr>
            <a:r>
              <a:rPr lang="en-US" sz="950" b="1" dirty="0">
                <a:solidFill>
                  <a:srgbClr val="22303C"/>
                </a:solidFill>
                <a:latin typeface="Calibri" pitchFamily="34" charset="0"/>
                <a:ea typeface="Calibri" pitchFamily="34" charset="-122"/>
                <a:cs typeface="Calibri" pitchFamily="34" charset="-120"/>
              </a:rPr>
              <a:t>Licence</a:t>
            </a:r>
            <a:endParaRPr lang="en-US" sz="950" dirty="0"/>
          </a:p>
        </p:txBody>
      </p:sp>
      <p:sp>
        <p:nvSpPr>
          <p:cNvPr id="24" name="Text 20"/>
          <p:cNvSpPr/>
          <p:nvPr/>
        </p:nvSpPr>
        <p:spPr>
          <a:xfrm>
            <a:off x="7764628" y="2606040"/>
            <a:ext cx="3604108" cy="7772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Annual, per cell: own cluster, region pinned, customer-held keys optional, custom service levels, in-cell open-weight models for no-egress rules.</a:t>
            </a:r>
            <a:endParaRPr lang="en-US" sz="1050" dirty="0"/>
          </a:p>
        </p:txBody>
      </p:sp>
      <p:sp>
        <p:nvSpPr>
          <p:cNvPr id="25" name="Shape 21"/>
          <p:cNvSpPr/>
          <p:nvPr/>
        </p:nvSpPr>
        <p:spPr>
          <a:xfrm>
            <a:off x="6511900" y="3493008"/>
            <a:ext cx="1097280" cy="274320"/>
          </a:xfrm>
          <a:prstGeom prst="roundRect">
            <a:avLst>
              <a:gd name="adj" fmla="val 50000"/>
            </a:avLst>
          </a:prstGeom>
          <a:solidFill>
            <a:srgbClr val="E4DFD5"/>
          </a:solidFill>
          <a:ln w="12700">
            <a:solidFill>
              <a:srgbClr val="E4DFD5"/>
            </a:solidFill>
            <a:prstDash val="solid"/>
          </a:ln>
        </p:spPr>
      </p:sp>
      <p:sp>
        <p:nvSpPr>
          <p:cNvPr id="26" name="Text 22"/>
          <p:cNvSpPr/>
          <p:nvPr/>
        </p:nvSpPr>
        <p:spPr>
          <a:xfrm>
            <a:off x="6511900" y="3493008"/>
            <a:ext cx="1097280" cy="274320"/>
          </a:xfrm>
          <a:prstGeom prst="rect">
            <a:avLst/>
          </a:prstGeom>
          <a:noFill/>
          <a:ln/>
        </p:spPr>
        <p:txBody>
          <a:bodyPr wrap="square" lIns="0" tIns="0" rIns="0" bIns="0" rtlCol="0" anchor="ctr"/>
          <a:lstStyle/>
          <a:p>
            <a:pPr algn="ctr" indent="0" marL="0">
              <a:buNone/>
            </a:pPr>
            <a:r>
              <a:rPr lang="en-US" sz="950" b="1" dirty="0">
                <a:solidFill>
                  <a:srgbClr val="22303C"/>
                </a:solidFill>
                <a:latin typeface="Calibri" pitchFamily="34" charset="0"/>
                <a:ea typeface="Calibri" pitchFamily="34" charset="-122"/>
                <a:cs typeface="Calibri" pitchFamily="34" charset="-120"/>
              </a:rPr>
              <a:t>Implementation</a:t>
            </a:r>
            <a:endParaRPr lang="en-US" sz="950" dirty="0"/>
          </a:p>
        </p:txBody>
      </p:sp>
      <p:sp>
        <p:nvSpPr>
          <p:cNvPr id="27" name="Text 23"/>
          <p:cNvSpPr/>
          <p:nvPr/>
        </p:nvSpPr>
        <p:spPr>
          <a:xfrm>
            <a:off x="7764628" y="3474720"/>
            <a:ext cx="3604108" cy="7772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One-time: identity federation, ABHA linkage, professional-registry checks, feeds from each facility proven in sandbox.</a:t>
            </a:r>
            <a:endParaRPr lang="en-US" sz="1050" dirty="0"/>
          </a:p>
        </p:txBody>
      </p:sp>
      <p:sp>
        <p:nvSpPr>
          <p:cNvPr id="28" name="Shape 24"/>
          <p:cNvSpPr/>
          <p:nvPr/>
        </p:nvSpPr>
        <p:spPr>
          <a:xfrm>
            <a:off x="6511900" y="4361688"/>
            <a:ext cx="1097280" cy="274320"/>
          </a:xfrm>
          <a:prstGeom prst="roundRect">
            <a:avLst>
              <a:gd name="adj" fmla="val 50000"/>
            </a:avLst>
          </a:prstGeom>
          <a:solidFill>
            <a:srgbClr val="E4DFD5"/>
          </a:solidFill>
          <a:ln w="12700">
            <a:solidFill>
              <a:srgbClr val="E4DFD5"/>
            </a:solidFill>
            <a:prstDash val="solid"/>
          </a:ln>
        </p:spPr>
      </p:sp>
      <p:sp>
        <p:nvSpPr>
          <p:cNvPr id="29" name="Text 25"/>
          <p:cNvSpPr/>
          <p:nvPr/>
        </p:nvSpPr>
        <p:spPr>
          <a:xfrm>
            <a:off x="6511900" y="4361688"/>
            <a:ext cx="1097280" cy="274320"/>
          </a:xfrm>
          <a:prstGeom prst="rect">
            <a:avLst/>
          </a:prstGeom>
          <a:noFill/>
          <a:ln/>
        </p:spPr>
        <p:txBody>
          <a:bodyPr wrap="square" lIns="0" tIns="0" rIns="0" bIns="0" rtlCol="0" anchor="ctr"/>
          <a:lstStyle/>
          <a:p>
            <a:pPr algn="ctr" indent="0" marL="0">
              <a:buNone/>
            </a:pPr>
            <a:r>
              <a:rPr lang="en-US" sz="950" b="1" dirty="0">
                <a:solidFill>
                  <a:srgbClr val="22303C"/>
                </a:solidFill>
                <a:latin typeface="Calibri" pitchFamily="34" charset="0"/>
                <a:ea typeface="Calibri" pitchFamily="34" charset="-122"/>
                <a:cs typeface="Calibri" pitchFamily="34" charset="-120"/>
              </a:rPr>
              <a:t>Support</a:t>
            </a:r>
            <a:endParaRPr lang="en-US" sz="950" dirty="0"/>
          </a:p>
        </p:txBody>
      </p:sp>
      <p:sp>
        <p:nvSpPr>
          <p:cNvPr id="30" name="Text 26"/>
          <p:cNvSpPr/>
          <p:nvPr/>
        </p:nvSpPr>
        <p:spPr>
          <a:xfrm>
            <a:off x="7764628" y="4343400"/>
            <a:ext cx="3604108" cy="777240"/>
          </a:xfrm>
          <a:prstGeom prst="rect">
            <a:avLst/>
          </a:prstGeom>
          <a:noFill/>
          <a:ln/>
        </p:spPr>
        <p:txBody>
          <a:bodyPr wrap="square" lIns="0" tIns="0" rIns="0" bIns="0" rtlCol="0" anchor="t"/>
          <a:lstStyle/>
          <a:p>
            <a:pPr indent="0" marL="0">
              <a:lnSpc>
                <a:spcPct val="112000"/>
              </a:lnSpc>
              <a:buNone/>
            </a:pPr>
            <a:r>
              <a:rPr lang="en-US" sz="1050" dirty="0">
                <a:solidFill>
                  <a:srgbClr val="3A4756"/>
                </a:solidFill>
                <a:latin typeface="Calibri" pitchFamily="34" charset="0"/>
                <a:ea typeface="Calibri" pitchFamily="34" charset="-122"/>
                <a:cs typeface="Calibri" pitchFamily="34" charset="-120"/>
              </a:rPr>
              <a:t>Named support, restore drills, audit exports, quarterly review against the service levels.</a:t>
            </a:r>
            <a:endParaRPr lang="en-US" sz="1050" dirty="0"/>
          </a:p>
        </p:txBody>
      </p:sp>
      <p:sp>
        <p:nvSpPr>
          <p:cNvPr id="31" name="Text 27"/>
          <p:cNvSpPr/>
          <p:nvPr/>
        </p:nvSpPr>
        <p:spPr>
          <a:xfrm>
            <a:off x="6511900" y="5303520"/>
            <a:ext cx="4875124" cy="777240"/>
          </a:xfrm>
          <a:prstGeom prst="rect">
            <a:avLst/>
          </a:prstGeom>
          <a:noFill/>
          <a:ln/>
        </p:spPr>
        <p:txBody>
          <a:bodyPr wrap="square" lIns="0" tIns="0" rIns="0" bIns="0" rtlCol="0" anchor="t"/>
          <a:lstStyle/>
          <a:p>
            <a:pPr indent="0" marL="0">
              <a:lnSpc>
                <a:spcPct val="112000"/>
              </a:lnSpc>
              <a:buNone/>
            </a:pPr>
            <a:r>
              <a:rPr lang="en-US" sz="1050" i="1" dirty="0">
                <a:solidFill>
                  <a:srgbClr val="5C6873"/>
                </a:solidFill>
                <a:latin typeface="Calibri" pitchFamily="34" charset="0"/>
                <a:ea typeface="Calibri" pitchFamily="34" charset="-122"/>
                <a:cs typeface="Calibri" pitchFamily="34" charset="-120"/>
              </a:rPr>
              <a:t>Why it works: procurement buys residency, isolation and named accountability, which the dedicated tier is built for. Risk: long cycles and tender rules; pursued opportunistically, never as the plan of record for year one.</a:t>
            </a:r>
            <a:endParaRPr lang="en-US" sz="1050" dirty="0"/>
          </a:p>
        </p:txBody>
      </p:sp>
      <p:sp>
        <p:nvSpPr>
          <p:cNvPr id="32" name="Text 28"/>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MODELS 7 AND 8 · AFTER CONSENT TOOLING MATURES</a:t>
            </a:r>
            <a:endParaRPr lang="en-US" sz="1050" dirty="0"/>
          </a:p>
        </p:txBody>
      </p:sp>
      <p:sp>
        <p:nvSpPr>
          <p:cNvPr id="3" name="Text 1"/>
          <p:cNvSpPr/>
          <p:nvPr/>
        </p:nvSpPr>
        <p:spPr>
          <a:xfrm>
            <a:off x="548640" y="822960"/>
            <a:ext cx="11094415" cy="731520"/>
          </a:xfrm>
          <a:prstGeom prst="rect">
            <a:avLst/>
          </a:prstGeom>
          <a:noFill/>
          <a:ln/>
        </p:spPr>
        <p:txBody>
          <a:bodyPr wrap="square" lIns="0" tIns="0" rIns="0" bIns="0" rtlCol="0" anchor="t"/>
          <a:lstStyle/>
          <a:p>
            <a:pPr indent="0" marL="0">
              <a:buNone/>
            </a:pPr>
            <a:r>
              <a:rPr lang="en-US" sz="2600" dirty="0">
                <a:solidFill>
                  <a:srgbClr val="22303C"/>
                </a:solidFill>
                <a:latin typeface="Cambria" pitchFamily="34" charset="0"/>
                <a:ea typeface="Cambria" pitchFamily="34" charset="-122"/>
                <a:cs typeface="Cambria" pitchFamily="34" charset="-120"/>
              </a:rPr>
              <a:t>Consented access for insurers and partners, priced per retrieval, patient-approved per purpose.</a:t>
            </a:r>
            <a:endParaRPr lang="en-US" sz="2600" dirty="0"/>
          </a:p>
        </p:txBody>
      </p:sp>
      <p:sp>
        <p:nvSpPr>
          <p:cNvPr id="4" name="Shape 2"/>
          <p:cNvSpPr/>
          <p:nvPr/>
        </p:nvSpPr>
        <p:spPr>
          <a:xfrm>
            <a:off x="548640" y="1691640"/>
            <a:ext cx="5387188" cy="3840480"/>
          </a:xfrm>
          <a:prstGeom prst="roundRect">
            <a:avLst>
              <a:gd name="adj" fmla="val 2857"/>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pic>
        <p:nvPicPr>
          <p:cNvPr id="5" name="Image 0" descr="preencoded.png">    </p:cNvPr>
          <p:cNvPicPr>
            <a:picLocks noChangeAspect="1"/>
          </p:cNvPicPr>
          <p:nvPr/>
        </p:nvPicPr>
        <p:blipFill>
          <a:blip r:embed="rId2"/>
          <a:stretch>
            <a:fillRect/>
          </a:stretch>
        </p:blipFill>
        <p:spPr>
          <a:xfrm>
            <a:off x="804672" y="1947672"/>
            <a:ext cx="457200" cy="457200"/>
          </a:xfrm>
          <a:prstGeom prst="rect">
            <a:avLst/>
          </a:prstGeom>
        </p:spPr>
      </p:pic>
      <p:sp>
        <p:nvSpPr>
          <p:cNvPr id="6" name="Text 3"/>
          <p:cNvSpPr/>
          <p:nvPr/>
        </p:nvSpPr>
        <p:spPr>
          <a:xfrm>
            <a:off x="1371600" y="1920240"/>
            <a:ext cx="4289908" cy="274320"/>
          </a:xfrm>
          <a:prstGeom prst="rect">
            <a:avLst/>
          </a:prstGeom>
          <a:noFill/>
          <a:ln/>
        </p:spPr>
        <p:txBody>
          <a:bodyPr wrap="square" lIns="0" tIns="0" rIns="0" bIns="0" rtlCol="0" anchor="t"/>
          <a:lstStyle/>
          <a:p>
            <a:pPr indent="0" marL="0">
              <a:buNone/>
            </a:pPr>
            <a:r>
              <a:rPr lang="en-US" sz="1500" b="1" dirty="0">
                <a:solidFill>
                  <a:srgbClr val="22303C"/>
                </a:solidFill>
                <a:latin typeface="Cambria" pitchFamily="34" charset="0"/>
                <a:ea typeface="Cambria" pitchFamily="34" charset="-122"/>
                <a:cs typeface="Cambria" pitchFamily="34" charset="-120"/>
              </a:rPr>
              <a:t>7 · Consented data access</a:t>
            </a:r>
            <a:endParaRPr lang="en-US" sz="1500" dirty="0"/>
          </a:p>
        </p:txBody>
      </p:sp>
      <p:sp>
        <p:nvSpPr>
          <p:cNvPr id="7" name="Text 4"/>
          <p:cNvSpPr/>
          <p:nvPr/>
        </p:nvSpPr>
        <p:spPr>
          <a:xfrm>
            <a:off x="1371600" y="2221992"/>
            <a:ext cx="4289908" cy="228600"/>
          </a:xfrm>
          <a:prstGeom prst="rect">
            <a:avLst/>
          </a:prstGeom>
          <a:noFill/>
          <a:ln/>
        </p:spPr>
        <p:txBody>
          <a:bodyPr wrap="square" lIns="0" tIns="0" rIns="0" bIns="0" rtlCol="0" anchor="t"/>
          <a:lstStyle/>
          <a:p>
            <a:pPr indent="0" marL="0">
              <a:buNone/>
            </a:pPr>
            <a:r>
              <a:rPr lang="en-US" sz="1000" dirty="0">
                <a:solidFill>
                  <a:srgbClr val="7D868E"/>
                </a:solidFill>
                <a:latin typeface="Calibri" pitchFamily="34" charset="0"/>
                <a:ea typeface="Calibri" pitchFamily="34" charset="-122"/>
                <a:cs typeface="Calibri" pitchFamily="34" charset="-120"/>
              </a:rPr>
              <a:t>Insurers and TPAs · pre-authorisation and claims</a:t>
            </a:r>
            <a:endParaRPr lang="en-US" sz="1000" dirty="0"/>
          </a:p>
        </p:txBody>
      </p:sp>
      <p:sp>
        <p:nvSpPr>
          <p:cNvPr id="8" name="Text 5"/>
          <p:cNvSpPr/>
          <p:nvPr/>
        </p:nvSpPr>
        <p:spPr>
          <a:xfrm>
            <a:off x="804672" y="2606040"/>
            <a:ext cx="4875124" cy="219456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Unit: one consented retrieval of a defined record set for a stated purpose.</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The patient approves each purpose on the phone; the grant is scoped by category and duration and expires on its own.</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Every retrieval is in the append-only audit log the patient can read; the hospital sees the same log.</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Revenue shared with the hospital that created the records, so the fiduciary is paid for its data, not bypassed.</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Why they pay: days off a pre-authorisation, fewer document chases, less fraud.</a:t>
            </a:r>
            <a:endParaRPr lang="en-US" sz="1050" dirty="0"/>
          </a:p>
        </p:txBody>
      </p:sp>
      <p:sp>
        <p:nvSpPr>
          <p:cNvPr id="9" name="Text 6"/>
          <p:cNvSpPr/>
          <p:nvPr/>
        </p:nvSpPr>
        <p:spPr>
          <a:xfrm>
            <a:off x="804672" y="4892040"/>
            <a:ext cx="4875124" cy="548640"/>
          </a:xfrm>
          <a:prstGeom prst="rect">
            <a:avLst/>
          </a:prstGeom>
          <a:noFill/>
          <a:ln/>
        </p:spPr>
        <p:txBody>
          <a:bodyPr wrap="square" lIns="0" tIns="0" rIns="0" bIns="0" rtlCol="0" anchor="t"/>
          <a:lstStyle/>
          <a:p>
            <a:pPr indent="0" marL="0">
              <a:lnSpc>
                <a:spcPct val="112000"/>
              </a:lnSpc>
              <a:buNone/>
            </a:pPr>
            <a:r>
              <a:rPr lang="en-US" sz="1050" i="1" dirty="0">
                <a:solidFill>
                  <a:srgbClr val="5C6873"/>
                </a:solidFill>
                <a:latin typeface="Calibri" pitchFamily="34" charset="0"/>
                <a:ea typeface="Calibri" pitchFamily="34" charset="-122"/>
                <a:cs typeface="Calibri" pitchFamily="34" charset="-120"/>
              </a:rPr>
              <a:t>Gate: DPDPA legal review of purpose limitation, and the consent marketplace the design lists as a future capability.</a:t>
            </a:r>
            <a:endParaRPr lang="en-US" sz="1050" dirty="0"/>
          </a:p>
        </p:txBody>
      </p:sp>
      <p:sp>
        <p:nvSpPr>
          <p:cNvPr id="10" name="Shape 7"/>
          <p:cNvSpPr/>
          <p:nvPr/>
        </p:nvSpPr>
        <p:spPr>
          <a:xfrm>
            <a:off x="6255868" y="1691640"/>
            <a:ext cx="5387188" cy="3840480"/>
          </a:xfrm>
          <a:prstGeom prst="roundRect">
            <a:avLst>
              <a:gd name="adj" fmla="val 2857"/>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pic>
        <p:nvPicPr>
          <p:cNvPr id="11" name="Image 1" descr="preencoded.png">    </p:cNvPr>
          <p:cNvPicPr>
            <a:picLocks noChangeAspect="1"/>
          </p:cNvPicPr>
          <p:nvPr/>
        </p:nvPicPr>
        <p:blipFill>
          <a:blip r:embed="rId3"/>
          <a:stretch>
            <a:fillRect/>
          </a:stretch>
        </p:blipFill>
        <p:spPr>
          <a:xfrm>
            <a:off x="6511900" y="1947672"/>
            <a:ext cx="457200" cy="457200"/>
          </a:xfrm>
          <a:prstGeom prst="rect">
            <a:avLst/>
          </a:prstGeom>
        </p:spPr>
      </p:pic>
      <p:sp>
        <p:nvSpPr>
          <p:cNvPr id="12" name="Text 8"/>
          <p:cNvSpPr/>
          <p:nvPr/>
        </p:nvSpPr>
        <p:spPr>
          <a:xfrm>
            <a:off x="7078828" y="1920240"/>
            <a:ext cx="4289908" cy="274320"/>
          </a:xfrm>
          <a:prstGeom prst="rect">
            <a:avLst/>
          </a:prstGeom>
          <a:noFill/>
          <a:ln/>
        </p:spPr>
        <p:txBody>
          <a:bodyPr wrap="square" lIns="0" tIns="0" rIns="0" bIns="0" rtlCol="0" anchor="t"/>
          <a:lstStyle/>
          <a:p>
            <a:pPr indent="0" marL="0">
              <a:buNone/>
            </a:pPr>
            <a:r>
              <a:rPr lang="en-US" sz="1500" b="1" dirty="0">
                <a:solidFill>
                  <a:srgbClr val="22303C"/>
                </a:solidFill>
                <a:latin typeface="Cambria" pitchFamily="34" charset="0"/>
                <a:ea typeface="Cambria" pitchFamily="34" charset="-122"/>
                <a:cs typeface="Cambria" pitchFamily="34" charset="-120"/>
              </a:rPr>
              <a:t>8 · API platform</a:t>
            </a:r>
            <a:endParaRPr lang="en-US" sz="1500" dirty="0"/>
          </a:p>
        </p:txBody>
      </p:sp>
      <p:sp>
        <p:nvSpPr>
          <p:cNvPr id="13" name="Text 9"/>
          <p:cNvSpPr/>
          <p:nvPr/>
        </p:nvSpPr>
        <p:spPr>
          <a:xfrm>
            <a:off x="7078828" y="2221992"/>
            <a:ext cx="4289908" cy="228600"/>
          </a:xfrm>
          <a:prstGeom prst="rect">
            <a:avLst/>
          </a:prstGeom>
          <a:noFill/>
          <a:ln/>
        </p:spPr>
        <p:txBody>
          <a:bodyPr wrap="square" lIns="0" tIns="0" rIns="0" bIns="0" rtlCol="0" anchor="t"/>
          <a:lstStyle/>
          <a:p>
            <a:pPr indent="0" marL="0">
              <a:buNone/>
            </a:pPr>
            <a:r>
              <a:rPr lang="en-US" sz="1000" dirty="0">
                <a:solidFill>
                  <a:srgbClr val="7D868E"/>
                </a:solidFill>
                <a:latin typeface="Calibri" pitchFamily="34" charset="0"/>
                <a:ea typeface="Calibri" pitchFamily="34" charset="-122"/>
                <a:cs typeface="Calibri" pitchFamily="34" charset="-120"/>
              </a:rPr>
              <a:t>Pharmacy, telemedicine, home care, wellness · partner applications</a:t>
            </a:r>
            <a:endParaRPr lang="en-US" sz="1000" dirty="0"/>
          </a:p>
        </p:txBody>
      </p:sp>
      <p:sp>
        <p:nvSpPr>
          <p:cNvPr id="14" name="Text 10"/>
          <p:cNvSpPr/>
          <p:nvPr/>
        </p:nvSpPr>
        <p:spPr>
          <a:xfrm>
            <a:off x="6511900" y="2606040"/>
            <a:ext cx="4875124" cy="219456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Unit: monthly platform access plus per-call pricing on consented reads and signed writes.</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FHIR-aligned records API, webhooks for events the patient has allowed the partner to receive.</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Partners never see more than the patient granted; tenant isolation and rate limits apply per partner.</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Certification tier for partners that write back, so a pharmacy dispensing record lands on the timeline with provenance.</a:t>
            </a:r>
            <a:endParaRPr lang="en-US" sz="1050" dirty="0"/>
          </a:p>
          <a:p>
            <a:pPr marL="342900" indent="-342900">
              <a:lnSpc>
                <a:spcPct val="110000"/>
              </a:lnSpc>
              <a:spcAft>
                <a:spcPts val="400"/>
              </a:spcAft>
              <a:buSzPct val="100000"/>
              <a:buChar char="•"/>
            </a:pPr>
            <a:r>
              <a:rPr lang="en-US" sz="1050" dirty="0">
                <a:solidFill>
                  <a:srgbClr val="3A4756"/>
                </a:solidFill>
                <a:latin typeface="Calibri" pitchFamily="34" charset="0"/>
                <a:ea typeface="Calibri" pitchFamily="34" charset="-122"/>
                <a:cs typeface="Calibri" pitchFamily="34" charset="-120"/>
              </a:rPr>
              <a:t>Why they pay: one integration reaches every hospital and lab on the platform.</a:t>
            </a:r>
            <a:endParaRPr lang="en-US" sz="1050" dirty="0"/>
          </a:p>
        </p:txBody>
      </p:sp>
      <p:sp>
        <p:nvSpPr>
          <p:cNvPr id="15" name="Text 11"/>
          <p:cNvSpPr/>
          <p:nvPr/>
        </p:nvSpPr>
        <p:spPr>
          <a:xfrm>
            <a:off x="6511900" y="4892040"/>
            <a:ext cx="4875124" cy="548640"/>
          </a:xfrm>
          <a:prstGeom prst="rect">
            <a:avLst/>
          </a:prstGeom>
          <a:noFill/>
          <a:ln/>
        </p:spPr>
        <p:txBody>
          <a:bodyPr wrap="square" lIns="0" tIns="0" rIns="0" bIns="0" rtlCol="0" anchor="t"/>
          <a:lstStyle/>
          <a:p>
            <a:pPr indent="0" marL="0">
              <a:lnSpc>
                <a:spcPct val="112000"/>
              </a:lnSpc>
              <a:buNone/>
            </a:pPr>
            <a:r>
              <a:rPr lang="en-US" sz="1050" i="1" dirty="0">
                <a:solidFill>
                  <a:srgbClr val="5C6873"/>
                </a:solidFill>
                <a:latin typeface="Calibri" pitchFamily="34" charset="0"/>
                <a:ea typeface="Calibri" pitchFamily="34" charset="-122"/>
                <a:cs typeface="Calibri" pitchFamily="34" charset="-120"/>
              </a:rPr>
              <a:t>Gate: the full interoperability surface is post-pilot in the architecture; pharmacy and insurance integrations are explicitly deferred from the MVP.</a:t>
            </a:r>
            <a:endParaRPr lang="en-US" sz="1050" dirty="0"/>
          </a:p>
        </p:txBody>
      </p:sp>
      <p:sp>
        <p:nvSpPr>
          <p:cNvPr id="16" name="Shape 12"/>
          <p:cNvSpPr/>
          <p:nvPr/>
        </p:nvSpPr>
        <p:spPr>
          <a:xfrm>
            <a:off x="548640" y="5760720"/>
            <a:ext cx="11094415" cy="548640"/>
          </a:xfrm>
          <a:prstGeom prst="roundRect">
            <a:avLst>
              <a:gd name="adj" fmla="val 20000"/>
            </a:avLst>
          </a:prstGeom>
          <a:solidFill>
            <a:srgbClr val="FFE7E4"/>
          </a:solidFill>
          <a:ln w="9525">
            <a:solidFill>
              <a:srgbClr val="FFE7E4"/>
            </a:solidFill>
            <a:prstDash val="solid"/>
          </a:ln>
        </p:spPr>
      </p:sp>
      <p:sp>
        <p:nvSpPr>
          <p:cNvPr id="17" name="Text 13"/>
          <p:cNvSpPr/>
          <p:nvPr/>
        </p:nvSpPr>
        <p:spPr>
          <a:xfrm>
            <a:off x="822960" y="5760720"/>
            <a:ext cx="10545775" cy="548640"/>
          </a:xfrm>
          <a:prstGeom prst="rect">
            <a:avLst/>
          </a:prstGeom>
          <a:noFill/>
          <a:ln/>
        </p:spPr>
        <p:txBody>
          <a:bodyPr wrap="square" lIns="0" tIns="0" rIns="0" bIns="0" rtlCol="0" anchor="ctr"/>
          <a:lstStyle/>
          <a:p>
            <a:pPr indent="0" marL="0">
              <a:buNone/>
            </a:pPr>
            <a:r>
              <a:rPr lang="en-US" sz="1100" dirty="0">
                <a:solidFill>
                  <a:srgbClr val="8D1A1E"/>
                </a:solidFill>
                <a:latin typeface="Calibri" pitchFamily="34" charset="0"/>
                <a:ea typeface="Calibri" pitchFamily="34" charset="-122"/>
                <a:cs typeface="Calibri" pitchFamily="34" charset="-120"/>
              </a:rPr>
              <a:t>Neither model sells patient data. Both sell a consented, audited retrieval the patient can see and revoke. If the legal review says otherwise, they do not ship.</a:t>
            </a:r>
            <a:endParaRPr lang="en-US" sz="1100" dirty="0"/>
          </a:p>
        </p:txBody>
      </p:sp>
      <p:sp>
        <p:nvSpPr>
          <p:cNvPr id="18" name="Text 14"/>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PRICING ARCHITECTURE</a:t>
            </a:r>
            <a:endParaRPr lang="en-US" sz="1050" dirty="0"/>
          </a:p>
        </p:txBody>
      </p:sp>
      <p:sp>
        <p:nvSpPr>
          <p:cNvPr id="3" name="Text 1"/>
          <p:cNvSpPr/>
          <p:nvPr/>
        </p:nvSpPr>
        <p:spPr>
          <a:xfrm>
            <a:off x="548640" y="822960"/>
            <a:ext cx="11094415" cy="731520"/>
          </a:xfrm>
          <a:prstGeom prst="rect">
            <a:avLst/>
          </a:prstGeom>
          <a:noFill/>
          <a:ln/>
        </p:spPr>
        <p:txBody>
          <a:bodyPr wrap="square" lIns="0" tIns="0" rIns="0" bIns="0" rtlCol="0" anchor="t"/>
          <a:lstStyle/>
          <a:p>
            <a:pPr indent="0" marL="0">
              <a:buNone/>
            </a:pPr>
            <a:r>
              <a:rPr lang="en-US" sz="2800" dirty="0">
                <a:solidFill>
                  <a:srgbClr val="22303C"/>
                </a:solidFill>
                <a:latin typeface="Cambria" pitchFamily="34" charset="0"/>
                <a:ea typeface="Cambria" pitchFamily="34" charset="-122"/>
                <a:cs typeface="Cambria" pitchFamily="34" charset="-120"/>
              </a:rPr>
              <a:t>How a bill is built. Structure now, numbers in the term sheet.</a:t>
            </a:r>
            <a:endParaRPr lang="en-US" sz="2800" dirty="0"/>
          </a:p>
        </p:txBody>
      </p:sp>
      <p:sp>
        <p:nvSpPr>
          <p:cNvPr id="4" name="Shape 2"/>
          <p:cNvSpPr/>
          <p:nvPr/>
        </p:nvSpPr>
        <p:spPr>
          <a:xfrm>
            <a:off x="548640" y="1737360"/>
            <a:ext cx="3515258" cy="3566160"/>
          </a:xfrm>
          <a:prstGeom prst="roundRect">
            <a:avLst>
              <a:gd name="adj" fmla="val 3121"/>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pic>
        <p:nvPicPr>
          <p:cNvPr id="5" name="Image 0" descr="preencoded.png">    </p:cNvPr>
          <p:cNvPicPr>
            <a:picLocks noChangeAspect="1"/>
          </p:cNvPicPr>
          <p:nvPr/>
        </p:nvPicPr>
        <p:blipFill>
          <a:blip r:embed="rId2"/>
          <a:stretch>
            <a:fillRect/>
          </a:stretch>
        </p:blipFill>
        <p:spPr>
          <a:xfrm>
            <a:off x="804672" y="1993392"/>
            <a:ext cx="457200" cy="457200"/>
          </a:xfrm>
          <a:prstGeom prst="rect">
            <a:avLst/>
          </a:prstGeom>
        </p:spPr>
      </p:pic>
      <p:sp>
        <p:nvSpPr>
          <p:cNvPr id="6" name="Text 3"/>
          <p:cNvSpPr/>
          <p:nvPr/>
        </p:nvSpPr>
        <p:spPr>
          <a:xfrm>
            <a:off x="1371600" y="2066544"/>
            <a:ext cx="2463698" cy="320040"/>
          </a:xfrm>
          <a:prstGeom prst="rect">
            <a:avLst/>
          </a:prstGeom>
          <a:noFill/>
          <a:ln/>
        </p:spPr>
        <p:txBody>
          <a:bodyPr wrap="square" lIns="0" tIns="0" rIns="0" bIns="0" rtlCol="0" anchor="t"/>
          <a:lstStyle/>
          <a:p>
            <a:pPr indent="0" marL="0">
              <a:buNone/>
            </a:pPr>
            <a:r>
              <a:rPr lang="en-US" sz="1400" b="1" dirty="0">
                <a:solidFill>
                  <a:srgbClr val="22303C"/>
                </a:solidFill>
                <a:latin typeface="Cambria" pitchFamily="34" charset="0"/>
                <a:ea typeface="Cambria" pitchFamily="34" charset="-122"/>
                <a:cs typeface="Cambria" pitchFamily="34" charset="-120"/>
              </a:rPr>
              <a:t>Hospital, per month</a:t>
            </a:r>
            <a:endParaRPr lang="en-US" sz="1400" dirty="0"/>
          </a:p>
        </p:txBody>
      </p:sp>
      <p:sp>
        <p:nvSpPr>
          <p:cNvPr id="7" name="Shape 4"/>
          <p:cNvSpPr/>
          <p:nvPr/>
        </p:nvSpPr>
        <p:spPr>
          <a:xfrm>
            <a:off x="804672" y="2697480"/>
            <a:ext cx="3003194" cy="457200"/>
          </a:xfrm>
          <a:prstGeom prst="roundRect">
            <a:avLst>
              <a:gd name="adj" fmla="val 12000"/>
            </a:avLst>
          </a:prstGeom>
          <a:solidFill>
            <a:srgbClr val="0072A8"/>
          </a:solidFill>
          <a:ln w="12700">
            <a:solidFill>
              <a:srgbClr val="0072A8"/>
            </a:solidFill>
            <a:prstDash val="solid"/>
          </a:ln>
        </p:spPr>
      </p:sp>
      <p:sp>
        <p:nvSpPr>
          <p:cNvPr id="8" name="Text 5"/>
          <p:cNvSpPr/>
          <p:nvPr/>
        </p:nvSpPr>
        <p:spPr>
          <a:xfrm>
            <a:off x="932688" y="2697480"/>
            <a:ext cx="2747162"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Platform fee for the tier</a:t>
            </a:r>
            <a:endParaRPr lang="en-US" sz="1050" dirty="0"/>
          </a:p>
        </p:txBody>
      </p:sp>
      <p:sp>
        <p:nvSpPr>
          <p:cNvPr id="9" name="Shape 6"/>
          <p:cNvSpPr/>
          <p:nvPr/>
        </p:nvSpPr>
        <p:spPr>
          <a:xfrm>
            <a:off x="804672" y="3209544"/>
            <a:ext cx="3003194" cy="457200"/>
          </a:xfrm>
          <a:prstGeom prst="roundRect">
            <a:avLst>
              <a:gd name="adj" fmla="val 12000"/>
            </a:avLst>
          </a:prstGeom>
          <a:solidFill>
            <a:srgbClr val="F4F1EA"/>
          </a:solidFill>
          <a:ln w="12700">
            <a:solidFill>
              <a:srgbClr val="F4F1EA"/>
            </a:solidFill>
            <a:prstDash val="solid"/>
          </a:ln>
        </p:spPr>
      </p:sp>
      <p:sp>
        <p:nvSpPr>
          <p:cNvPr id="10" name="Text 7"/>
          <p:cNvSpPr/>
          <p:nvPr/>
        </p:nvSpPr>
        <p:spPr>
          <a:xfrm>
            <a:off x="932688" y="3209544"/>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 active clinician seats × seat price</a:t>
            </a:r>
            <a:endParaRPr lang="en-US" sz="1050" dirty="0"/>
          </a:p>
        </p:txBody>
      </p:sp>
      <p:sp>
        <p:nvSpPr>
          <p:cNvPr id="11" name="Shape 8"/>
          <p:cNvSpPr/>
          <p:nvPr/>
        </p:nvSpPr>
        <p:spPr>
          <a:xfrm>
            <a:off x="804672" y="3721608"/>
            <a:ext cx="3003194" cy="457200"/>
          </a:xfrm>
          <a:prstGeom prst="roundRect">
            <a:avLst>
              <a:gd name="adj" fmla="val 12000"/>
            </a:avLst>
          </a:prstGeom>
          <a:solidFill>
            <a:srgbClr val="F4F1EA"/>
          </a:solidFill>
          <a:ln w="12700">
            <a:solidFill>
              <a:srgbClr val="F4F1EA"/>
            </a:solidFill>
            <a:prstDash val="solid"/>
          </a:ln>
        </p:spPr>
      </p:sp>
      <p:sp>
        <p:nvSpPr>
          <p:cNvPr id="12" name="Text 9"/>
          <p:cNvSpPr/>
          <p:nvPr/>
        </p:nvSpPr>
        <p:spPr>
          <a:xfrm>
            <a:off x="932688" y="3721608"/>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 briefs above quota × brief price</a:t>
            </a:r>
            <a:endParaRPr lang="en-US" sz="1050" dirty="0"/>
          </a:p>
        </p:txBody>
      </p:sp>
      <p:sp>
        <p:nvSpPr>
          <p:cNvPr id="13" name="Shape 10"/>
          <p:cNvSpPr/>
          <p:nvPr/>
        </p:nvSpPr>
        <p:spPr>
          <a:xfrm>
            <a:off x="804672" y="4233672"/>
            <a:ext cx="3003194" cy="457200"/>
          </a:xfrm>
          <a:prstGeom prst="roundRect">
            <a:avLst>
              <a:gd name="adj" fmla="val 12000"/>
            </a:avLst>
          </a:prstGeom>
          <a:solidFill>
            <a:srgbClr val="F4F1EA"/>
          </a:solidFill>
          <a:ln w="12700">
            <a:solidFill>
              <a:srgbClr val="F4F1EA"/>
            </a:solidFill>
            <a:prstDash val="solid"/>
          </a:ln>
        </p:spPr>
      </p:sp>
      <p:sp>
        <p:nvSpPr>
          <p:cNvPr id="14" name="Text 11"/>
          <p:cNvSpPr/>
          <p:nvPr/>
        </p:nvSpPr>
        <p:spPr>
          <a:xfrm>
            <a:off x="932688" y="4233672"/>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 one-time fee per feed connected</a:t>
            </a:r>
            <a:endParaRPr lang="en-US" sz="1050" dirty="0"/>
          </a:p>
        </p:txBody>
      </p:sp>
      <p:sp>
        <p:nvSpPr>
          <p:cNvPr id="15" name="Shape 12"/>
          <p:cNvSpPr/>
          <p:nvPr/>
        </p:nvSpPr>
        <p:spPr>
          <a:xfrm>
            <a:off x="804672" y="4745736"/>
            <a:ext cx="3003194" cy="457200"/>
          </a:xfrm>
          <a:prstGeom prst="roundRect">
            <a:avLst>
              <a:gd name="adj" fmla="val 12000"/>
            </a:avLst>
          </a:prstGeom>
          <a:solidFill>
            <a:srgbClr val="F4F1EA"/>
          </a:solidFill>
          <a:ln w="12700">
            <a:solidFill>
              <a:srgbClr val="F4F1EA"/>
            </a:solidFill>
            <a:prstDash val="solid"/>
          </a:ln>
        </p:spPr>
      </p:sp>
      <p:sp>
        <p:nvSpPr>
          <p:cNvPr id="16" name="Text 13"/>
          <p:cNvSpPr/>
          <p:nvPr/>
        </p:nvSpPr>
        <p:spPr>
          <a:xfrm>
            <a:off x="932688" y="4745736"/>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 in-cell model line, dedicated tier only</a:t>
            </a:r>
            <a:endParaRPr lang="en-US" sz="1050" dirty="0"/>
          </a:p>
        </p:txBody>
      </p:sp>
      <p:sp>
        <p:nvSpPr>
          <p:cNvPr id="17" name="Shape 14"/>
          <p:cNvSpPr/>
          <p:nvPr/>
        </p:nvSpPr>
        <p:spPr>
          <a:xfrm>
            <a:off x="4338218" y="1737360"/>
            <a:ext cx="3515258" cy="3566160"/>
          </a:xfrm>
          <a:prstGeom prst="roundRect">
            <a:avLst>
              <a:gd name="adj" fmla="val 3121"/>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pic>
        <p:nvPicPr>
          <p:cNvPr id="18" name="Image 1" descr="preencoded.png">    </p:cNvPr>
          <p:cNvPicPr>
            <a:picLocks noChangeAspect="1"/>
          </p:cNvPicPr>
          <p:nvPr/>
        </p:nvPicPr>
        <p:blipFill>
          <a:blip r:embed="rId3"/>
          <a:stretch>
            <a:fillRect/>
          </a:stretch>
        </p:blipFill>
        <p:spPr>
          <a:xfrm>
            <a:off x="4594250" y="1993392"/>
            <a:ext cx="457200" cy="457200"/>
          </a:xfrm>
          <a:prstGeom prst="rect">
            <a:avLst/>
          </a:prstGeom>
        </p:spPr>
      </p:pic>
      <p:sp>
        <p:nvSpPr>
          <p:cNvPr id="19" name="Text 15"/>
          <p:cNvSpPr/>
          <p:nvPr/>
        </p:nvSpPr>
        <p:spPr>
          <a:xfrm>
            <a:off x="5161178" y="2066544"/>
            <a:ext cx="2463698" cy="320040"/>
          </a:xfrm>
          <a:prstGeom prst="rect">
            <a:avLst/>
          </a:prstGeom>
          <a:noFill/>
          <a:ln/>
        </p:spPr>
        <p:txBody>
          <a:bodyPr wrap="square" lIns="0" tIns="0" rIns="0" bIns="0" rtlCol="0" anchor="t"/>
          <a:lstStyle/>
          <a:p>
            <a:pPr indent="0" marL="0">
              <a:buNone/>
            </a:pPr>
            <a:r>
              <a:rPr lang="en-US" sz="1400" b="1" dirty="0">
                <a:solidFill>
                  <a:srgbClr val="22303C"/>
                </a:solidFill>
                <a:latin typeface="Cambria" pitchFamily="34" charset="0"/>
                <a:ea typeface="Cambria" pitchFamily="34" charset="-122"/>
                <a:cs typeface="Cambria" pitchFamily="34" charset="-120"/>
              </a:rPr>
              <a:t>Lab or imaging chain, per month</a:t>
            </a:r>
            <a:endParaRPr lang="en-US" sz="1400" dirty="0"/>
          </a:p>
        </p:txBody>
      </p:sp>
      <p:sp>
        <p:nvSpPr>
          <p:cNvPr id="20" name="Shape 16"/>
          <p:cNvSpPr/>
          <p:nvPr/>
        </p:nvSpPr>
        <p:spPr>
          <a:xfrm>
            <a:off x="4594250" y="2697480"/>
            <a:ext cx="3003194" cy="457200"/>
          </a:xfrm>
          <a:prstGeom prst="roundRect">
            <a:avLst>
              <a:gd name="adj" fmla="val 12000"/>
            </a:avLst>
          </a:prstGeom>
          <a:solidFill>
            <a:srgbClr val="0072A8"/>
          </a:solidFill>
          <a:ln w="12700">
            <a:solidFill>
              <a:srgbClr val="0072A8"/>
            </a:solidFill>
            <a:prstDash val="solid"/>
          </a:ln>
        </p:spPr>
      </p:sp>
      <p:sp>
        <p:nvSpPr>
          <p:cNvPr id="21" name="Text 17"/>
          <p:cNvSpPr/>
          <p:nvPr/>
        </p:nvSpPr>
        <p:spPr>
          <a:xfrm>
            <a:off x="4722266" y="2697480"/>
            <a:ext cx="2747162"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Finalised reports delivered × report price, banded by volume</a:t>
            </a:r>
            <a:endParaRPr lang="en-US" sz="1050" dirty="0"/>
          </a:p>
        </p:txBody>
      </p:sp>
      <p:sp>
        <p:nvSpPr>
          <p:cNvPr id="22" name="Shape 18"/>
          <p:cNvSpPr/>
          <p:nvPr/>
        </p:nvSpPr>
        <p:spPr>
          <a:xfrm>
            <a:off x="4594250" y="3209544"/>
            <a:ext cx="3003194" cy="457200"/>
          </a:xfrm>
          <a:prstGeom prst="roundRect">
            <a:avLst>
              <a:gd name="adj" fmla="val 12000"/>
            </a:avLst>
          </a:prstGeom>
          <a:solidFill>
            <a:srgbClr val="F4F1EA"/>
          </a:solidFill>
          <a:ln w="12700">
            <a:solidFill>
              <a:srgbClr val="F4F1EA"/>
            </a:solidFill>
            <a:prstDash val="solid"/>
          </a:ln>
        </p:spPr>
      </p:sp>
      <p:sp>
        <p:nvSpPr>
          <p:cNvPr id="23" name="Text 19"/>
          <p:cNvSpPr/>
          <p:nvPr/>
        </p:nvSpPr>
        <p:spPr>
          <a:xfrm>
            <a:off x="4722266" y="3209544"/>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 one-time feed fee</a:t>
            </a:r>
            <a:endParaRPr lang="en-US" sz="1050" dirty="0"/>
          </a:p>
        </p:txBody>
      </p:sp>
      <p:sp>
        <p:nvSpPr>
          <p:cNvPr id="24" name="Shape 20"/>
          <p:cNvSpPr/>
          <p:nvPr/>
        </p:nvSpPr>
        <p:spPr>
          <a:xfrm>
            <a:off x="4594250" y="3721608"/>
            <a:ext cx="3003194" cy="457200"/>
          </a:xfrm>
          <a:prstGeom prst="roundRect">
            <a:avLst>
              <a:gd name="adj" fmla="val 12000"/>
            </a:avLst>
          </a:prstGeom>
          <a:solidFill>
            <a:srgbClr val="F4F1EA"/>
          </a:solidFill>
          <a:ln w="12700">
            <a:solidFill>
              <a:srgbClr val="F4F1EA"/>
            </a:solidFill>
            <a:prstDash val="solid"/>
          </a:ln>
        </p:spPr>
      </p:sp>
      <p:sp>
        <p:nvSpPr>
          <p:cNvPr id="25" name="Text 21"/>
          <p:cNvSpPr/>
          <p:nvPr/>
        </p:nvSpPr>
        <p:spPr>
          <a:xfrm>
            <a:off x="4722266" y="3721608"/>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No seats, no brief charges</a:t>
            </a:r>
            <a:endParaRPr lang="en-US" sz="1050" dirty="0"/>
          </a:p>
        </p:txBody>
      </p:sp>
      <p:sp>
        <p:nvSpPr>
          <p:cNvPr id="26" name="Shape 22"/>
          <p:cNvSpPr/>
          <p:nvPr/>
        </p:nvSpPr>
        <p:spPr>
          <a:xfrm>
            <a:off x="4594250" y="4233672"/>
            <a:ext cx="3003194" cy="457200"/>
          </a:xfrm>
          <a:prstGeom prst="roundRect">
            <a:avLst>
              <a:gd name="adj" fmla="val 12000"/>
            </a:avLst>
          </a:prstGeom>
          <a:solidFill>
            <a:srgbClr val="F4F1EA"/>
          </a:solidFill>
          <a:ln w="12700">
            <a:solidFill>
              <a:srgbClr val="F4F1EA"/>
            </a:solidFill>
            <a:prstDash val="solid"/>
          </a:ln>
        </p:spPr>
      </p:sp>
      <p:sp>
        <p:nvSpPr>
          <p:cNvPr id="27" name="Text 23"/>
          <p:cNvSpPr/>
          <p:nvPr/>
        </p:nvSpPr>
        <p:spPr>
          <a:xfrm>
            <a:off x="4722266" y="4233672"/>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Discount when bundled with a hospital in the same network</a:t>
            </a:r>
            <a:endParaRPr lang="en-US" sz="1050" dirty="0"/>
          </a:p>
        </p:txBody>
      </p:sp>
      <p:sp>
        <p:nvSpPr>
          <p:cNvPr id="28" name="Shape 24"/>
          <p:cNvSpPr/>
          <p:nvPr/>
        </p:nvSpPr>
        <p:spPr>
          <a:xfrm>
            <a:off x="8127797" y="1737360"/>
            <a:ext cx="3515258" cy="3566160"/>
          </a:xfrm>
          <a:prstGeom prst="roundRect">
            <a:avLst>
              <a:gd name="adj" fmla="val 3121"/>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pic>
        <p:nvPicPr>
          <p:cNvPr id="29" name="Image 2" descr="preencoded.png">    </p:cNvPr>
          <p:cNvPicPr>
            <a:picLocks noChangeAspect="1"/>
          </p:cNvPicPr>
          <p:nvPr/>
        </p:nvPicPr>
        <p:blipFill>
          <a:blip r:embed="rId4"/>
          <a:stretch>
            <a:fillRect/>
          </a:stretch>
        </p:blipFill>
        <p:spPr>
          <a:xfrm>
            <a:off x="8383829" y="1993392"/>
            <a:ext cx="457200" cy="457200"/>
          </a:xfrm>
          <a:prstGeom prst="rect">
            <a:avLst/>
          </a:prstGeom>
        </p:spPr>
      </p:pic>
      <p:sp>
        <p:nvSpPr>
          <p:cNvPr id="30" name="Text 25"/>
          <p:cNvSpPr/>
          <p:nvPr/>
        </p:nvSpPr>
        <p:spPr>
          <a:xfrm>
            <a:off x="8950757" y="2066544"/>
            <a:ext cx="2463698" cy="320040"/>
          </a:xfrm>
          <a:prstGeom prst="rect">
            <a:avLst/>
          </a:prstGeom>
          <a:noFill/>
          <a:ln/>
        </p:spPr>
        <p:txBody>
          <a:bodyPr wrap="square" lIns="0" tIns="0" rIns="0" bIns="0" rtlCol="0" anchor="t"/>
          <a:lstStyle/>
          <a:p>
            <a:pPr indent="0" marL="0">
              <a:buNone/>
            </a:pPr>
            <a:r>
              <a:rPr lang="en-US" sz="1400" b="1" dirty="0">
                <a:solidFill>
                  <a:srgbClr val="22303C"/>
                </a:solidFill>
                <a:latin typeface="Cambria" pitchFamily="34" charset="0"/>
                <a:ea typeface="Cambria" pitchFamily="34" charset="-122"/>
                <a:cs typeface="Cambria" pitchFamily="34" charset="-120"/>
              </a:rPr>
              <a:t>Network or government, per year</a:t>
            </a:r>
            <a:endParaRPr lang="en-US" sz="1400" dirty="0"/>
          </a:p>
        </p:txBody>
      </p:sp>
      <p:sp>
        <p:nvSpPr>
          <p:cNvPr id="31" name="Shape 26"/>
          <p:cNvSpPr/>
          <p:nvPr/>
        </p:nvSpPr>
        <p:spPr>
          <a:xfrm>
            <a:off x="8383829" y="2697480"/>
            <a:ext cx="3003194" cy="457200"/>
          </a:xfrm>
          <a:prstGeom prst="roundRect">
            <a:avLst>
              <a:gd name="adj" fmla="val 12000"/>
            </a:avLst>
          </a:prstGeom>
          <a:solidFill>
            <a:srgbClr val="0072A8"/>
          </a:solidFill>
          <a:ln w="12700">
            <a:solidFill>
              <a:srgbClr val="0072A8"/>
            </a:solidFill>
            <a:prstDash val="solid"/>
          </a:ln>
        </p:spPr>
      </p:sp>
      <p:sp>
        <p:nvSpPr>
          <p:cNvPr id="32" name="Text 27"/>
          <p:cNvSpPr/>
          <p:nvPr/>
        </p:nvSpPr>
        <p:spPr>
          <a:xfrm>
            <a:off x="8511845" y="2697480"/>
            <a:ext cx="2747162"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Annual cell licence</a:t>
            </a:r>
            <a:endParaRPr lang="en-US" sz="1050" dirty="0"/>
          </a:p>
        </p:txBody>
      </p:sp>
      <p:sp>
        <p:nvSpPr>
          <p:cNvPr id="33" name="Shape 28"/>
          <p:cNvSpPr/>
          <p:nvPr/>
        </p:nvSpPr>
        <p:spPr>
          <a:xfrm>
            <a:off x="8383829" y="3209544"/>
            <a:ext cx="3003194" cy="457200"/>
          </a:xfrm>
          <a:prstGeom prst="roundRect">
            <a:avLst>
              <a:gd name="adj" fmla="val 12000"/>
            </a:avLst>
          </a:prstGeom>
          <a:solidFill>
            <a:srgbClr val="F4F1EA"/>
          </a:solidFill>
          <a:ln w="12700">
            <a:solidFill>
              <a:srgbClr val="F4F1EA"/>
            </a:solidFill>
            <a:prstDash val="solid"/>
          </a:ln>
        </p:spPr>
      </p:sp>
      <p:sp>
        <p:nvSpPr>
          <p:cNvPr id="34" name="Text 29"/>
          <p:cNvSpPr/>
          <p:nvPr/>
        </p:nvSpPr>
        <p:spPr>
          <a:xfrm>
            <a:off x="8511845" y="3209544"/>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 one-time implementation</a:t>
            </a:r>
            <a:endParaRPr lang="en-US" sz="1050" dirty="0"/>
          </a:p>
        </p:txBody>
      </p:sp>
      <p:sp>
        <p:nvSpPr>
          <p:cNvPr id="35" name="Shape 30"/>
          <p:cNvSpPr/>
          <p:nvPr/>
        </p:nvSpPr>
        <p:spPr>
          <a:xfrm>
            <a:off x="8383829" y="3721608"/>
            <a:ext cx="3003194" cy="457200"/>
          </a:xfrm>
          <a:prstGeom prst="roundRect">
            <a:avLst>
              <a:gd name="adj" fmla="val 12000"/>
            </a:avLst>
          </a:prstGeom>
          <a:solidFill>
            <a:srgbClr val="F4F1EA"/>
          </a:solidFill>
          <a:ln w="12700">
            <a:solidFill>
              <a:srgbClr val="F4F1EA"/>
            </a:solidFill>
            <a:prstDash val="solid"/>
          </a:ln>
        </p:spPr>
      </p:sp>
      <p:sp>
        <p:nvSpPr>
          <p:cNvPr id="36" name="Text 31"/>
          <p:cNvSpPr/>
          <p:nvPr/>
        </p:nvSpPr>
        <p:spPr>
          <a:xfrm>
            <a:off x="8511845" y="3721608"/>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 named support and service-level review</a:t>
            </a:r>
            <a:endParaRPr lang="en-US" sz="1050" dirty="0"/>
          </a:p>
        </p:txBody>
      </p:sp>
      <p:sp>
        <p:nvSpPr>
          <p:cNvPr id="37" name="Shape 32"/>
          <p:cNvSpPr/>
          <p:nvPr/>
        </p:nvSpPr>
        <p:spPr>
          <a:xfrm>
            <a:off x="8383829" y="4233672"/>
            <a:ext cx="3003194" cy="457200"/>
          </a:xfrm>
          <a:prstGeom prst="roundRect">
            <a:avLst>
              <a:gd name="adj" fmla="val 12000"/>
            </a:avLst>
          </a:prstGeom>
          <a:solidFill>
            <a:srgbClr val="F4F1EA"/>
          </a:solidFill>
          <a:ln w="12700">
            <a:solidFill>
              <a:srgbClr val="F4F1EA"/>
            </a:solidFill>
            <a:prstDash val="solid"/>
          </a:ln>
        </p:spPr>
      </p:sp>
      <p:sp>
        <p:nvSpPr>
          <p:cNvPr id="38" name="Text 33"/>
          <p:cNvSpPr/>
          <p:nvPr/>
        </p:nvSpPr>
        <p:spPr>
          <a:xfrm>
            <a:off x="8511845" y="4233672"/>
            <a:ext cx="2747162" cy="457200"/>
          </a:xfrm>
          <a:prstGeom prst="rect">
            <a:avLst/>
          </a:prstGeom>
          <a:noFill/>
          <a:ln/>
        </p:spPr>
        <p:txBody>
          <a:bodyPr wrap="square" lIns="0" tIns="0" rIns="0" bIns="0" rtlCol="0" anchor="ctr"/>
          <a:lstStyle/>
          <a:p>
            <a:pPr indent="0" marL="0">
              <a:buNone/>
            </a:pPr>
            <a:r>
              <a:rPr lang="en-US" sz="1050" dirty="0">
                <a:solidFill>
                  <a:srgbClr val="22303C"/>
                </a:solidFill>
                <a:latin typeface="Calibri" pitchFamily="34" charset="0"/>
                <a:ea typeface="Calibri" pitchFamily="34" charset="-122"/>
                <a:cs typeface="Calibri" pitchFamily="34" charset="-120"/>
              </a:rPr>
              <a:t>Seats and briefs included up to a negotiated envelope</a:t>
            </a:r>
            <a:endParaRPr lang="en-US" sz="1050" dirty="0"/>
          </a:p>
        </p:txBody>
      </p:sp>
      <p:sp>
        <p:nvSpPr>
          <p:cNvPr id="39" name="Shape 34"/>
          <p:cNvSpPr/>
          <p:nvPr/>
        </p:nvSpPr>
        <p:spPr>
          <a:xfrm>
            <a:off x="548640" y="5532120"/>
            <a:ext cx="11094415" cy="777240"/>
          </a:xfrm>
          <a:prstGeom prst="roundRect">
            <a:avLst>
              <a:gd name="adj" fmla="val 14118"/>
            </a:avLst>
          </a:prstGeom>
          <a:solidFill>
            <a:srgbClr val="DFEEF7"/>
          </a:solidFill>
          <a:ln w="9525">
            <a:solidFill>
              <a:srgbClr val="DFEEF7"/>
            </a:solidFill>
            <a:prstDash val="solid"/>
          </a:ln>
        </p:spPr>
      </p:sp>
      <p:sp>
        <p:nvSpPr>
          <p:cNvPr id="40" name="Text 35"/>
          <p:cNvSpPr/>
          <p:nvPr/>
        </p:nvSpPr>
        <p:spPr>
          <a:xfrm>
            <a:off x="822960" y="5532120"/>
            <a:ext cx="10545775" cy="777240"/>
          </a:xfrm>
          <a:prstGeom prst="rect">
            <a:avLst/>
          </a:prstGeom>
          <a:noFill/>
          <a:ln/>
        </p:spPr>
        <p:txBody>
          <a:bodyPr wrap="square" lIns="0" tIns="0" rIns="0" bIns="0" rtlCol="0" anchor="ctr"/>
          <a:lstStyle/>
          <a:p>
            <a:pPr indent="0" marL="0">
              <a:lnSpc>
                <a:spcPct val="112000"/>
              </a:lnSpc>
              <a:buNone/>
            </a:pPr>
            <a:r>
              <a:rPr lang="en-US" sz="1150" dirty="0">
                <a:solidFill>
                  <a:srgbClr val="22303C"/>
                </a:solidFill>
                <a:latin typeface="Calibri" pitchFamily="34" charset="0"/>
                <a:ea typeface="Calibri" pitchFamily="34" charset="-122"/>
                <a:cs typeface="Calibri" pitchFamily="34" charset="-120"/>
              </a:rPr>
              <a:t>Three rules. Seats are counted on use, never on payroll. Brief price is a pass-through of model cost plus a published margin. Nothing the patient does is ever on any bill.</a:t>
            </a:r>
            <a:endParaRPr lang="en-US" sz="1150" dirty="0"/>
          </a:p>
        </p:txBody>
      </p:sp>
      <p:sp>
        <p:nvSpPr>
          <p:cNvPr id="41" name="Text 36"/>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SIDE BY SIDE</a:t>
            </a:r>
            <a:endParaRPr lang="en-US" sz="1050" dirty="0"/>
          </a:p>
        </p:txBody>
      </p:sp>
      <p:sp>
        <p:nvSpPr>
          <p:cNvPr id="3" name="Text 1"/>
          <p:cNvSpPr/>
          <p:nvPr/>
        </p:nvSpPr>
        <p:spPr>
          <a:xfrm>
            <a:off x="548640" y="822960"/>
            <a:ext cx="11094415" cy="640080"/>
          </a:xfrm>
          <a:prstGeom prst="rect">
            <a:avLst/>
          </a:prstGeom>
          <a:noFill/>
          <a:ln/>
        </p:spPr>
        <p:txBody>
          <a:bodyPr wrap="square" lIns="0" tIns="0" rIns="0" bIns="0" rtlCol="0" anchor="t"/>
          <a:lstStyle/>
          <a:p>
            <a:pPr indent="0" marL="0">
              <a:buNone/>
            </a:pPr>
            <a:r>
              <a:rPr lang="en-US" sz="3000" dirty="0">
                <a:solidFill>
                  <a:srgbClr val="22303C"/>
                </a:solidFill>
                <a:latin typeface="Cambria" pitchFamily="34" charset="0"/>
                <a:ea typeface="Cambria" pitchFamily="34" charset="-122"/>
                <a:cs typeface="Cambria" pitchFamily="34" charset="-120"/>
              </a:rPr>
              <a:t>Eight models, one page.</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737360"/>
                <a:gridCol w="1371600"/>
                <a:gridCol w="1234440"/>
                <a:gridCol w="2240280"/>
                <a:gridCol w="1325880"/>
                <a:gridCol w="1463040"/>
                <a:gridCol w="1719072"/>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a:t>
                      </a:r>
                      <a:endParaRPr lang="en-US" sz="1050" dirty="0">
                        <a:latin typeface="Calibri" charset="0"/>
                        <a:ea typeface="Calibri" charset="0"/>
                        <a:cs typeface="Calibri" charset="0"/>
                      </a:endParaRPr>
                    </a:p>
                  </a:txBody>
                  <a:tcPr marL="76200" marR="762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Who pays</a:t>
                      </a:r>
                      <a:endParaRPr lang="en-US" sz="1050" dirty="0">
                        <a:latin typeface="Calibri" charset="0"/>
                        <a:ea typeface="Calibri" charset="0"/>
                        <a:cs typeface="Calibri" charset="0"/>
                      </a:endParaRPr>
                    </a:p>
                  </a:txBody>
                  <a:tcPr marL="76200" marR="762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Unit</a:t>
                      </a:r>
                      <a:endParaRPr lang="en-US" sz="1050" dirty="0">
                        <a:latin typeface="Calibri" charset="0"/>
                        <a:ea typeface="Calibri" charset="0"/>
                        <a:cs typeface="Calibri" charset="0"/>
                      </a:endParaRPr>
                    </a:p>
                  </a:txBody>
                  <a:tcPr marL="76200" marR="762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Product readiness</a:t>
                      </a:r>
                      <a:endParaRPr lang="en-US" sz="1050" dirty="0">
                        <a:latin typeface="Calibri" charset="0"/>
                        <a:ea typeface="Calibri" charset="0"/>
                        <a:cs typeface="Calibri" charset="0"/>
                      </a:endParaRPr>
                    </a:p>
                  </a:txBody>
                  <a:tcPr marL="76200" marR="762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Time to revenue</a:t>
                      </a:r>
                      <a:endParaRPr lang="en-US" sz="1050" dirty="0">
                        <a:latin typeface="Calibri" charset="0"/>
                        <a:ea typeface="Calibri" charset="0"/>
                        <a:cs typeface="Calibri" charset="0"/>
                      </a:endParaRPr>
                    </a:p>
                  </a:txBody>
                  <a:tcPr marL="76200" marR="762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Margin profile</a:t>
                      </a:r>
                      <a:endParaRPr lang="en-US" sz="1050" dirty="0">
                        <a:latin typeface="Calibri" charset="0"/>
                        <a:ea typeface="Calibri" charset="0"/>
                        <a:cs typeface="Calibri" charset="0"/>
                      </a:endParaRPr>
                    </a:p>
                  </a:txBody>
                  <a:tcPr marL="76200" marR="762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Main risk</a:t>
                      </a:r>
                      <a:endParaRPr lang="en-US" sz="1050" dirty="0">
                        <a:latin typeface="Calibri" charset="0"/>
                        <a:ea typeface="Calibri" charset="0"/>
                        <a:cs typeface="Calibri" charset="0"/>
                      </a:endParaRPr>
                    </a:p>
                  </a:txBody>
                  <a:tcPr marL="76200" marR="76200" marT="50800" marB="508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0072A8"/>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1 · Subscription by tier</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Hospital</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Tenant + seats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Designed: pooled and siloed in MVP</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D1F2D7"/>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Pilot end</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High, recurring</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Seat under-counting</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2 · Metered briefs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Hospital</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Brief</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Designed: metering in control plane</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D1F2D7"/>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Pilot end</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Pass-through + margin</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Provider price moves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3 · Per report</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Lab, imaging chain</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Finalised report</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Designed: report sync flow</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D1F2D7"/>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Months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Medium, volume-banded</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Thin lab margins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4 · Patient plan</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Patient (optional)</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Family plan</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Partly designed: guardian links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DE4BB"/>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Year 2</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Low; retention</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Willingness to pay</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5 · Threshold-gated</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Hospital</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Annual contract</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Commercial motion</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DE4BB"/>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Week 12 of pilot</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High, recurring</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No thresholds set</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6 · Cell licence</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Network, government</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Annual licence</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Dedicated tier post-MVP</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Year 2</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High, lumpy</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Procurement cycles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7 · Consented access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Insurer, TPA</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Retrieval</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Future: consent marketplace</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Year 3</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High per unit</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Legal review</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005D92"/>
                          </a:solidFill>
                          <a:latin typeface="Calibri" pitchFamily="34" charset="0"/>
                          <a:ea typeface="Calibri" pitchFamily="34" charset="-122"/>
                          <a:cs typeface="Calibri" pitchFamily="34" charset="-120"/>
                        </a:rPr>
                        <a:t>8 · API platform</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Partner apps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Access + calls</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Post-pilot interoperability</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Year 3</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c>
                  <a:txBody>
                    <a:bodyPr/>
                    <a:lstStyle/>
                    <a:p>
                      <a:pPr indent="0" marL="0">
                        <a:buNone/>
                      </a:pPr>
                      <a:r>
                        <a:rPr lang="en-US" sz="1000" dirty="0">
                          <a:solidFill>
                            <a:srgbClr val="3A4756"/>
                          </a:solidFill>
                          <a:latin typeface="Calibri" pitchFamily="34" charset="0"/>
                          <a:ea typeface="Calibri" pitchFamily="34" charset="-122"/>
                          <a:cs typeface="Calibri" pitchFamily="34" charset="-120"/>
                        </a:rPr>
                        <a:t>Partner write-back quality</a:t>
                      </a:r>
                      <a:endParaRPr lang="en-US" sz="1000" dirty="0">
                        <a:latin typeface="Calibri" charset="0"/>
                        <a:ea typeface="Calibri" charset="0"/>
                        <a:cs typeface="Calibri" charset="0"/>
                      </a:endParaRPr>
                    </a:p>
                  </a:txBody>
                  <a:tcPr marL="76200" marR="76200" marT="38100" marB="38100" anchor="ctr">
                    <a:lnL w="9525" cap="flat" cmpd="sng" algn="ctr">
                      <a:solidFill>
                        <a:srgbClr val="ECE7DD"/>
                      </a:solidFill>
                      <a:prstDash val="solid"/>
                      <a:round/>
                      <a:headEnd type="none" w="med" len="med"/>
                      <a:tailEnd type="none" w="med" len="med"/>
                    </a:lnL>
                    <a:lnR w="9525" cap="flat" cmpd="sng" algn="ctr">
                      <a:solidFill>
                        <a:srgbClr val="ECE7DD"/>
                      </a:solidFill>
                      <a:prstDash val="solid"/>
                      <a:round/>
                      <a:headEnd type="none" w="med" len="med"/>
                      <a:tailEnd type="none" w="med" len="med"/>
                    </a:lnR>
                    <a:lnT w="9525" cap="flat" cmpd="sng" algn="ctr">
                      <a:solidFill>
                        <a:srgbClr val="ECE7DD"/>
                      </a:solidFill>
                      <a:prstDash val="solid"/>
                      <a:round/>
                      <a:headEnd type="none" w="med" len="med"/>
                      <a:tailEnd type="none" w="med" len="med"/>
                    </a:lnT>
                    <a:lnB w="9525" cap="flat" cmpd="sng" algn="ctr">
                      <a:solidFill>
                        <a:srgbClr val="ECE7DD"/>
                      </a:solidFill>
                      <a:prstDash val="solid"/>
                      <a:round/>
                      <a:headEnd type="none" w="med" len="med"/>
                      <a:tailEnd type="none" w="med" len="med"/>
                    </a:lnB>
                    <a:solidFill>
                      <a:srgbClr val="F4F1EA"/>
                    </a:solidFill>
                  </a:tcPr>
                </a:tc>
              </a:tr>
            </a:tbl>
          </a:graphicData>
        </a:graphic>
      </p:graphicFrame>
      <p:sp>
        <p:nvSpPr>
          <p:cNvPr id="5" name="Text 2"/>
          <p:cNvSpPr/>
          <p:nvPr/>
        </p:nvSpPr>
        <p:spPr>
          <a:xfrm>
            <a:off x="548640" y="5943600"/>
            <a:ext cx="11094415" cy="274320"/>
          </a:xfrm>
          <a:prstGeom prst="rect">
            <a:avLst/>
          </a:prstGeom>
          <a:noFill/>
          <a:ln/>
        </p:spPr>
        <p:txBody>
          <a:bodyPr wrap="square" lIns="0" tIns="0" rIns="0" bIns="0" rtlCol="0" anchor="t"/>
          <a:lstStyle/>
          <a:p>
            <a:pPr indent="0" marL="0">
              <a:buNone/>
            </a:pPr>
            <a:r>
              <a:rPr lang="en-US" sz="1000" i="1" dirty="0">
                <a:solidFill>
                  <a:srgbClr val="5C6873"/>
                </a:solidFill>
                <a:latin typeface="Calibri" pitchFamily="34" charset="0"/>
                <a:ea typeface="Calibri" pitchFamily="34" charset="-122"/>
                <a:cs typeface="Calibri" pitchFamily="34" charset="-120"/>
              </a:rPr>
              <a:t>Readiness colour: green is designed into the current architecture; amber is partly designed or a commercial motion; grey is a future capability.</a:t>
            </a:r>
            <a:endParaRPr lang="en-US" sz="1000" dirty="0"/>
          </a:p>
        </p:txBody>
      </p:sp>
      <p:sp>
        <p:nvSpPr>
          <p:cNvPr id="6" name="Text 3"/>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7F1"/>
        </a:solidFill>
      </p:bgPr>
    </p:bg>
    <p:spTree>
      <p:nvGrpSpPr>
        <p:cNvPr id="1" name=""/>
        <p:cNvGrpSpPr/>
        <p:nvPr/>
      </p:nvGrpSpPr>
      <p:grpSpPr/>
      <p:sp>
        <p:nvSpPr>
          <p:cNvPr id="2" name="Text 0"/>
          <p:cNvSpPr/>
          <p:nvPr/>
        </p:nvSpPr>
        <p:spPr>
          <a:xfrm>
            <a:off x="548640" y="502920"/>
            <a:ext cx="7315200" cy="274320"/>
          </a:xfrm>
          <a:prstGeom prst="rect">
            <a:avLst/>
          </a:prstGeom>
          <a:noFill/>
          <a:ln/>
        </p:spPr>
        <p:txBody>
          <a:bodyPr wrap="square" lIns="0" tIns="0" rIns="0" bIns="0" rtlCol="0" anchor="t"/>
          <a:lstStyle/>
          <a:p>
            <a:pPr indent="0" marL="0">
              <a:buNone/>
            </a:pPr>
            <a:r>
              <a:rPr lang="en-US" sz="1050" b="1" spc="300" kern="0" dirty="0">
                <a:solidFill>
                  <a:srgbClr val="0072A8"/>
                </a:solidFill>
                <a:latin typeface="Calibri" pitchFamily="34" charset="0"/>
                <a:ea typeface="Calibri" pitchFamily="34" charset="-122"/>
                <a:cs typeface="Calibri" pitchFamily="34" charset="-120"/>
              </a:rPr>
              <a:t>SEQUENCING AND UNIT ECONOMICS</a:t>
            </a:r>
            <a:endParaRPr lang="en-US" sz="1050" dirty="0"/>
          </a:p>
        </p:txBody>
      </p:sp>
      <p:sp>
        <p:nvSpPr>
          <p:cNvPr id="3" name="Text 1"/>
          <p:cNvSpPr/>
          <p:nvPr/>
        </p:nvSpPr>
        <p:spPr>
          <a:xfrm>
            <a:off x="548640" y="822960"/>
            <a:ext cx="9144000" cy="731520"/>
          </a:xfrm>
          <a:prstGeom prst="rect">
            <a:avLst/>
          </a:prstGeom>
          <a:noFill/>
          <a:ln/>
        </p:spPr>
        <p:txBody>
          <a:bodyPr wrap="square" lIns="0" tIns="0" rIns="0" bIns="0" rtlCol="0" anchor="t"/>
          <a:lstStyle/>
          <a:p>
            <a:pPr indent="0" marL="0">
              <a:buNone/>
            </a:pPr>
            <a:r>
              <a:rPr lang="en-US" sz="3000" dirty="0">
                <a:solidFill>
                  <a:srgbClr val="22303C"/>
                </a:solidFill>
                <a:latin typeface="Cambria" pitchFamily="34" charset="0"/>
                <a:ea typeface="Cambria" pitchFamily="34" charset="-122"/>
                <a:cs typeface="Cambria" pitchFamily="34" charset="-120"/>
              </a:rPr>
              <a:t>Three steps from pilot to platform.</a:t>
            </a:r>
            <a:endParaRPr lang="en-US" sz="3000" dirty="0"/>
          </a:p>
        </p:txBody>
      </p:sp>
      <p:sp>
        <p:nvSpPr>
          <p:cNvPr id="4" name="Shape 2"/>
          <p:cNvSpPr/>
          <p:nvPr/>
        </p:nvSpPr>
        <p:spPr>
          <a:xfrm>
            <a:off x="548640" y="2651760"/>
            <a:ext cx="2331720" cy="3337560"/>
          </a:xfrm>
          <a:prstGeom prst="roundRect">
            <a:avLst>
              <a:gd name="adj" fmla="val 4706"/>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sp>
        <p:nvSpPr>
          <p:cNvPr id="5" name="Shape 3"/>
          <p:cNvSpPr/>
          <p:nvPr/>
        </p:nvSpPr>
        <p:spPr>
          <a:xfrm>
            <a:off x="804672" y="2907792"/>
            <a:ext cx="420624" cy="420624"/>
          </a:xfrm>
          <a:prstGeom prst="ellipse">
            <a:avLst/>
          </a:prstGeom>
          <a:solidFill>
            <a:srgbClr val="0072A8"/>
          </a:solidFill>
          <a:ln w="12700">
            <a:solidFill>
              <a:srgbClr val="0072A8"/>
            </a:solidFill>
            <a:prstDash val="solid"/>
          </a:ln>
        </p:spPr>
      </p:sp>
      <p:sp>
        <p:nvSpPr>
          <p:cNvPr id="6" name="Text 4"/>
          <p:cNvSpPr/>
          <p:nvPr/>
        </p:nvSpPr>
        <p:spPr>
          <a:xfrm>
            <a:off x="804672" y="290779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53312" y="2926080"/>
            <a:ext cx="1325880" cy="228600"/>
          </a:xfrm>
          <a:prstGeom prst="rect">
            <a:avLst/>
          </a:prstGeom>
          <a:noFill/>
          <a:ln/>
        </p:spPr>
        <p:txBody>
          <a:bodyPr wrap="square" lIns="0" tIns="0" rIns="0" bIns="0" rtlCol="0" anchor="t"/>
          <a:lstStyle/>
          <a:p>
            <a:pPr indent="0" marL="0">
              <a:buNone/>
            </a:pPr>
            <a:r>
              <a:rPr lang="en-US" sz="1050" b="1" dirty="0">
                <a:solidFill>
                  <a:srgbClr val="0072A8"/>
                </a:solidFill>
                <a:latin typeface="Calibri" pitchFamily="34" charset="0"/>
                <a:ea typeface="Calibri" pitchFamily="34" charset="-122"/>
                <a:cs typeface="Calibri" pitchFamily="34" charset="-120"/>
              </a:rPr>
              <a:t>Year 1</a:t>
            </a:r>
            <a:endParaRPr lang="en-US" sz="1050" dirty="0"/>
          </a:p>
        </p:txBody>
      </p:sp>
      <p:sp>
        <p:nvSpPr>
          <p:cNvPr id="8" name="Text 6"/>
          <p:cNvSpPr/>
          <p:nvPr/>
        </p:nvSpPr>
        <p:spPr>
          <a:xfrm>
            <a:off x="1353312" y="3127248"/>
            <a:ext cx="1325880" cy="320040"/>
          </a:xfrm>
          <a:prstGeom prst="rect">
            <a:avLst/>
          </a:prstGeom>
          <a:noFill/>
          <a:ln/>
        </p:spPr>
        <p:txBody>
          <a:bodyPr wrap="square" lIns="0" tIns="0" rIns="0" bIns="0" rtlCol="0" anchor="t"/>
          <a:lstStyle/>
          <a:p>
            <a:pPr indent="0" marL="0">
              <a:buNone/>
            </a:pPr>
            <a:r>
              <a:rPr lang="en-US" sz="1700" b="1" dirty="0">
                <a:solidFill>
                  <a:srgbClr val="22303C"/>
                </a:solidFill>
                <a:latin typeface="Cambria" pitchFamily="34" charset="0"/>
                <a:ea typeface="Cambria" pitchFamily="34" charset="-122"/>
                <a:cs typeface="Cambria" pitchFamily="34" charset="-120"/>
              </a:rPr>
              <a:t>Land</a:t>
            </a:r>
            <a:endParaRPr lang="en-US" sz="1700" dirty="0"/>
          </a:p>
        </p:txBody>
      </p:sp>
      <p:sp>
        <p:nvSpPr>
          <p:cNvPr id="9" name="Text 7"/>
          <p:cNvSpPr/>
          <p:nvPr/>
        </p:nvSpPr>
        <p:spPr>
          <a:xfrm>
            <a:off x="804672" y="3611880"/>
            <a:ext cx="1819656" cy="2194560"/>
          </a:xfrm>
          <a:prstGeom prst="rect">
            <a:avLst/>
          </a:prstGeom>
          <a:noFill/>
          <a:ln/>
        </p:spPr>
        <p:txBody>
          <a:bodyPr wrap="square" lIns="0" tIns="0" rIns="0" bIns="0" rtlCol="0" anchor="t"/>
          <a:lstStyle/>
          <a:p>
            <a:pPr indent="0" marL="0">
              <a:lnSpc>
                <a:spcPct val="115000"/>
              </a:lnSpc>
              <a:buNone/>
            </a:pPr>
            <a:r>
              <a:rPr lang="en-US" sz="1100" dirty="0">
                <a:solidFill>
                  <a:srgbClr val="3A4756"/>
                </a:solidFill>
                <a:latin typeface="Calibri" pitchFamily="34" charset="0"/>
                <a:ea typeface="Calibri" pitchFamily="34" charset="-122"/>
                <a:cs typeface="Calibri" pitchFamily="34" charset="-120"/>
              </a:rPr>
              <a:t>Hospital subscription with metered briefs (1, 2). Labs per report (3). Pilot priced flat; the enterprise contract unlocks only against the week-12 thresholds (5).</a:t>
            </a:r>
            <a:endParaRPr lang="en-US" sz="1100" dirty="0"/>
          </a:p>
        </p:txBody>
      </p:sp>
      <p:sp>
        <p:nvSpPr>
          <p:cNvPr id="10" name="Shape 8"/>
          <p:cNvSpPr/>
          <p:nvPr/>
        </p:nvSpPr>
        <p:spPr>
          <a:xfrm>
            <a:off x="3108960" y="2240280"/>
            <a:ext cx="2331720" cy="3749040"/>
          </a:xfrm>
          <a:prstGeom prst="roundRect">
            <a:avLst>
              <a:gd name="adj" fmla="val 4706"/>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sp>
        <p:nvSpPr>
          <p:cNvPr id="11" name="Shape 9"/>
          <p:cNvSpPr/>
          <p:nvPr/>
        </p:nvSpPr>
        <p:spPr>
          <a:xfrm>
            <a:off x="3364992" y="2496312"/>
            <a:ext cx="420624" cy="420624"/>
          </a:xfrm>
          <a:prstGeom prst="ellipse">
            <a:avLst/>
          </a:prstGeom>
          <a:solidFill>
            <a:srgbClr val="0072A8"/>
          </a:solidFill>
          <a:ln w="12700">
            <a:solidFill>
              <a:srgbClr val="0072A8"/>
            </a:solidFill>
            <a:prstDash val="solid"/>
          </a:ln>
        </p:spPr>
      </p:sp>
      <p:sp>
        <p:nvSpPr>
          <p:cNvPr id="12" name="Text 10"/>
          <p:cNvSpPr/>
          <p:nvPr/>
        </p:nvSpPr>
        <p:spPr>
          <a:xfrm>
            <a:off x="3364992" y="24963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3913632" y="2514600"/>
            <a:ext cx="1325880" cy="228600"/>
          </a:xfrm>
          <a:prstGeom prst="rect">
            <a:avLst/>
          </a:prstGeom>
          <a:noFill/>
          <a:ln/>
        </p:spPr>
        <p:txBody>
          <a:bodyPr wrap="square" lIns="0" tIns="0" rIns="0" bIns="0" rtlCol="0" anchor="t"/>
          <a:lstStyle/>
          <a:p>
            <a:pPr indent="0" marL="0">
              <a:buNone/>
            </a:pPr>
            <a:r>
              <a:rPr lang="en-US" sz="1050" b="1" dirty="0">
                <a:solidFill>
                  <a:srgbClr val="0072A8"/>
                </a:solidFill>
                <a:latin typeface="Calibri" pitchFamily="34" charset="0"/>
                <a:ea typeface="Calibri" pitchFamily="34" charset="-122"/>
                <a:cs typeface="Calibri" pitchFamily="34" charset="-120"/>
              </a:rPr>
              <a:t>Year 2</a:t>
            </a:r>
            <a:endParaRPr lang="en-US" sz="1050" dirty="0"/>
          </a:p>
        </p:txBody>
      </p:sp>
      <p:sp>
        <p:nvSpPr>
          <p:cNvPr id="14" name="Text 12"/>
          <p:cNvSpPr/>
          <p:nvPr/>
        </p:nvSpPr>
        <p:spPr>
          <a:xfrm>
            <a:off x="3913632" y="2715768"/>
            <a:ext cx="1325880" cy="320040"/>
          </a:xfrm>
          <a:prstGeom prst="rect">
            <a:avLst/>
          </a:prstGeom>
          <a:noFill/>
          <a:ln/>
        </p:spPr>
        <p:txBody>
          <a:bodyPr wrap="square" lIns="0" tIns="0" rIns="0" bIns="0" rtlCol="0" anchor="t"/>
          <a:lstStyle/>
          <a:p>
            <a:pPr indent="0" marL="0">
              <a:buNone/>
            </a:pPr>
            <a:r>
              <a:rPr lang="en-US" sz="1700" b="1" dirty="0">
                <a:solidFill>
                  <a:srgbClr val="22303C"/>
                </a:solidFill>
                <a:latin typeface="Cambria" pitchFamily="34" charset="0"/>
                <a:ea typeface="Cambria" pitchFamily="34" charset="-122"/>
                <a:cs typeface="Cambria" pitchFamily="34" charset="-120"/>
              </a:rPr>
              <a:t>Expand</a:t>
            </a:r>
            <a:endParaRPr lang="en-US" sz="1700" dirty="0"/>
          </a:p>
        </p:txBody>
      </p:sp>
      <p:sp>
        <p:nvSpPr>
          <p:cNvPr id="15" name="Text 13"/>
          <p:cNvSpPr/>
          <p:nvPr/>
        </p:nvSpPr>
        <p:spPr>
          <a:xfrm>
            <a:off x="3364992" y="3200400"/>
            <a:ext cx="1819656" cy="2194560"/>
          </a:xfrm>
          <a:prstGeom prst="rect">
            <a:avLst/>
          </a:prstGeom>
          <a:noFill/>
          <a:ln/>
        </p:spPr>
        <p:txBody>
          <a:bodyPr wrap="square" lIns="0" tIns="0" rIns="0" bIns="0" rtlCol="0" anchor="t"/>
          <a:lstStyle/>
          <a:p>
            <a:pPr indent="0" marL="0">
              <a:lnSpc>
                <a:spcPct val="115000"/>
              </a:lnSpc>
              <a:buNone/>
            </a:pPr>
            <a:r>
              <a:rPr lang="en-US" sz="1100" dirty="0">
                <a:solidFill>
                  <a:srgbClr val="3A4756"/>
                </a:solidFill>
                <a:latin typeface="Calibri" pitchFamily="34" charset="0"/>
                <a:ea typeface="Calibri" pitchFamily="34" charset="-122"/>
                <a:cs typeface="Calibri" pitchFamily="34" charset="-120"/>
              </a:rPr>
              <a:t>Threshold-gated enterprise as the standard motion (5). Dedicated cells for hospital networks and state missions (6). Family plan if patients ask for it (4).</a:t>
            </a:r>
            <a:endParaRPr lang="en-US" sz="1100" dirty="0"/>
          </a:p>
        </p:txBody>
      </p:sp>
      <p:sp>
        <p:nvSpPr>
          <p:cNvPr id="16" name="Shape 14"/>
          <p:cNvSpPr/>
          <p:nvPr/>
        </p:nvSpPr>
        <p:spPr>
          <a:xfrm>
            <a:off x="5669280" y="1828800"/>
            <a:ext cx="2331720" cy="4160520"/>
          </a:xfrm>
          <a:prstGeom prst="roundRect">
            <a:avLst>
              <a:gd name="adj" fmla="val 4706"/>
            </a:avLst>
          </a:prstGeom>
          <a:solidFill>
            <a:srgbClr val="FFFFFF"/>
          </a:solidFill>
          <a:ln w="9525">
            <a:solidFill>
              <a:srgbClr val="ECE7DD"/>
            </a:solidFill>
            <a:prstDash val="solid"/>
          </a:ln>
          <a:effectLst>
            <a:outerShdw sx="100000" sy="100000" kx="0" ky="0" algn="bl" rotWithShape="0" blurRad="101600" dist="25400" dir="5400000">
              <a:srgbClr val="22303C">
                <a:alpha val="10000"/>
              </a:srgbClr>
            </a:outerShdw>
          </a:effectLst>
        </p:spPr>
      </p:sp>
      <p:sp>
        <p:nvSpPr>
          <p:cNvPr id="17" name="Shape 15"/>
          <p:cNvSpPr/>
          <p:nvPr/>
        </p:nvSpPr>
        <p:spPr>
          <a:xfrm>
            <a:off x="5925312" y="2084832"/>
            <a:ext cx="420624" cy="420624"/>
          </a:xfrm>
          <a:prstGeom prst="ellipse">
            <a:avLst/>
          </a:prstGeom>
          <a:solidFill>
            <a:srgbClr val="0072A8"/>
          </a:solidFill>
          <a:ln w="12700">
            <a:solidFill>
              <a:srgbClr val="0072A8"/>
            </a:solidFill>
            <a:prstDash val="solid"/>
          </a:ln>
        </p:spPr>
      </p:sp>
      <p:sp>
        <p:nvSpPr>
          <p:cNvPr id="18" name="Text 16"/>
          <p:cNvSpPr/>
          <p:nvPr/>
        </p:nvSpPr>
        <p:spPr>
          <a:xfrm>
            <a:off x="5925312" y="208483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6473952" y="2103120"/>
            <a:ext cx="1325880" cy="228600"/>
          </a:xfrm>
          <a:prstGeom prst="rect">
            <a:avLst/>
          </a:prstGeom>
          <a:noFill/>
          <a:ln/>
        </p:spPr>
        <p:txBody>
          <a:bodyPr wrap="square" lIns="0" tIns="0" rIns="0" bIns="0" rtlCol="0" anchor="t"/>
          <a:lstStyle/>
          <a:p>
            <a:pPr indent="0" marL="0">
              <a:buNone/>
            </a:pPr>
            <a:r>
              <a:rPr lang="en-US" sz="1050" b="1" dirty="0">
                <a:solidFill>
                  <a:srgbClr val="0072A8"/>
                </a:solidFill>
                <a:latin typeface="Calibri" pitchFamily="34" charset="0"/>
                <a:ea typeface="Calibri" pitchFamily="34" charset="-122"/>
                <a:cs typeface="Calibri" pitchFamily="34" charset="-120"/>
              </a:rPr>
              <a:t>Year 3</a:t>
            </a:r>
            <a:endParaRPr lang="en-US" sz="1050" dirty="0"/>
          </a:p>
        </p:txBody>
      </p:sp>
      <p:sp>
        <p:nvSpPr>
          <p:cNvPr id="20" name="Text 18"/>
          <p:cNvSpPr/>
          <p:nvPr/>
        </p:nvSpPr>
        <p:spPr>
          <a:xfrm>
            <a:off x="6473952" y="2304288"/>
            <a:ext cx="1325880" cy="320040"/>
          </a:xfrm>
          <a:prstGeom prst="rect">
            <a:avLst/>
          </a:prstGeom>
          <a:noFill/>
          <a:ln/>
        </p:spPr>
        <p:txBody>
          <a:bodyPr wrap="square" lIns="0" tIns="0" rIns="0" bIns="0" rtlCol="0" anchor="t"/>
          <a:lstStyle/>
          <a:p>
            <a:pPr indent="0" marL="0">
              <a:buNone/>
            </a:pPr>
            <a:r>
              <a:rPr lang="en-US" sz="1700" b="1" dirty="0">
                <a:solidFill>
                  <a:srgbClr val="22303C"/>
                </a:solidFill>
                <a:latin typeface="Cambria" pitchFamily="34" charset="0"/>
                <a:ea typeface="Cambria" pitchFamily="34" charset="-122"/>
                <a:cs typeface="Cambria" pitchFamily="34" charset="-120"/>
              </a:rPr>
              <a:t>Platform</a:t>
            </a:r>
            <a:endParaRPr lang="en-US" sz="1700" dirty="0"/>
          </a:p>
        </p:txBody>
      </p:sp>
      <p:sp>
        <p:nvSpPr>
          <p:cNvPr id="21" name="Text 19"/>
          <p:cNvSpPr/>
          <p:nvPr/>
        </p:nvSpPr>
        <p:spPr>
          <a:xfrm>
            <a:off x="5925312" y="2788920"/>
            <a:ext cx="1819656" cy="2194560"/>
          </a:xfrm>
          <a:prstGeom prst="rect">
            <a:avLst/>
          </a:prstGeom>
          <a:noFill/>
          <a:ln/>
        </p:spPr>
        <p:txBody>
          <a:bodyPr wrap="square" lIns="0" tIns="0" rIns="0" bIns="0" rtlCol="0" anchor="t"/>
          <a:lstStyle/>
          <a:p>
            <a:pPr indent="0" marL="0">
              <a:lnSpc>
                <a:spcPct val="115000"/>
              </a:lnSpc>
              <a:buNone/>
            </a:pPr>
            <a:r>
              <a:rPr lang="en-US" sz="1100" dirty="0">
                <a:solidFill>
                  <a:srgbClr val="3A4756"/>
                </a:solidFill>
                <a:latin typeface="Calibri" pitchFamily="34" charset="0"/>
                <a:ea typeface="Calibri" pitchFamily="34" charset="-122"/>
                <a:cs typeface="Calibri" pitchFamily="34" charset="-120"/>
              </a:rPr>
              <a:t>Consented access for insurers and TPAs (7). API access for pharmacy, telemedicine and home care (8). Only after legal review of the consent tooling.</a:t>
            </a:r>
            <a:endParaRPr lang="en-US" sz="1100" dirty="0"/>
          </a:p>
        </p:txBody>
      </p:sp>
      <p:sp>
        <p:nvSpPr>
          <p:cNvPr id="22" name="Shape 20"/>
          <p:cNvSpPr/>
          <p:nvPr/>
        </p:nvSpPr>
        <p:spPr>
          <a:xfrm>
            <a:off x="8321040" y="1828800"/>
            <a:ext cx="3322015" cy="4160520"/>
          </a:xfrm>
          <a:prstGeom prst="roundRect">
            <a:avLst>
              <a:gd name="adj" fmla="val 3303"/>
            </a:avLst>
          </a:prstGeom>
          <a:solidFill>
            <a:srgbClr val="22303C"/>
          </a:solidFill>
          <a:ln w="9525">
            <a:solidFill>
              <a:srgbClr val="22303C"/>
            </a:solidFill>
            <a:prstDash val="solid"/>
          </a:ln>
        </p:spPr>
      </p:sp>
      <p:sp>
        <p:nvSpPr>
          <p:cNvPr id="23" name="Text 21"/>
          <p:cNvSpPr/>
          <p:nvPr/>
        </p:nvSpPr>
        <p:spPr>
          <a:xfrm>
            <a:off x="8595360" y="2029968"/>
            <a:ext cx="2773375" cy="274320"/>
          </a:xfrm>
          <a:prstGeom prst="rect">
            <a:avLst/>
          </a:prstGeom>
          <a:noFill/>
          <a:ln/>
        </p:spPr>
        <p:txBody>
          <a:bodyPr wrap="square" lIns="0" tIns="0" rIns="0" bIns="0" rtlCol="0" anchor="t"/>
          <a:lstStyle/>
          <a:p>
            <a:pPr indent="0" marL="0">
              <a:buNone/>
            </a:pPr>
            <a:r>
              <a:rPr lang="en-US" sz="1050" b="1" spc="300" kern="0" dirty="0">
                <a:solidFill>
                  <a:srgbClr val="61AFDA"/>
                </a:solidFill>
                <a:latin typeface="Calibri" pitchFamily="34" charset="0"/>
                <a:ea typeface="Calibri" pitchFamily="34" charset="-122"/>
                <a:cs typeface="Calibri" pitchFamily="34" charset="-120"/>
              </a:rPr>
              <a:t>WHAT DECIDES THE MARGIN</a:t>
            </a:r>
            <a:endParaRPr lang="en-US" sz="1050" dirty="0"/>
          </a:p>
        </p:txBody>
      </p:sp>
      <p:pic>
        <p:nvPicPr>
          <p:cNvPr id="24" name="Image 0" descr="preencoded.png">    </p:cNvPr>
          <p:cNvPicPr>
            <a:picLocks noChangeAspect="1"/>
          </p:cNvPicPr>
          <p:nvPr/>
        </p:nvPicPr>
        <p:blipFill>
          <a:blip r:embed="rId2"/>
          <a:stretch>
            <a:fillRect/>
          </a:stretch>
        </p:blipFill>
        <p:spPr>
          <a:xfrm>
            <a:off x="8595360" y="2441448"/>
            <a:ext cx="384048" cy="384048"/>
          </a:xfrm>
          <a:prstGeom prst="rect">
            <a:avLst/>
          </a:prstGeom>
        </p:spPr>
      </p:pic>
      <p:sp>
        <p:nvSpPr>
          <p:cNvPr id="25" name="Text 22"/>
          <p:cNvSpPr/>
          <p:nvPr/>
        </p:nvSpPr>
        <p:spPr>
          <a:xfrm>
            <a:off x="9098280" y="2423160"/>
            <a:ext cx="2316175"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Cost per brief</a:t>
            </a:r>
            <a:endParaRPr lang="en-US" sz="1300" dirty="0"/>
          </a:p>
        </p:txBody>
      </p:sp>
      <p:sp>
        <p:nvSpPr>
          <p:cNvPr id="26" name="Text 23"/>
          <p:cNvSpPr/>
          <p:nvPr/>
        </p:nvSpPr>
        <p:spPr>
          <a:xfrm>
            <a:off x="9098280" y="2697480"/>
            <a:ext cx="2316175" cy="640080"/>
          </a:xfrm>
          <a:prstGeom prst="rect">
            <a:avLst/>
          </a:prstGeom>
          <a:noFill/>
          <a:ln/>
        </p:spPr>
        <p:txBody>
          <a:bodyPr wrap="square" lIns="0" tIns="0" rIns="0" bIns="0" rtlCol="0" anchor="t"/>
          <a:lstStyle/>
          <a:p>
            <a:pPr indent="0" marL="0">
              <a:lnSpc>
                <a:spcPct val="112000"/>
              </a:lnSpc>
              <a:buNone/>
            </a:pPr>
            <a:r>
              <a:rPr lang="en-US" sz="1100" dirty="0">
                <a:solidFill>
                  <a:srgbClr val="B9C6D1"/>
                </a:solidFill>
                <a:latin typeface="Calibri" pitchFamily="34" charset="0"/>
                <a:ea typeface="Calibri" pitchFamily="34" charset="-122"/>
                <a:cs typeface="Calibri" pitchFamily="34" charset="-120"/>
              </a:rPr>
              <a:t>Retrieval plus generation, pre-computed when results land, against price per brief.</a:t>
            </a:r>
            <a:endParaRPr lang="en-US" sz="1100" dirty="0"/>
          </a:p>
        </p:txBody>
      </p:sp>
      <p:pic>
        <p:nvPicPr>
          <p:cNvPr id="27" name="Image 1" descr="preencoded.png">    </p:cNvPr>
          <p:cNvPicPr>
            <a:picLocks noChangeAspect="1"/>
          </p:cNvPicPr>
          <p:nvPr/>
        </p:nvPicPr>
        <p:blipFill>
          <a:blip r:embed="rId3"/>
          <a:stretch>
            <a:fillRect/>
          </a:stretch>
        </p:blipFill>
        <p:spPr>
          <a:xfrm>
            <a:off x="8595360" y="3465576"/>
            <a:ext cx="384048" cy="384048"/>
          </a:xfrm>
          <a:prstGeom prst="rect">
            <a:avLst/>
          </a:prstGeom>
        </p:spPr>
      </p:pic>
      <p:sp>
        <p:nvSpPr>
          <p:cNvPr id="28" name="Text 24"/>
          <p:cNvSpPr/>
          <p:nvPr/>
        </p:nvSpPr>
        <p:spPr>
          <a:xfrm>
            <a:off x="9098280" y="3447288"/>
            <a:ext cx="2316175"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Hours per feed</a:t>
            </a:r>
            <a:endParaRPr lang="en-US" sz="1300" dirty="0"/>
          </a:p>
        </p:txBody>
      </p:sp>
      <p:sp>
        <p:nvSpPr>
          <p:cNvPr id="29" name="Text 25"/>
          <p:cNvSpPr/>
          <p:nvPr/>
        </p:nvSpPr>
        <p:spPr>
          <a:xfrm>
            <a:off x="9098280" y="3721608"/>
            <a:ext cx="2316175" cy="640080"/>
          </a:xfrm>
          <a:prstGeom prst="rect">
            <a:avLst/>
          </a:prstGeom>
          <a:noFill/>
          <a:ln/>
        </p:spPr>
        <p:txBody>
          <a:bodyPr wrap="square" lIns="0" tIns="0" rIns="0" bIns="0" rtlCol="0" anchor="t"/>
          <a:lstStyle/>
          <a:p>
            <a:pPr indent="0" marL="0">
              <a:lnSpc>
                <a:spcPct val="112000"/>
              </a:lnSpc>
              <a:buNone/>
            </a:pPr>
            <a:r>
              <a:rPr lang="en-US" sz="1100" dirty="0">
                <a:solidFill>
                  <a:srgbClr val="B9C6D1"/>
                </a:solidFill>
                <a:latin typeface="Calibri" pitchFamily="34" charset="0"/>
                <a:ea typeface="Calibri" pitchFamily="34" charset="-122"/>
                <a:cs typeface="Calibri" pitchFamily="34" charset="-120"/>
              </a:rPr>
              <a:t>Vendor-side integration hours against the one-time feed fee.</a:t>
            </a:r>
            <a:endParaRPr lang="en-US" sz="1100" dirty="0"/>
          </a:p>
        </p:txBody>
      </p:sp>
      <p:pic>
        <p:nvPicPr>
          <p:cNvPr id="30" name="Image 2" descr="preencoded.png">    </p:cNvPr>
          <p:cNvPicPr>
            <a:picLocks noChangeAspect="1"/>
          </p:cNvPicPr>
          <p:nvPr/>
        </p:nvPicPr>
        <p:blipFill>
          <a:blip r:embed="rId4"/>
          <a:stretch>
            <a:fillRect/>
          </a:stretch>
        </p:blipFill>
        <p:spPr>
          <a:xfrm>
            <a:off x="8595360" y="4489704"/>
            <a:ext cx="384048" cy="384048"/>
          </a:xfrm>
          <a:prstGeom prst="rect">
            <a:avLst/>
          </a:prstGeom>
        </p:spPr>
      </p:pic>
      <p:sp>
        <p:nvSpPr>
          <p:cNvPr id="31" name="Text 26"/>
          <p:cNvSpPr/>
          <p:nvPr/>
        </p:nvSpPr>
        <p:spPr>
          <a:xfrm>
            <a:off x="9098280" y="4471416"/>
            <a:ext cx="2316175"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Seats per hospital</a:t>
            </a:r>
            <a:endParaRPr lang="en-US" sz="1300" dirty="0"/>
          </a:p>
        </p:txBody>
      </p:sp>
      <p:sp>
        <p:nvSpPr>
          <p:cNvPr id="32" name="Text 27"/>
          <p:cNvSpPr/>
          <p:nvPr/>
        </p:nvSpPr>
        <p:spPr>
          <a:xfrm>
            <a:off x="9098280" y="4745736"/>
            <a:ext cx="2316175" cy="640080"/>
          </a:xfrm>
          <a:prstGeom prst="rect">
            <a:avLst/>
          </a:prstGeom>
          <a:noFill/>
          <a:ln/>
        </p:spPr>
        <p:txBody>
          <a:bodyPr wrap="square" lIns="0" tIns="0" rIns="0" bIns="0" rtlCol="0" anchor="t"/>
          <a:lstStyle/>
          <a:p>
            <a:pPr indent="0" marL="0">
              <a:lnSpc>
                <a:spcPct val="112000"/>
              </a:lnSpc>
              <a:buNone/>
            </a:pPr>
            <a:r>
              <a:rPr lang="en-US" sz="1100" dirty="0">
                <a:solidFill>
                  <a:srgbClr val="B9C6D1"/>
                </a:solidFill>
                <a:latin typeface="Calibri" pitchFamily="34" charset="0"/>
                <a:ea typeface="Calibri" pitchFamily="34" charset="-122"/>
                <a:cs typeface="Calibri" pitchFamily="34" charset="-120"/>
              </a:rPr>
              <a:t>Active clinicians against the tier price; department licences cap the gaming.</a:t>
            </a:r>
            <a:endParaRPr lang="en-US" sz="1100" dirty="0"/>
          </a:p>
        </p:txBody>
      </p:sp>
      <p:sp>
        <p:nvSpPr>
          <p:cNvPr id="33" name="Text 28"/>
          <p:cNvSpPr/>
          <p:nvPr/>
        </p:nvSpPr>
        <p:spPr>
          <a:xfrm>
            <a:off x="8595360" y="5257800"/>
            <a:ext cx="2773375" cy="640080"/>
          </a:xfrm>
          <a:prstGeom prst="rect">
            <a:avLst/>
          </a:prstGeom>
          <a:noFill/>
          <a:ln/>
        </p:spPr>
        <p:txBody>
          <a:bodyPr wrap="square" lIns="0" tIns="0" rIns="0" bIns="0" rtlCol="0" anchor="t"/>
          <a:lstStyle/>
          <a:p>
            <a:pPr indent="0" marL="0">
              <a:lnSpc>
                <a:spcPct val="112000"/>
              </a:lnSpc>
              <a:buNone/>
            </a:pPr>
            <a:r>
              <a:rPr lang="en-US" sz="1050" i="1" dirty="0">
                <a:solidFill>
                  <a:srgbClr val="8FA1B0"/>
                </a:solidFill>
                <a:latin typeface="Calibri" pitchFamily="34" charset="0"/>
                <a:ea typeface="Calibri" pitchFamily="34" charset="-122"/>
                <a:cs typeface="Calibri" pitchFamily="34" charset="-120"/>
              </a:rPr>
              <a:t>Hospitals earn from investigations, so avoided repeat tests are not a shared-savings lever. Price on OPD throughput and clinician time.</a:t>
            </a:r>
            <a:endParaRPr lang="en-US" sz="1050" dirty="0"/>
          </a:p>
        </p:txBody>
      </p:sp>
      <p:sp>
        <p:nvSpPr>
          <p:cNvPr id="34" name="Text 29"/>
          <p:cNvSpPr/>
          <p:nvPr/>
        </p:nvSpPr>
        <p:spPr>
          <a:xfrm>
            <a:off x="548640" y="6172200"/>
            <a:ext cx="8412480" cy="320040"/>
          </a:xfrm>
          <a:prstGeom prst="rect">
            <a:avLst/>
          </a:prstGeom>
          <a:noFill/>
          <a:ln/>
        </p:spPr>
        <p:txBody>
          <a:bodyPr wrap="square" lIns="0" tIns="0" rIns="0" bIns="0" rtlCol="0" anchor="t"/>
          <a:lstStyle/>
          <a:p>
            <a:pPr indent="0" marL="0">
              <a:buNone/>
            </a:pPr>
            <a:r>
              <a:rPr lang="en-US" sz="1300" i="1" dirty="0">
                <a:solidFill>
                  <a:srgbClr val="5C6873"/>
                </a:solidFill>
                <a:latin typeface="Cambria" pitchFamily="34" charset="0"/>
                <a:ea typeface="Cambria" pitchFamily="34" charset="-122"/>
                <a:cs typeface="Cambria" pitchFamily="34" charset="-120"/>
              </a:rPr>
              <a:t>Enterprise contracts unlock only against thresholds this panel agrees in week 0.</a:t>
            </a:r>
            <a:endParaRPr lang="en-US" sz="1300" dirty="0"/>
          </a:p>
        </p:txBody>
      </p:sp>
      <p:sp>
        <p:nvSpPr>
          <p:cNvPr id="35" name="Text 30"/>
          <p:cNvSpPr/>
          <p:nvPr/>
        </p:nvSpPr>
        <p:spPr>
          <a:xfrm>
            <a:off x="11277295" y="6473952"/>
            <a:ext cx="365760" cy="228600"/>
          </a:xfrm>
          <a:prstGeom prst="rect">
            <a:avLst/>
          </a:prstGeom>
          <a:noFill/>
          <a:ln/>
        </p:spPr>
        <p:txBody>
          <a:bodyPr wrap="square" lIns="0" tIns="0" rIns="0" bIns="0" rtlCol="0" anchor="t"/>
          <a:lstStyle/>
          <a:p>
            <a:pPr algn="r" indent="0" marL="0">
              <a:buNone/>
            </a:pPr>
            <a:r>
              <a:rPr lang="en-US" sz="900" dirty="0">
                <a:solidFill>
                  <a:srgbClr val="7D868E"/>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7F1"/>
        </a:solidFill>
        <a:effectLst/>
      </p:bgPr>
    </p:bg>
    <p:spTree>
      <p:nvGrpSpPr>
        <p:cNvPr id="1" name=""/>
        <p:cNvGrpSpPr/>
        <p:nvPr/>
      </p:nvGrpSpPr>
      <p:grpSpPr>
        <a:xfrm>
          <a:off x="0" y="0"/>
          <a:ext cx="0" cy="0"/>
          <a:chOff x="0" y="0"/>
          <a:chExt cx="0" cy="0"/>
        </a:xfrm>
      </p:grpSpPr>
      <p:sp>
        <p:nvSpPr>
          <p:cNvPr id="2" name="Text 0"/>
          <p:cNvSpPr/>
          <p:nvPr/>
        </p:nvSpPr>
        <p:spPr>
          <a:xfrm>
            <a:off x="548640" y="502920"/>
            <a:ext cx="5486400" cy="274320"/>
          </a:xfrm>
          <a:prstGeom prst="rect">
            <a:avLst/>
          </a:prstGeom>
          <a:noFill/>
        </p:spPr>
        <p:txBody>
          <a:bodyPr wrap="square" lIns="0" tIns="0" rIns="0" bIns="0" rtlCol="0" anchor="t"/>
          <a:lstStyle/>
          <a:p>
            <a:pPr marL="0" indent="0">
              <a:buNone/>
            </a:pPr>
            <a:r>
              <a:rPr lang="en-US" sz="1050" b="1" kern="0" spc="300" dirty="0">
                <a:solidFill>
                  <a:srgbClr val="0072A8"/>
                </a:solidFill>
                <a:latin typeface="Calibri" pitchFamily="34" charset="0"/>
                <a:ea typeface="Calibri" pitchFamily="34" charset="-122"/>
                <a:cs typeface="Calibri" pitchFamily="34" charset="-120"/>
              </a:rPr>
              <a:t>THE ROLLOUT NINETY DAYS</a:t>
            </a:r>
            <a:endParaRPr lang="en-US" sz="1050" dirty="0"/>
          </a:p>
        </p:txBody>
      </p:sp>
      <p:sp>
        <p:nvSpPr>
          <p:cNvPr id="3" name="Text 1"/>
          <p:cNvSpPr/>
          <p:nvPr/>
        </p:nvSpPr>
        <p:spPr>
          <a:xfrm>
            <a:off x="548640" y="822960"/>
            <a:ext cx="11094415" cy="731520"/>
          </a:xfrm>
          <a:prstGeom prst="rect">
            <a:avLst/>
          </a:prstGeom>
          <a:noFill/>
        </p:spPr>
        <p:txBody>
          <a:bodyPr wrap="square" lIns="0" tIns="0" rIns="0" bIns="0" rtlCol="0" anchor="t"/>
          <a:lstStyle/>
          <a:p>
            <a:pPr marL="0" indent="0">
              <a:buNone/>
            </a:pPr>
            <a:r>
              <a:rPr lang="en-US" sz="3000" dirty="0">
                <a:solidFill>
                  <a:srgbClr val="22303C"/>
                </a:solidFill>
                <a:latin typeface="Cambria" pitchFamily="34" charset="0"/>
                <a:ea typeface="Cambria" pitchFamily="34" charset="-122"/>
                <a:cs typeface="Cambria" pitchFamily="34" charset="-120"/>
              </a:rPr>
              <a:t>A 90-day pilot in two departments that share patients.</a:t>
            </a:r>
            <a:endParaRPr lang="en-US" sz="3000" dirty="0"/>
          </a:p>
        </p:txBody>
      </p:sp>
      <p:sp>
        <p:nvSpPr>
          <p:cNvPr id="4" name="Shape 2"/>
          <p:cNvSpPr/>
          <p:nvPr/>
        </p:nvSpPr>
        <p:spPr>
          <a:xfrm>
            <a:off x="548640" y="1783080"/>
            <a:ext cx="420624" cy="420624"/>
          </a:xfrm>
          <a:prstGeom prst="ellipse">
            <a:avLst/>
          </a:prstGeom>
          <a:solidFill>
            <a:srgbClr val="0072A8"/>
          </a:solidFill>
          <a:ln w="12700">
            <a:solidFill>
              <a:srgbClr val="0072A8"/>
            </a:solidFill>
            <a:prstDash val="solid"/>
          </a:ln>
        </p:spPr>
        <p:txBody>
          <a:bodyPr/>
          <a:p/>
        </p:txBody>
      </p:sp>
      <p:sp>
        <p:nvSpPr>
          <p:cNvPr id="5" name="Text 3"/>
          <p:cNvSpPr/>
          <p:nvPr/>
        </p:nvSpPr>
        <p:spPr>
          <a:xfrm>
            <a:off x="54864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1060704" y="1993392"/>
            <a:ext cx="1408176" cy="0"/>
          </a:xfrm>
          <a:prstGeom prst="line">
            <a:avLst/>
          </a:prstGeom>
          <a:noFill/>
          <a:ln w="9525">
            <a:solidFill>
              <a:srgbClr val="CCE2EF"/>
            </a:solidFill>
            <a:prstDash val="solid"/>
          </a:ln>
        </p:spPr>
        <p:txBody>
          <a:bodyPr/>
          <a:p/>
        </p:txBody>
      </p:sp>
      <p:sp>
        <p:nvSpPr>
          <p:cNvPr id="7" name="Text 5"/>
          <p:cNvSpPr/>
          <p:nvPr/>
        </p:nvSpPr>
        <p:spPr>
          <a:xfrm>
            <a:off x="54864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0 to 2</a:t>
            </a:r>
            <a:endParaRPr lang="en-US" sz="1050" dirty="0"/>
          </a:p>
        </p:txBody>
      </p:sp>
      <p:sp>
        <p:nvSpPr>
          <p:cNvPr id="8" name="Text 6"/>
          <p:cNvSpPr/>
          <p:nvPr/>
        </p:nvSpPr>
        <p:spPr>
          <a:xfrm>
            <a:off x="54864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Provision and connect</a:t>
            </a:r>
            <a:endParaRPr lang="en-US" sz="1400" dirty="0"/>
          </a:p>
        </p:txBody>
      </p:sp>
      <p:sp>
        <p:nvSpPr>
          <p:cNvPr id="9" name="Text 7"/>
          <p:cNvSpPr/>
          <p:nvPr/>
        </p:nvSpPr>
        <p:spPr>
          <a:xfrm>
            <a:off x="54864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Tenant provisioned. LIS connected for finalised reports through a sandbox feed. Doctor SSO live.</a:t>
            </a:r>
            <a:endParaRPr lang="en-US" sz="1100" dirty="0"/>
          </a:p>
        </p:txBody>
      </p:sp>
      <p:sp>
        <p:nvSpPr>
          <p:cNvPr id="10" name="Shape 8"/>
          <p:cNvSpPr/>
          <p:nvPr/>
        </p:nvSpPr>
        <p:spPr>
          <a:xfrm>
            <a:off x="2560320" y="1783080"/>
            <a:ext cx="420624" cy="420624"/>
          </a:xfrm>
          <a:prstGeom prst="ellipse">
            <a:avLst/>
          </a:prstGeom>
          <a:solidFill>
            <a:srgbClr val="0072A8"/>
          </a:solidFill>
          <a:ln w="12700">
            <a:solidFill>
              <a:srgbClr val="0072A8"/>
            </a:solidFill>
            <a:prstDash val="solid"/>
          </a:ln>
        </p:spPr>
        <p:txBody>
          <a:bodyPr/>
          <a:p/>
        </p:txBody>
      </p:sp>
      <p:sp>
        <p:nvSpPr>
          <p:cNvPr id="11" name="Text 9"/>
          <p:cNvSpPr/>
          <p:nvPr/>
        </p:nvSpPr>
        <p:spPr>
          <a:xfrm>
            <a:off x="256032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Shape 10"/>
          <p:cNvSpPr/>
          <p:nvPr/>
        </p:nvSpPr>
        <p:spPr>
          <a:xfrm>
            <a:off x="3072384" y="1993392"/>
            <a:ext cx="1408176" cy="0"/>
          </a:xfrm>
          <a:prstGeom prst="line">
            <a:avLst/>
          </a:prstGeom>
          <a:noFill/>
          <a:ln w="9525">
            <a:solidFill>
              <a:srgbClr val="CCE2EF"/>
            </a:solidFill>
            <a:prstDash val="solid"/>
          </a:ln>
        </p:spPr>
        <p:txBody>
          <a:bodyPr/>
          <a:p/>
        </p:txBody>
      </p:sp>
      <p:sp>
        <p:nvSpPr>
          <p:cNvPr id="13" name="Text 11"/>
          <p:cNvSpPr/>
          <p:nvPr/>
        </p:nvSpPr>
        <p:spPr>
          <a:xfrm>
            <a:off x="256032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2 to 6</a:t>
            </a:r>
            <a:endParaRPr lang="en-US" sz="1050" dirty="0"/>
          </a:p>
        </p:txBody>
      </p:sp>
      <p:sp>
        <p:nvSpPr>
          <p:cNvPr id="14" name="Text 12"/>
          <p:cNvSpPr/>
          <p:nvPr/>
        </p:nvSpPr>
        <p:spPr>
          <a:xfrm>
            <a:off x="256032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Scan in two OPDs</a:t>
            </a:r>
            <a:endParaRPr lang="en-US" sz="1400" dirty="0"/>
          </a:p>
        </p:txBody>
      </p:sp>
      <p:sp>
        <p:nvSpPr>
          <p:cNvPr id="15" name="Text 13"/>
          <p:cNvSpPr/>
          <p:nvPr/>
        </p:nvSpPr>
        <p:spPr>
          <a:xfrm>
            <a:off x="256032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Endocrinology and Cardiology scan patients. Briefs generated at scan. Clinicians rate every brief.</a:t>
            </a:r>
            <a:endParaRPr lang="en-US" sz="1100" dirty="0"/>
          </a:p>
        </p:txBody>
      </p:sp>
      <p:sp>
        <p:nvSpPr>
          <p:cNvPr id="16" name="Shape 14"/>
          <p:cNvSpPr/>
          <p:nvPr/>
        </p:nvSpPr>
        <p:spPr>
          <a:xfrm>
            <a:off x="4572000" y="1783080"/>
            <a:ext cx="420624" cy="420624"/>
          </a:xfrm>
          <a:prstGeom prst="ellipse">
            <a:avLst/>
          </a:prstGeom>
          <a:solidFill>
            <a:srgbClr val="0072A8"/>
          </a:solidFill>
          <a:ln w="12700">
            <a:solidFill>
              <a:srgbClr val="0072A8"/>
            </a:solidFill>
            <a:prstDash val="solid"/>
          </a:ln>
        </p:spPr>
        <p:txBody>
          <a:bodyPr/>
          <a:p/>
        </p:txBody>
      </p:sp>
      <p:sp>
        <p:nvSpPr>
          <p:cNvPr id="17" name="Text 15"/>
          <p:cNvSpPr/>
          <p:nvPr/>
        </p:nvSpPr>
        <p:spPr>
          <a:xfrm>
            <a:off x="457200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Shape 16"/>
          <p:cNvSpPr/>
          <p:nvPr/>
        </p:nvSpPr>
        <p:spPr>
          <a:xfrm>
            <a:off x="5084064" y="1993392"/>
            <a:ext cx="1408176" cy="0"/>
          </a:xfrm>
          <a:prstGeom prst="line">
            <a:avLst/>
          </a:prstGeom>
          <a:noFill/>
          <a:ln w="9525">
            <a:solidFill>
              <a:srgbClr val="CCE2EF"/>
            </a:solidFill>
            <a:prstDash val="solid"/>
          </a:ln>
        </p:spPr>
        <p:txBody>
          <a:bodyPr/>
          <a:p/>
        </p:txBody>
      </p:sp>
      <p:sp>
        <p:nvSpPr>
          <p:cNvPr id="19" name="Text 17"/>
          <p:cNvSpPr/>
          <p:nvPr/>
        </p:nvSpPr>
        <p:spPr>
          <a:xfrm>
            <a:off x="457200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6 to 10</a:t>
            </a:r>
            <a:endParaRPr lang="en-US" sz="1050" dirty="0"/>
          </a:p>
        </p:txBody>
      </p:sp>
      <p:sp>
        <p:nvSpPr>
          <p:cNvPr id="20" name="Text 18"/>
          <p:cNvSpPr/>
          <p:nvPr/>
        </p:nvSpPr>
        <p:spPr>
          <a:xfrm>
            <a:off x="457200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Shared care</a:t>
            </a:r>
            <a:endParaRPr lang="en-US" sz="1400" dirty="0"/>
          </a:p>
        </p:txBody>
      </p:sp>
      <p:sp>
        <p:nvSpPr>
          <p:cNvPr id="21" name="Text 19"/>
          <p:cNvSpPr/>
          <p:nvPr/>
        </p:nvSpPr>
        <p:spPr>
          <a:xfrm>
            <a:off x="457200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Co-management grants across the two departments. Patients see reports and manage consent on their phones.</a:t>
            </a:r>
            <a:endParaRPr lang="en-US" sz="1100" dirty="0"/>
          </a:p>
        </p:txBody>
      </p:sp>
      <p:sp>
        <p:nvSpPr>
          <p:cNvPr id="22" name="Shape 20"/>
          <p:cNvSpPr/>
          <p:nvPr/>
        </p:nvSpPr>
        <p:spPr>
          <a:xfrm>
            <a:off x="6583680" y="1783080"/>
            <a:ext cx="420624" cy="420624"/>
          </a:xfrm>
          <a:prstGeom prst="ellipse">
            <a:avLst/>
          </a:prstGeom>
          <a:solidFill>
            <a:srgbClr val="0072A8"/>
          </a:solidFill>
          <a:ln w="12700">
            <a:solidFill>
              <a:srgbClr val="0072A8"/>
            </a:solidFill>
            <a:prstDash val="solid"/>
          </a:ln>
        </p:spPr>
        <p:txBody>
          <a:bodyPr/>
          <a:p/>
        </p:txBody>
      </p:sp>
      <p:sp>
        <p:nvSpPr>
          <p:cNvPr id="23" name="Text 21"/>
          <p:cNvSpPr/>
          <p:nvPr/>
        </p:nvSpPr>
        <p:spPr>
          <a:xfrm>
            <a:off x="6583680" y="1783080"/>
            <a:ext cx="420624" cy="420624"/>
          </a:xfrm>
          <a:prstGeom prst="rect">
            <a:avLst/>
          </a:prstGeom>
          <a:noFill/>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p:nvPr/>
        </p:nvSpPr>
        <p:spPr>
          <a:xfrm>
            <a:off x="6583680" y="2350008"/>
            <a:ext cx="1828800" cy="228600"/>
          </a:xfrm>
          <a:prstGeom prst="rect">
            <a:avLst/>
          </a:prstGeom>
          <a:noFill/>
        </p:spPr>
        <p:txBody>
          <a:bodyPr wrap="square" lIns="0" tIns="0" rIns="0" bIns="0" rtlCol="0" anchor="t"/>
          <a:lstStyle/>
          <a:p>
            <a:pPr marL="0" indent="0">
              <a:buNone/>
            </a:pPr>
            <a:r>
              <a:rPr lang="en-US" sz="1050" b="1" dirty="0">
                <a:solidFill>
                  <a:srgbClr val="0072A8"/>
                </a:solidFill>
                <a:latin typeface="Calibri" pitchFamily="34" charset="0"/>
                <a:ea typeface="Calibri" pitchFamily="34" charset="-122"/>
                <a:cs typeface="Calibri" pitchFamily="34" charset="-120"/>
              </a:rPr>
              <a:t>Weeks 10 to 12</a:t>
            </a:r>
            <a:endParaRPr lang="en-US" sz="1050" dirty="0"/>
          </a:p>
        </p:txBody>
      </p:sp>
      <p:sp>
        <p:nvSpPr>
          <p:cNvPr id="25" name="Text 23"/>
          <p:cNvSpPr/>
          <p:nvPr/>
        </p:nvSpPr>
        <p:spPr>
          <a:xfrm>
            <a:off x="6583680" y="2587752"/>
            <a:ext cx="1828800" cy="320040"/>
          </a:xfrm>
          <a:prstGeom prst="rect">
            <a:avLst/>
          </a:prstGeom>
          <a:noFill/>
        </p:spPr>
        <p:txBody>
          <a:bodyPr wrap="square" lIns="0" tIns="0" rIns="0" bIns="0" rtlCol="0" anchor="t"/>
          <a:lstStyle/>
          <a:p>
            <a:pPr marL="0" indent="0">
              <a:buNone/>
            </a:pPr>
            <a:r>
              <a:rPr lang="en-US" sz="1400" b="1" dirty="0">
                <a:solidFill>
                  <a:srgbClr val="22303C"/>
                </a:solidFill>
                <a:latin typeface="Calibri" pitchFamily="34" charset="0"/>
                <a:ea typeface="Calibri" pitchFamily="34" charset="-122"/>
                <a:cs typeface="Calibri" pitchFamily="34" charset="-120"/>
              </a:rPr>
              <a:t>Measure and decide</a:t>
            </a:r>
            <a:endParaRPr lang="en-US" sz="1400" dirty="0"/>
          </a:p>
        </p:txBody>
      </p:sp>
      <p:sp>
        <p:nvSpPr>
          <p:cNvPr id="26" name="Text 24"/>
          <p:cNvSpPr/>
          <p:nvPr/>
        </p:nvSpPr>
        <p:spPr>
          <a:xfrm>
            <a:off x="6583680" y="3163570"/>
            <a:ext cx="1737360" cy="1463040"/>
          </a:xfrm>
          <a:prstGeom prst="rect">
            <a:avLst/>
          </a:prstGeom>
          <a:noFill/>
        </p:spPr>
        <p:txBody>
          <a:bodyPr wrap="square" lIns="0" tIns="0" rIns="0" bIns="0" rtlCol="0" anchor="t"/>
          <a:lstStyle/>
          <a:p>
            <a:pPr marL="0" indent="0">
              <a:lnSpc>
                <a:spcPct val="112000"/>
              </a:lnSpc>
              <a:buNone/>
            </a:pPr>
            <a:r>
              <a:rPr lang="en-US" sz="1100" dirty="0">
                <a:solidFill>
                  <a:srgbClr val="3A4756"/>
                </a:solidFill>
                <a:latin typeface="Calibri" pitchFamily="34" charset="0"/>
                <a:ea typeface="Calibri" pitchFamily="34" charset="-122"/>
                <a:cs typeface="Calibri" pitchFamily="34" charset="-120"/>
              </a:rPr>
              <a:t>Results reviewed with this panel. Decision on hospital-wide rollout.</a:t>
            </a:r>
            <a:endParaRPr lang="en-US" sz="1100" dirty="0"/>
          </a:p>
        </p:txBody>
      </p:sp>
      <p:sp>
        <p:nvSpPr>
          <p:cNvPr id="27" name="Shape 25"/>
          <p:cNvSpPr/>
          <p:nvPr/>
        </p:nvSpPr>
        <p:spPr>
          <a:xfrm>
            <a:off x="8732520" y="1691640"/>
            <a:ext cx="2910535" cy="2834640"/>
          </a:xfrm>
          <a:prstGeom prst="roundRect">
            <a:avLst>
              <a:gd name="adj" fmla="val 3871"/>
            </a:avLst>
          </a:prstGeom>
          <a:solidFill>
            <a:srgbClr val="FFFFFF"/>
          </a:solidFill>
          <a:ln w="9525">
            <a:solidFill>
              <a:srgbClr val="ECE7DD"/>
            </a:solidFill>
            <a:prstDash val="solid"/>
          </a:ln>
          <a:effectLst>
            <a:outerShdw blurRad="101600" dist="25400" dir="5400000" algn="bl" rotWithShape="0">
              <a:srgbClr val="22303C">
                <a:alpha val="10000"/>
              </a:srgbClr>
            </a:outerShdw>
          </a:effectLst>
        </p:spPr>
        <p:txBody>
          <a:bodyPr/>
          <a:p/>
        </p:txBody>
      </p:sp>
      <p:sp>
        <p:nvSpPr>
          <p:cNvPr id="28" name="Text 26"/>
          <p:cNvSpPr/>
          <p:nvPr/>
        </p:nvSpPr>
        <p:spPr>
          <a:xfrm>
            <a:off x="9006840" y="1874520"/>
            <a:ext cx="2361895" cy="320040"/>
          </a:xfrm>
          <a:prstGeom prst="rect">
            <a:avLst/>
          </a:prstGeom>
          <a:noFill/>
        </p:spPr>
        <p:txBody>
          <a:bodyPr wrap="square" lIns="0" tIns="0" rIns="0" bIns="0" rtlCol="0" anchor="t"/>
          <a:lstStyle/>
          <a:p>
            <a:pPr marL="0" indent="0">
              <a:buNone/>
            </a:pPr>
            <a:r>
              <a:rPr lang="en-US" sz="1700" dirty="0">
                <a:solidFill>
                  <a:srgbClr val="22303C"/>
                </a:solidFill>
                <a:latin typeface="Cambria" pitchFamily="34" charset="0"/>
                <a:ea typeface="Cambria" pitchFamily="34" charset="-122"/>
                <a:cs typeface="Cambria" pitchFamily="34" charset="-120"/>
              </a:rPr>
              <a:t>What we will report</a:t>
            </a:r>
            <a:endParaRPr lang="en-US" sz="1700" dirty="0"/>
          </a:p>
        </p:txBody>
      </p:sp>
      <p:sp>
        <p:nvSpPr>
          <p:cNvPr id="29" name="Text 27"/>
          <p:cNvSpPr/>
          <p:nvPr/>
        </p:nvSpPr>
        <p:spPr>
          <a:xfrm>
            <a:off x="9006840" y="2286000"/>
            <a:ext cx="2361895" cy="2194560"/>
          </a:xfrm>
          <a:prstGeom prst="rect">
            <a:avLst/>
          </a:prstGeom>
          <a:noFill/>
        </p:spPr>
        <p:txBody>
          <a:bodyPr wrap="square" lIns="0" tIns="0" rIns="0" bIns="0" rtlCol="0" anchor="t"/>
          <a:lstStyle/>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Scan-to-chart time, against the 14 s target</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Minutes per consult, before and after</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Repeat investigations ordered</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Consent approvals, revocations, emergency accesses</a:t>
            </a:r>
            <a:endParaRPr lang="en-US" sz="1150" dirty="0"/>
          </a:p>
          <a:p>
            <a:pPr marL="342900" indent="-342900">
              <a:spcAft>
                <a:spcPts val="500"/>
              </a:spcAft>
              <a:buSzPct val="100000"/>
              <a:buChar char="•"/>
            </a:pPr>
            <a:r>
              <a:rPr lang="en-US" sz="1150" dirty="0">
                <a:solidFill>
                  <a:srgbClr val="3A4756"/>
                </a:solidFill>
                <a:latin typeface="Calibri" pitchFamily="34" charset="0"/>
                <a:ea typeface="Calibri" pitchFamily="34" charset="-122"/>
                <a:cs typeface="Calibri" pitchFamily="34" charset="-120"/>
              </a:rPr>
              <a:t>Brief accuracy, as rated by your clinicians</a:t>
            </a:r>
            <a:endParaRPr lang="en-US" sz="1150" dirty="0"/>
          </a:p>
        </p:txBody>
      </p:sp>
      <p:sp>
        <p:nvSpPr>
          <p:cNvPr id="30" name="Shape 28"/>
          <p:cNvSpPr/>
          <p:nvPr/>
        </p:nvSpPr>
        <p:spPr>
          <a:xfrm>
            <a:off x="548640" y="4800600"/>
            <a:ext cx="11094415" cy="1463040"/>
          </a:xfrm>
          <a:prstGeom prst="roundRect">
            <a:avLst>
              <a:gd name="adj" fmla="val 7500"/>
            </a:avLst>
          </a:prstGeom>
          <a:solidFill>
            <a:srgbClr val="22303C"/>
          </a:solidFill>
          <a:ln w="9525">
            <a:solidFill>
              <a:srgbClr val="22303C"/>
            </a:solidFill>
            <a:prstDash val="solid"/>
          </a:ln>
        </p:spPr>
        <p:txBody>
          <a:bodyPr/>
          <a:p/>
        </p:txBody>
      </p:sp>
      <p:sp>
        <p:nvSpPr>
          <p:cNvPr id="31" name="Text 29"/>
          <p:cNvSpPr/>
          <p:nvPr/>
        </p:nvSpPr>
        <p:spPr>
          <a:xfrm>
            <a:off x="868680" y="5001768"/>
            <a:ext cx="2743200" cy="274320"/>
          </a:xfrm>
          <a:prstGeom prst="rect">
            <a:avLst/>
          </a:prstGeom>
          <a:noFill/>
        </p:spPr>
        <p:txBody>
          <a:bodyPr wrap="square" lIns="0" tIns="0" rIns="0" bIns="0" rtlCol="0" anchor="t"/>
          <a:lstStyle/>
          <a:p>
            <a:pPr marL="0" indent="0">
              <a:buNone/>
            </a:pPr>
            <a:r>
              <a:rPr lang="en-US" sz="1050" b="1" kern="0" spc="300" dirty="0">
                <a:solidFill>
                  <a:srgbClr val="61AFDA"/>
                </a:solidFill>
                <a:latin typeface="Calibri" pitchFamily="34" charset="0"/>
                <a:ea typeface="Calibri" pitchFamily="34" charset="-122"/>
                <a:cs typeface="Calibri" pitchFamily="34" charset="-120"/>
              </a:rPr>
              <a:t>What we ask of you</a:t>
            </a:r>
            <a:endParaRPr lang="en-US" sz="1050" dirty="0"/>
          </a:p>
        </p:txBody>
      </p:sp>
      <p:pic>
        <p:nvPicPr>
          <p:cNvPr id="32" name="Image 0" descr="preencoded.png"/>
          <p:cNvPicPr>
            <a:picLocks noChangeAspect="1"/>
          </p:cNvPicPr>
          <p:nvPr/>
        </p:nvPicPr>
        <p:blipFill>
          <a:blip r:embed="rId1"/>
          <a:stretch>
            <a:fillRect/>
          </a:stretch>
        </p:blipFill>
        <p:spPr>
          <a:xfrm>
            <a:off x="868680" y="5367528"/>
            <a:ext cx="457200" cy="457200"/>
          </a:xfrm>
          <a:prstGeom prst="rect">
            <a:avLst/>
          </a:prstGeom>
        </p:spPr>
      </p:pic>
      <p:sp>
        <p:nvSpPr>
          <p:cNvPr id="33" name="Text 30"/>
          <p:cNvSpPr/>
          <p:nvPr/>
        </p:nvSpPr>
        <p:spPr>
          <a:xfrm>
            <a:off x="1435608" y="5303520"/>
            <a:ext cx="2926080" cy="274320"/>
          </a:xfrm>
          <a:prstGeom prst="rect">
            <a:avLst/>
          </a:prstGeom>
          <a:noFill/>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Your clinical judgment</a:t>
            </a:r>
            <a:endParaRPr lang="en-US" sz="1350" dirty="0"/>
          </a:p>
        </p:txBody>
      </p:sp>
      <p:sp>
        <p:nvSpPr>
          <p:cNvPr id="34" name="Text 31"/>
          <p:cNvSpPr/>
          <p:nvPr/>
        </p:nvSpPr>
        <p:spPr>
          <a:xfrm>
            <a:off x="1435608" y="5586984"/>
            <a:ext cx="2926080" cy="548640"/>
          </a:xfrm>
          <a:prstGeom prst="rect">
            <a:avLst/>
          </a:prstGeom>
          <a:noFill/>
        </p:spPr>
        <p:txBody>
          <a:bodyPr wrap="square" lIns="0" tIns="0" rIns="0" bIns="0" rtlCol="0" anchor="t"/>
          <a:lstStyle/>
          <a:p>
            <a:pPr marL="0" indent="0">
              <a:lnSpc>
                <a:spcPct val="112000"/>
              </a:lnSpc>
              <a:buNone/>
            </a:pPr>
            <a:r>
              <a:rPr lang="en-US" sz="1100" dirty="0">
                <a:solidFill>
                  <a:srgbClr val="B9C6D1"/>
                </a:solidFill>
                <a:latin typeface="Calibri" pitchFamily="34" charset="0"/>
                <a:ea typeface="Calibri" pitchFamily="34" charset="-122"/>
                <a:cs typeface="Calibri" pitchFamily="34" charset="-120"/>
              </a:rPr>
              <a:t>Senior clinicians review the golden sets that gate our AI.</a:t>
            </a:r>
            <a:endParaRPr lang="en-US" sz="1100" dirty="0"/>
          </a:p>
        </p:txBody>
      </p:sp>
      <p:pic>
        <p:nvPicPr>
          <p:cNvPr id="35" name="Image 1" descr="preencoded.png"/>
          <p:cNvPicPr>
            <a:picLocks noChangeAspect="1"/>
          </p:cNvPicPr>
          <p:nvPr/>
        </p:nvPicPr>
        <p:blipFill>
          <a:blip r:embed="rId2"/>
          <a:stretch>
            <a:fillRect/>
          </a:stretch>
        </p:blipFill>
        <p:spPr>
          <a:xfrm>
            <a:off x="4480560" y="5367528"/>
            <a:ext cx="457200" cy="457200"/>
          </a:xfrm>
          <a:prstGeom prst="rect">
            <a:avLst/>
          </a:prstGeom>
        </p:spPr>
      </p:pic>
      <p:sp>
        <p:nvSpPr>
          <p:cNvPr id="36" name="Text 32"/>
          <p:cNvSpPr/>
          <p:nvPr/>
        </p:nvSpPr>
        <p:spPr>
          <a:xfrm>
            <a:off x="5047488" y="5303520"/>
            <a:ext cx="2926080" cy="274320"/>
          </a:xfrm>
          <a:prstGeom prst="rect">
            <a:avLst/>
          </a:prstGeom>
          <a:noFill/>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Two departments, ninety days</a:t>
            </a:r>
            <a:endParaRPr lang="en-US" sz="1350" dirty="0"/>
          </a:p>
        </p:txBody>
      </p:sp>
      <p:sp>
        <p:nvSpPr>
          <p:cNvPr id="37" name="Text 33"/>
          <p:cNvSpPr/>
          <p:nvPr/>
        </p:nvSpPr>
        <p:spPr>
          <a:xfrm>
            <a:off x="5047488" y="5586984"/>
            <a:ext cx="2926080" cy="548640"/>
          </a:xfrm>
          <a:prstGeom prst="rect">
            <a:avLst/>
          </a:prstGeom>
          <a:noFill/>
        </p:spPr>
        <p:txBody>
          <a:bodyPr wrap="square" lIns="0" tIns="0" rIns="0" bIns="0" rtlCol="0" anchor="t"/>
          <a:lstStyle/>
          <a:p>
            <a:pPr marL="0" indent="0">
              <a:lnSpc>
                <a:spcPct val="112000"/>
              </a:lnSpc>
              <a:buNone/>
            </a:pPr>
            <a:r>
              <a:rPr lang="en-US" sz="1100" dirty="0">
                <a:solidFill>
                  <a:srgbClr val="B9C6D1"/>
                </a:solidFill>
                <a:latin typeface="Calibri" pitchFamily="34" charset="0"/>
                <a:ea typeface="Calibri" pitchFamily="34" charset="-122"/>
                <a:cs typeface="Calibri" pitchFamily="34" charset="-120"/>
              </a:rPr>
              <a:t>A pilot in the OPDs that already co-manage patients.</a:t>
            </a:r>
            <a:endParaRPr lang="en-US" sz="1100" dirty="0"/>
          </a:p>
        </p:txBody>
      </p:sp>
      <p:pic>
        <p:nvPicPr>
          <p:cNvPr id="38" name="Image 2" descr="preencoded.png"/>
          <p:cNvPicPr>
            <a:picLocks noChangeAspect="1"/>
          </p:cNvPicPr>
          <p:nvPr/>
        </p:nvPicPr>
        <p:blipFill>
          <a:blip r:embed="rId3"/>
          <a:stretch>
            <a:fillRect/>
          </a:stretch>
        </p:blipFill>
        <p:spPr>
          <a:xfrm>
            <a:off x="8092440" y="5367528"/>
            <a:ext cx="457200" cy="457200"/>
          </a:xfrm>
          <a:prstGeom prst="rect">
            <a:avLst/>
          </a:prstGeom>
        </p:spPr>
      </p:pic>
      <p:sp>
        <p:nvSpPr>
          <p:cNvPr id="39" name="Text 34"/>
          <p:cNvSpPr/>
          <p:nvPr/>
        </p:nvSpPr>
        <p:spPr>
          <a:xfrm>
            <a:off x="8659368" y="5303520"/>
            <a:ext cx="2926080" cy="274320"/>
          </a:xfrm>
          <a:prstGeom prst="rect">
            <a:avLst/>
          </a:prstGeom>
          <a:noFill/>
        </p:spPr>
        <p:txBody>
          <a:bodyPr wrap="square" lIns="0" tIns="0" rIns="0" bIns="0" rtlCol="0" anchor="t"/>
          <a:lstStyle/>
          <a:p>
            <a:pPr marL="0" indent="0">
              <a:buNone/>
            </a:pPr>
            <a:r>
              <a:rPr lang="en-US" sz="1350" b="1" dirty="0">
                <a:solidFill>
                  <a:srgbClr val="FFFFFF"/>
                </a:solidFill>
                <a:latin typeface="Calibri" pitchFamily="34" charset="0"/>
                <a:ea typeface="Calibri" pitchFamily="34" charset="-122"/>
                <a:cs typeface="Calibri" pitchFamily="34" charset="-120"/>
              </a:rPr>
              <a:t>Investment</a:t>
            </a:r>
            <a:endParaRPr lang="en-US" sz="1350" dirty="0"/>
          </a:p>
        </p:txBody>
      </p:sp>
      <p:sp>
        <p:nvSpPr>
          <p:cNvPr id="40" name="Text 35"/>
          <p:cNvSpPr/>
          <p:nvPr/>
        </p:nvSpPr>
        <p:spPr>
          <a:xfrm>
            <a:off x="8659368" y="5586984"/>
            <a:ext cx="2926080" cy="548640"/>
          </a:xfrm>
          <a:prstGeom prst="rect">
            <a:avLst/>
          </a:prstGeom>
          <a:noFill/>
        </p:spPr>
        <p:txBody>
          <a:bodyPr wrap="square" lIns="0" tIns="0" rIns="0" bIns="0" rtlCol="0" anchor="t"/>
          <a:lstStyle/>
          <a:p>
            <a:pPr marL="0" indent="0">
              <a:lnSpc>
                <a:spcPct val="112000"/>
              </a:lnSpc>
              <a:buNone/>
            </a:pPr>
            <a:r>
              <a:rPr lang="en-US" sz="1100" dirty="0">
                <a:solidFill>
                  <a:srgbClr val="B9C6D1"/>
                </a:solidFill>
                <a:latin typeface="Calibri" pitchFamily="34" charset="0"/>
                <a:ea typeface="Calibri" pitchFamily="34" charset="-122"/>
                <a:cs typeface="Calibri" pitchFamily="34" charset="-120"/>
              </a:rPr>
              <a:t>To take Mirai from this pilot to every OPD in the hospital.</a:t>
            </a:r>
            <a:endParaRPr lang="en-US" sz="1100" dirty="0"/>
          </a:p>
        </p:txBody>
      </p:sp>
      <p:sp>
        <p:nvSpPr>
          <p:cNvPr id="41" name="Text 36"/>
          <p:cNvSpPr/>
          <p:nvPr/>
        </p:nvSpPr>
        <p:spPr>
          <a:xfrm>
            <a:off x="11277295" y="6473952"/>
            <a:ext cx="365760" cy="228600"/>
          </a:xfrm>
          <a:prstGeom prst="rect">
            <a:avLst/>
          </a:prstGeom>
          <a:noFill/>
        </p:spPr>
        <p:txBody>
          <a:bodyPr wrap="square" lIns="0" tIns="0" rIns="0" bIns="0" rtlCol="0" anchor="t"/>
          <a:lstStyle/>
          <a:p>
            <a:pPr marL="0" indent="0" algn="r">
              <a:buNone/>
            </a:pPr>
            <a:r>
              <a:rPr lang="en-US" sz="900" dirty="0">
                <a:solidFill>
                  <a:srgbClr val="7D868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2303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548640" y="2103120"/>
            <a:ext cx="822960" cy="822960"/>
          </a:xfrm>
          <a:prstGeom prst="rect">
            <a:avLst/>
          </a:prstGeom>
        </p:spPr>
      </p:pic>
      <p:sp>
        <p:nvSpPr>
          <p:cNvPr id="3" name="Text 0"/>
          <p:cNvSpPr/>
          <p:nvPr/>
        </p:nvSpPr>
        <p:spPr>
          <a:xfrm>
            <a:off x="548640" y="3063240"/>
            <a:ext cx="7680960" cy="1645920"/>
          </a:xfrm>
          <a:prstGeom prst="rect">
            <a:avLst/>
          </a:prstGeom>
          <a:noFill/>
        </p:spPr>
        <p:txBody>
          <a:bodyPr wrap="square" lIns="0" tIns="0" rIns="0" bIns="0" rtlCol="0" anchor="t"/>
          <a:lstStyle/>
          <a:p>
            <a:pPr marL="0" indent="0">
              <a:lnSpc>
                <a:spcPct val="105000"/>
              </a:lnSpc>
              <a:buNone/>
            </a:pPr>
            <a:r>
              <a:rPr lang="en-US" sz="4000" dirty="0">
                <a:solidFill>
                  <a:srgbClr val="FFFFFF"/>
                </a:solidFill>
                <a:latin typeface="Cambria" pitchFamily="34" charset="0"/>
                <a:ea typeface="Cambria" pitchFamily="34" charset="-122"/>
                <a:cs typeface="Cambria" pitchFamily="34" charset="-120"/>
              </a:rPr>
              <a:t>The chart is ready before the patient sits down.</a:t>
            </a:r>
            <a:endParaRPr lang="en-US" sz="4000" dirty="0"/>
          </a:p>
        </p:txBody>
      </p:sp>
      <p:sp>
        <p:nvSpPr>
          <p:cNvPr id="4" name="Text 1"/>
          <p:cNvSpPr/>
          <p:nvPr/>
        </p:nvSpPr>
        <p:spPr>
          <a:xfrm>
            <a:off x="548640" y="4937760"/>
            <a:ext cx="5486400" cy="320040"/>
          </a:xfrm>
          <a:prstGeom prst="rect">
            <a:avLst/>
          </a:prstGeom>
          <a:noFill/>
        </p:spPr>
        <p:txBody>
          <a:bodyPr wrap="square" lIns="0" tIns="0" rIns="0" bIns="0" rtlCol="0" anchor="t"/>
          <a:lstStyle/>
          <a:p>
            <a:pPr marL="0" indent="0">
              <a:buNone/>
            </a:pPr>
            <a:r>
              <a:rPr lang="en-US" sz="1400" dirty="0">
                <a:solidFill>
                  <a:srgbClr val="61AFDA"/>
                </a:solidFill>
                <a:latin typeface="Calibri" pitchFamily="34" charset="0"/>
                <a:ea typeface="Calibri" pitchFamily="34" charset="-122"/>
                <a:cs typeface="Calibri" pitchFamily="34" charset="-120"/>
              </a:rPr>
              <a:t>Mirai · mirai.health</a:t>
            </a:r>
            <a:endParaRPr lang="en-US" sz="1400" dirty="0"/>
          </a:p>
        </p:txBody>
      </p:sp>
      <p:sp>
        <p:nvSpPr>
          <p:cNvPr id="5" name="Text 2"/>
          <p:cNvSpPr/>
          <p:nvPr/>
        </p:nvSpPr>
        <p:spPr>
          <a:xfrm>
            <a:off x="548640" y="5303520"/>
            <a:ext cx="6858000" cy="365760"/>
          </a:xfrm>
          <a:prstGeom prst="rect">
            <a:avLst/>
          </a:prstGeom>
          <a:noFill/>
        </p:spPr>
        <p:txBody>
          <a:bodyPr wrap="square" lIns="0" tIns="0" rIns="0" bIns="0" rtlCol="0" anchor="t"/>
          <a:lstStyle/>
          <a:p>
            <a:pPr marL="0" indent="0">
              <a:buNone/>
            </a:pPr>
            <a:r>
              <a:rPr lang="en-US" sz="1200" dirty="0">
                <a:solidFill>
                  <a:srgbClr val="8FA1B0"/>
                </a:solidFill>
                <a:latin typeface="Calibri" pitchFamily="34" charset="0"/>
                <a:ea typeface="Calibri" pitchFamily="34" charset="-122"/>
                <a:cs typeface="Calibri" pitchFamily="34" charset="-120"/>
              </a:rPr>
              <a:t>Interactive prototype, architecture and component design available for the panel’s review.</a:t>
            </a:r>
            <a:endParaRPr lang="en-US" sz="1200" dirty="0"/>
          </a:p>
        </p:txBody>
      </p:sp>
      <p:pic>
        <p:nvPicPr>
          <p:cNvPr id="6" name="Image 1" descr="preencoded.png"/>
          <p:cNvPicPr>
            <a:picLocks noChangeAspect="1"/>
          </p:cNvPicPr>
          <p:nvPr/>
        </p:nvPicPr>
        <p:blipFill>
          <a:blip r:embed="rId2"/>
          <a:stretch>
            <a:fillRect/>
          </a:stretch>
        </p:blipFill>
        <p:spPr>
          <a:xfrm>
            <a:off x="9006840" y="685800"/>
            <a:ext cx="2691726" cy="5852160"/>
          </a:xfrm>
          <a:prstGeom prst="rect">
            <a:avLst/>
          </a:prstGeom>
          <a:effectLst>
            <a:outerShdw blurRad="101600" dist="25400" dir="5400000" algn="bl" rotWithShape="0">
              <a:srgbClr val="22303C">
                <a:alpha val="10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12649</Words>
  <Application>WPS Presentation</Application>
  <PresentationFormat>On-screen Show (16:9)</PresentationFormat>
  <Paragraphs>506</Paragraphs>
  <Slides>18</Slides>
  <Notes>18</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18</vt:i4>
      </vt:variant>
    </vt:vector>
  </HeadingPairs>
  <TitlesOfParts>
    <vt:vector size="34" baseType="lpstr">
      <vt:lpstr>Arial</vt:lpstr>
      <vt:lpstr>SimSun</vt:lpstr>
      <vt:lpstr>Wingdings</vt:lpstr>
      <vt:lpstr>Cambria</vt:lpstr>
      <vt:lpstr>苹方-简</vt:lpstr>
      <vt:lpstr>Cambria</vt:lpstr>
      <vt:lpstr>Cambria</vt:lpstr>
      <vt:lpstr>Calibri</vt:lpstr>
      <vt:lpstr>Calibri</vt:lpstr>
      <vt:lpstr>Calibri</vt:lpstr>
      <vt:lpstr>Helvetica Neue</vt:lpstr>
      <vt:lpstr>Microsoft YaHei</vt:lpstr>
      <vt:lpstr>汉仪旗黑</vt:lpstr>
      <vt:lpstr>Arial Unicode MS</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Mirai — Investor panel</dc:title>
  <dc:creator>Mirai</dc:creator>
  <dc:subject>PptxGenJS Presentation</dc:subject>
  <cp:lastModifiedBy>Pallav Parikh</cp:lastModifiedBy>
  <cp:revision>2</cp:revision>
  <dcterms:created xsi:type="dcterms:W3CDTF">2026-09-01T20:45:46Z</dcterms:created>
  <dcterms:modified xsi:type="dcterms:W3CDTF">2026-09-01T20:45:46Z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1033-12.1.26050.26050</vt:lpwstr>
  </property>
  <property fmtid="{D5CDD505-2E9C-101B-9397-08002B2CF9AE}" pid="3" name="ICV">
    <vt:lpwstr>1CEFAC537995C8247A39976A785ED5D5_42</vt:lpwstr>
  </property>
</Properties>
</file>