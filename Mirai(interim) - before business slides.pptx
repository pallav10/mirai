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4" Type="http://schemas.openxmlformats.org/officeDocument/2006/relationships/tableStyles" Target="tableStyles.xml"/><Relationship Id="rId23" Type="http://schemas.openxmlformats.org/officeDocument/2006/relationships/viewProps" Target="viewProps.xml"/><Relationship Id="rId22" Type="http://schemas.openxmlformats.org/officeDocument/2006/relationships/presProps" Target="presProps.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promise, not the product. The panel are clinicians: the sentence they will remember is "the chart is ready before the patient sits down." Everything that follows is evidence for that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rush this slide. Let them recognise the patient. Ask: how many of your 3:40 patients arrive like this? The point is not that doctors are slow. It is that the record is scattered, unsummarised and silent about what another department 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frustrations, one root cause: the record exists but cannot be read quickly. Name the cost explicitly. Time is throughput. Money is repeat investigations and length of consult. Attention is the one they care about most: a decision made without the full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reframe. They have been sold "digital transformation" before and it meant replacing systems. Mirai does not. The hospital systems stay the system of record. Mirai is a reading layer that receives finalised results, the same way a lab sends a result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Paint the outcome. The three feelings are: calm (you are present with the patient), certainty (nothing from another department is missing), safety (allergy first, warning at prescribing). The tiles are the doctor home screen: they are the targets we designed to, and what the pilot will measure.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screens, one principle: the QR identifies the patient; authentication and authorisation decide what the doctor can see. This is why the QR is safe to print on a card for patients without phones. Note the last caption: the hospital already holds the records it created, so its doctors get value on day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screen top to bottom. Priya Sharma, 34, type 2 diabetes. Point out that the brief ends with a suggested focus, not a diagnosis. Point 4 is the one to slow down on: the source line, the original PDF one tap away, and the fact that nothing generated ever enters the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for a hospital with departments. The same patient opened by two doctors produces two different briefs, each with the visuals that specialty needs. Neither doctor had to ask the other what changed. Emphasise: the beta-blocker up-titration from the opening story is on the endocrinologist’s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ways a clinician interrogates a record. The first answer is the important one: when there is no record, the system says there is no record. That behaviour, refusing rather than inventing, is what makes the AI usable in a clinic.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Senior clinicians will ask about safety before they ask about features. Show the allergy warning firing on the prescribing screen. Show that emergency access exists, is constrained, and is reviewed. Then the two sentences that matter: everything is audited, and the AI never writes to the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Consent is a first-class object in Mirai: scoped by grantee, category, duration and purpose, and evaluated on every read. That is the Digital Personal Data Protection Act posture expressed as product behaviour rather than as a policy document. The "treating organisations" card matters to a hospital: your own records stay yours.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person on the panel who runs the hospital. Three integrations on the admin screen: a modern LIS over FHIR, PACS over webhooks, and a legacy HIS over files. The error queue is the honest part: it shows failures instead of hiding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objections out loud before they do. The first one is the one that decides the room: the answer is grounding, claim-level verification, refusal over invention, citations, and the rule that the AI never writes to the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Residency, contracts and the self-hosted option cover the data-sovereignty question. The liability answer is deliberately simple: nothing changes about who is responsible; what changes is that the responsible clinician now has the complete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read the grid. Let it sit and answer questions from it. The three targets at the bottom are engineering service-level objectives from the architecture, and the pilot will report against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answers "why has nobody done this". The identity layer, the legal framework, the model capability and the device are all recent. Mirai is the composition.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next step small and concrete. Two departments that already share patients, so the shared-care value shows in weeks. The ask has three parts and the first is not money: their clinical judgment shaping the test sets is what makes the AI safe in their hospital. State the investment figure verbally.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Return to the opening sentence. Then stop talking and take questions. The phone on screen is the cardiologist’s view of Ravi, the patient from slide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9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9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6" Type="http://schemas.openxmlformats.org/officeDocument/2006/relationships/notesSlide" Target="../notesSlides/notesSlide2.xml"/><Relationship Id="rId5" Type="http://schemas.openxmlformats.org/officeDocument/2006/relationships/slideLayout" Target="../slideLayouts/slideLayout1.xml"/><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3.xml.rels><?xml version="1.0" encoding="UTF-8" standalone="yes"?>
<Relationships xmlns="http://schemas.openxmlformats.org/package/2006/relationships"><Relationship Id="rId9" Type="http://schemas.openxmlformats.org/officeDocument/2006/relationships/notesSlide" Target="../notesSlides/notesSlide3.xml"/><Relationship Id="rId8" Type="http://schemas.openxmlformats.org/officeDocument/2006/relationships/slideLayout" Target="../slideLayouts/slideLayout1.xml"/><Relationship Id="rId7" Type="http://schemas.openxmlformats.org/officeDocument/2006/relationships/image" Target="../media/image14.png"/><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8.png"/></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1.xml"/><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image" Target="../media/image15.png"/></Relationships>
</file>

<file path=ppt/slides/_rels/slide5.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1.xml"/><Relationship Id="rId4" Type="http://schemas.openxmlformats.org/officeDocument/2006/relationships/image" Target="../media/image21.png"/><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image" Target="../media/image18.png"/></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1.xml"/><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7" Type="http://schemas.openxmlformats.org/officeDocument/2006/relationships/notesSlide" Target="../notesSlides/notesSlide8.xml"/><Relationship Id="rId6" Type="http://schemas.openxmlformats.org/officeDocument/2006/relationships/slideLayout" Target="../slideLayouts/slideLayout1.xml"/><Relationship Id="rId5" Type="http://schemas.openxmlformats.org/officeDocument/2006/relationships/image" Target="../media/image28.png"/><Relationship Id="rId4" Type="http://schemas.openxmlformats.org/officeDocument/2006/relationships/image" Target="../media/image27.png"/><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image" Target="../media/image24.png"/></Relationships>
</file>

<file path=ppt/slides/_rels/slide9.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slideLayout" Target="../slideLayouts/slideLayout1.xml"/><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image" Target="../media/image29.png"/></Relationships>
</file>

<file path=ppt/slides/_rels/slide10.xml.rels><?xml version="1.0" encoding="UTF-8" standalone="yes"?>
<Relationships xmlns="http://schemas.openxmlformats.org/package/2006/relationships"><Relationship Id="rId8" Type="http://schemas.openxmlformats.org/officeDocument/2006/relationships/notesSlide" Target="../notesSlides/notesSlide10.xml"/><Relationship Id="rId7" Type="http://schemas.openxmlformats.org/officeDocument/2006/relationships/slideLayout" Target="../slideLayouts/slideLayout1.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image" Target="../media/image32.png"/></Relationships>
</file>

<file path=ppt/slides/_rels/slide11.xml.rels><?xml version="1.0" encoding="UTF-8" standalone="yes"?>
<Relationships xmlns="http://schemas.openxmlformats.org/package/2006/relationships"><Relationship Id="rId8" Type="http://schemas.openxmlformats.org/officeDocument/2006/relationships/notesSlide" Target="../notesSlides/notesSlide11.xml"/><Relationship Id="rId7" Type="http://schemas.openxmlformats.org/officeDocument/2006/relationships/slideLayout" Target="../slideLayouts/slideLayout1.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image" Target="../media/image38.png"/></Relationships>
</file>

<file path=ppt/slides/_rels/slide12.xml.rels><?xml version="1.0" encoding="UTF-8" standalone="yes"?>
<Relationships xmlns="http://schemas.openxmlformats.org/package/2006/relationships"><Relationship Id="rId8" Type="http://schemas.openxmlformats.org/officeDocument/2006/relationships/notesSlide" Target="../notesSlides/notesSlide12.xml"/><Relationship Id="rId7" Type="http://schemas.openxmlformats.org/officeDocument/2006/relationships/slideLayout" Target="../slideLayouts/slideLayout1.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image" Target="../media/image44.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image" Target="../media/image50.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image" Target="../media/image50.png"/></Relationships>
</file>

<file path=ppt/slides/_rels/slide15.xml.rels><?xml version="1.0" encoding="UTF-8" standalone="yes"?>
<Relationships xmlns="http://schemas.openxmlformats.org/package/2006/relationships"><Relationship Id="rId9" Type="http://schemas.openxmlformats.org/officeDocument/2006/relationships/image" Target="../media/image59.png"/><Relationship Id="rId8" Type="http://schemas.openxmlformats.org/officeDocument/2006/relationships/image" Target="../media/image58.png"/><Relationship Id="rId7" Type="http://schemas.openxmlformats.org/officeDocument/2006/relationships/image" Target="../media/image57.png"/><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 Id="rId3" Type="http://schemas.openxmlformats.org/officeDocument/2006/relationships/image" Target="../media/image53.png"/><Relationship Id="rId2" Type="http://schemas.openxmlformats.org/officeDocument/2006/relationships/image" Target="../media/image52.png"/><Relationship Id="rId11" Type="http://schemas.openxmlformats.org/officeDocument/2006/relationships/notesSlide" Target="../notesSlides/notesSlide15.xml"/><Relationship Id="rId10" Type="http://schemas.openxmlformats.org/officeDocument/2006/relationships/slideLayout" Target="../slideLayouts/slideLayout1.xml"/><Relationship Id="rId1" Type="http://schemas.openxmlformats.org/officeDocument/2006/relationships/image" Target="../media/image51.png"/></Relationships>
</file>

<file path=ppt/slides/_rels/slide16.xml.rels><?xml version="1.0" encoding="UTF-8" standalone="yes"?>
<Relationships xmlns="http://schemas.openxmlformats.org/package/2006/relationships"><Relationship Id="rId6" Type="http://schemas.openxmlformats.org/officeDocument/2006/relationships/notesSlide" Target="../notesSlides/notesSlide16.xml"/><Relationship Id="rId5" Type="http://schemas.openxmlformats.org/officeDocument/2006/relationships/slideLayout" Target="../slideLayouts/slideLayout1.xml"/><Relationship Id="rId4" Type="http://schemas.openxmlformats.org/officeDocument/2006/relationships/image" Target="../media/image63.png"/><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image" Target="../media/image60.png"/></Relationships>
</file>

<file path=ppt/slides/_rels/slide17.xml.rels><?xml version="1.0" encoding="UTF-8" standalone="yes"?>
<Relationships xmlns="http://schemas.openxmlformats.org/package/2006/relationships"><Relationship Id="rId5" Type="http://schemas.openxmlformats.org/officeDocument/2006/relationships/notesSlide" Target="../notesSlides/notesSlide17.xml"/><Relationship Id="rId4" Type="http://schemas.openxmlformats.org/officeDocument/2006/relationships/slideLayout" Target="../slideLayouts/slideLayout1.xml"/><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image" Target="../media/image64.png"/></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1.xml"/><Relationship Id="rId2" Type="http://schemas.openxmlformats.org/officeDocument/2006/relationships/image" Target="../media/image25.pn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2303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548640" y="685800"/>
            <a:ext cx="566928" cy="566928"/>
          </a:xfrm>
          <a:prstGeom prst="rect">
            <a:avLst/>
          </a:prstGeom>
        </p:spPr>
      </p:pic>
      <p:sp>
        <p:nvSpPr>
          <p:cNvPr id="3" name="Text 0"/>
          <p:cNvSpPr/>
          <p:nvPr/>
        </p:nvSpPr>
        <p:spPr>
          <a:xfrm>
            <a:off x="1261872" y="713232"/>
            <a:ext cx="2743200" cy="548640"/>
          </a:xfrm>
          <a:prstGeom prst="rect">
            <a:avLst/>
          </a:prstGeom>
          <a:noFill/>
        </p:spPr>
        <p:txBody>
          <a:bodyPr wrap="square" lIns="0" tIns="0" rIns="0" bIns="0" rtlCol="0" anchor="t"/>
          <a:lstStyle/>
          <a:p>
            <a:pPr marL="0" indent="0">
              <a:buNone/>
            </a:pPr>
            <a:r>
              <a:rPr lang="en-US" sz="3000" dirty="0">
                <a:solidFill>
                  <a:srgbClr val="FFFFFF"/>
                </a:solidFill>
                <a:latin typeface="Cambria" pitchFamily="34" charset="0"/>
                <a:ea typeface="Cambria" pitchFamily="34" charset="-122"/>
                <a:cs typeface="Cambria" pitchFamily="34" charset="-120"/>
              </a:rPr>
              <a:t>Mirai</a:t>
            </a:r>
            <a:endParaRPr lang="en-US" sz="3000" dirty="0"/>
          </a:p>
        </p:txBody>
      </p:sp>
      <p:sp>
        <p:nvSpPr>
          <p:cNvPr id="4" name="Text 1"/>
          <p:cNvSpPr/>
          <p:nvPr/>
        </p:nvSpPr>
        <p:spPr>
          <a:xfrm>
            <a:off x="548640" y="2148840"/>
            <a:ext cx="6583680" cy="2011680"/>
          </a:xfrm>
          <a:prstGeom prst="rect">
            <a:avLst/>
          </a:prstGeom>
          <a:noFill/>
        </p:spPr>
        <p:txBody>
          <a:bodyPr wrap="square" lIns="0" tIns="0" rIns="0" bIns="0" rtlCol="0" anchor="t"/>
          <a:lstStyle/>
          <a:p>
            <a:pPr marL="0" indent="0">
              <a:lnSpc>
                <a:spcPct val="105000"/>
              </a:lnSpc>
              <a:buNone/>
            </a:pPr>
            <a:r>
              <a:rPr lang="en-US" sz="4400" dirty="0">
                <a:solidFill>
                  <a:srgbClr val="FFFFFF"/>
                </a:solidFill>
                <a:latin typeface="Cambria" pitchFamily="34" charset="0"/>
                <a:ea typeface="Cambria" pitchFamily="34" charset="-122"/>
                <a:cs typeface="Cambria" pitchFamily="34" charset="-120"/>
              </a:rPr>
              <a:t>The chart is ready before the patient sits down.</a:t>
            </a:r>
            <a:endParaRPr lang="en-US" sz="4400" dirty="0"/>
          </a:p>
        </p:txBody>
      </p:sp>
      <p:sp>
        <p:nvSpPr>
          <p:cNvPr id="5" name="Text 2"/>
          <p:cNvSpPr/>
          <p:nvPr/>
        </p:nvSpPr>
        <p:spPr>
          <a:xfrm>
            <a:off x="548640" y="4343400"/>
            <a:ext cx="6583680" cy="365760"/>
          </a:xfrm>
          <a:prstGeom prst="rect">
            <a:avLst/>
          </a:prstGeom>
          <a:noFill/>
        </p:spPr>
        <p:txBody>
          <a:bodyPr wrap="square" lIns="0" tIns="0" rIns="0" bIns="0" rtlCol="0" anchor="t"/>
          <a:lstStyle/>
          <a:p>
            <a:pPr marL="0" indent="0">
              <a:buNone/>
            </a:pPr>
            <a:r>
              <a:rPr lang="en-US" sz="1600" dirty="0">
                <a:solidFill>
                  <a:srgbClr val="61AFDA"/>
                </a:solidFill>
                <a:latin typeface="Calibri" pitchFamily="34" charset="0"/>
                <a:ea typeface="Calibri" pitchFamily="34" charset="-122"/>
                <a:cs typeface="Calibri" pitchFamily="34" charset="-120"/>
              </a:rPr>
              <a:t>One patient · one identity · one QR · complete history · controlled access</a:t>
            </a:r>
            <a:endParaRPr lang="en-US" sz="1600" dirty="0"/>
          </a:p>
        </p:txBody>
      </p:sp>
      <p:sp>
        <p:nvSpPr>
          <p:cNvPr id="6" name="Text 3"/>
          <p:cNvSpPr/>
          <p:nvPr/>
        </p:nvSpPr>
        <p:spPr>
          <a:xfrm>
            <a:off x="548640" y="4754880"/>
            <a:ext cx="6400800" cy="640080"/>
          </a:xfrm>
          <a:prstGeom prst="rect">
            <a:avLst/>
          </a:prstGeom>
          <a:noFill/>
        </p:spPr>
        <p:txBody>
          <a:bodyPr wrap="square" lIns="0" tIns="0" rIns="0" bIns="0" rtlCol="0" anchor="t"/>
          <a:lstStyle/>
          <a:p>
            <a:pPr marL="0" indent="0">
              <a:lnSpc>
                <a:spcPct val="115000"/>
              </a:lnSpc>
              <a:buNone/>
            </a:pPr>
            <a:r>
              <a:rPr lang="en-US" sz="1400" dirty="0">
                <a:solidFill>
                  <a:srgbClr val="C9D3DC"/>
                </a:solidFill>
                <a:latin typeface="Calibri" pitchFamily="34" charset="0"/>
                <a:ea typeface="Calibri" pitchFamily="34" charset="-122"/>
                <a:cs typeface="Calibri" pitchFamily="34" charset="-120"/>
              </a:rPr>
              <a:t>A patient-centric health record with clinical AI, built on top of the hospital systems you already run.</a:t>
            </a:r>
            <a:endParaRPr lang="en-US" sz="1400" dirty="0"/>
          </a:p>
        </p:txBody>
      </p:sp>
      <p:sp>
        <p:nvSpPr>
          <p:cNvPr id="7" name="Text 4"/>
          <p:cNvSpPr/>
          <p:nvPr/>
        </p:nvSpPr>
        <p:spPr>
          <a:xfrm>
            <a:off x="548640" y="6035040"/>
            <a:ext cx="6400800" cy="274320"/>
          </a:xfrm>
          <a:prstGeom prst="rect">
            <a:avLst/>
          </a:prstGeom>
          <a:noFill/>
        </p:spPr>
        <p:txBody>
          <a:bodyPr wrap="square" lIns="0" tIns="0" rIns="0" bIns="0" rtlCol="0" anchor="t"/>
          <a:lstStyle/>
          <a:p>
            <a:pPr marL="0" indent="0">
              <a:buNone/>
            </a:pPr>
            <a:r>
              <a:rPr lang="en-US" sz="1100" dirty="0">
                <a:solidFill>
                  <a:srgbClr val="8FA1B0"/>
                </a:solidFill>
                <a:latin typeface="Calibri" pitchFamily="34" charset="0"/>
                <a:ea typeface="Calibri" pitchFamily="34" charset="-122"/>
                <a:cs typeface="Calibri" pitchFamily="34" charset="-120"/>
              </a:rPr>
              <a:t>Briefing for the clinical investor panel · September 2026</a:t>
            </a:r>
            <a:endParaRPr lang="en-US" sz="1100" dirty="0"/>
          </a:p>
        </p:txBody>
      </p:sp>
      <p:pic>
        <p:nvPicPr>
          <p:cNvPr id="8" name="Image 1" descr="preencoded.png"/>
          <p:cNvPicPr>
            <a:picLocks noChangeAspect="1"/>
          </p:cNvPicPr>
          <p:nvPr/>
        </p:nvPicPr>
        <p:blipFill>
          <a:blip r:embed="rId2"/>
          <a:stretch>
            <a:fillRect/>
          </a:stretch>
        </p:blipFill>
        <p:spPr>
          <a:xfrm>
            <a:off x="7635240" y="1417320"/>
            <a:ext cx="2313202" cy="5029200"/>
          </a:xfrm>
          <a:prstGeom prst="rect">
            <a:avLst/>
          </a:prstGeom>
          <a:effectLst>
            <a:outerShdw blurRad="101600" dist="25400" dir="5400000" algn="bl" rotWithShape="0">
              <a:srgbClr val="22303C">
                <a:alpha val="10000"/>
              </a:srgbClr>
            </a:outerShdw>
          </a:effectLst>
        </p:spPr>
      </p:pic>
      <p:pic>
        <p:nvPicPr>
          <p:cNvPr id="9" name="Image 2" descr="preencoded.png"/>
          <p:cNvPicPr>
            <a:picLocks noChangeAspect="1"/>
          </p:cNvPicPr>
          <p:nvPr/>
        </p:nvPicPr>
        <p:blipFill>
          <a:blip r:embed="rId3"/>
          <a:stretch>
            <a:fillRect/>
          </a:stretch>
        </p:blipFill>
        <p:spPr>
          <a:xfrm>
            <a:off x="9281160" y="685800"/>
            <a:ext cx="2691726" cy="5852160"/>
          </a:xfrm>
          <a:prstGeom prst="rect">
            <a:avLst/>
          </a:prstGeom>
          <a:effectLst>
            <a:outerShdw blurRad="101600" dist="25400" dir="5400000" algn="bl" rotWithShape="0">
              <a:srgbClr val="22303C">
                <a:alpha val="10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7F1"/>
        </a:solidFill>
        <a:effectLst/>
      </p:bgPr>
    </p:bg>
    <p:spTree>
      <p:nvGrpSpPr>
        <p:cNvPr id="1" name=""/>
        <p:cNvGrpSpPr/>
        <p:nvPr/>
      </p:nvGrpSpPr>
      <p:grpSpPr>
        <a:xfrm>
          <a:off x="0" y="0"/>
          <a:ext cx="0" cy="0"/>
          <a:chOff x="0" y="0"/>
          <a:chExt cx="0" cy="0"/>
        </a:xfrm>
      </p:grpSpPr>
      <p:sp>
        <p:nvSpPr>
          <p:cNvPr id="2" name="Text 0"/>
          <p:cNvSpPr/>
          <p:nvPr/>
        </p:nvSpPr>
        <p:spPr>
          <a:xfrm>
            <a:off x="548640" y="502920"/>
            <a:ext cx="5486400" cy="274320"/>
          </a:xfrm>
          <a:prstGeom prst="rect">
            <a:avLst/>
          </a:prstGeom>
          <a:noFill/>
        </p:spPr>
        <p:txBody>
          <a:bodyPr wrap="square" lIns="0" tIns="0" rIns="0" bIns="0" rtlCol="0" anchor="t"/>
          <a:lstStyle/>
          <a:p>
            <a:pPr marL="0" indent="0">
              <a:buNone/>
            </a:pPr>
            <a:r>
              <a:rPr lang="en-US" sz="1050" b="1" kern="0" spc="300" dirty="0">
                <a:solidFill>
                  <a:srgbClr val="0072A8"/>
                </a:solidFill>
                <a:latin typeface="Calibri" pitchFamily="34" charset="0"/>
                <a:ea typeface="Calibri" pitchFamily="34" charset="-122"/>
                <a:cs typeface="Calibri" pitchFamily="34" charset="-120"/>
              </a:rPr>
              <a:t>THE OPD, TODAY</a:t>
            </a:r>
            <a:endParaRPr lang="en-US" sz="1050" dirty="0"/>
          </a:p>
        </p:txBody>
      </p:sp>
      <p:sp>
        <p:nvSpPr>
          <p:cNvPr id="3" name="Text 1"/>
          <p:cNvSpPr/>
          <p:nvPr/>
        </p:nvSpPr>
        <p:spPr>
          <a:xfrm>
            <a:off x="548640" y="822960"/>
            <a:ext cx="7498080" cy="1554480"/>
          </a:xfrm>
          <a:prstGeom prst="rect">
            <a:avLst/>
          </a:prstGeom>
          <a:noFill/>
        </p:spPr>
        <p:txBody>
          <a:bodyPr wrap="square" lIns="0" tIns="0" rIns="0" bIns="0" rtlCol="0" anchor="t"/>
          <a:lstStyle/>
          <a:p>
            <a:pPr marL="0" indent="0">
              <a:lnSpc>
                <a:spcPct val="108000"/>
              </a:lnSpc>
              <a:buNone/>
            </a:pPr>
            <a:r>
              <a:rPr lang="en-US" sz="3000" dirty="0">
                <a:solidFill>
                  <a:srgbClr val="22303C"/>
                </a:solidFill>
                <a:latin typeface="Cambria" pitchFamily="34" charset="0"/>
                <a:ea typeface="Cambria" pitchFamily="34" charset="-122"/>
                <a:cs typeface="Cambria" pitchFamily="34" charset="-120"/>
              </a:rPr>
              <a:t>Ravi, 62. Stented in February. Diabetic since 2019. He is your 3:40 patient.</a:t>
            </a:r>
            <a:endParaRPr lang="en-US" sz="3000" dirty="0"/>
          </a:p>
        </p:txBody>
      </p:sp>
      <p:sp>
        <p:nvSpPr>
          <p:cNvPr id="4" name="Text 2"/>
          <p:cNvSpPr/>
          <p:nvPr/>
        </p:nvSpPr>
        <p:spPr>
          <a:xfrm>
            <a:off x="548640" y="2514600"/>
            <a:ext cx="6035040" cy="2103120"/>
          </a:xfrm>
          <a:prstGeom prst="rect">
            <a:avLst/>
          </a:prstGeom>
          <a:noFill/>
        </p:spPr>
        <p:txBody>
          <a:bodyPr wrap="square" lIns="0" tIns="0" rIns="0" bIns="0" rtlCol="0" anchor="t"/>
          <a:lstStyle/>
          <a:p>
            <a:pPr marL="0" indent="0">
              <a:lnSpc>
                <a:spcPct val="120000"/>
              </a:lnSpc>
              <a:buNone/>
            </a:pPr>
            <a:r>
              <a:rPr lang="en-US" sz="1500" dirty="0">
                <a:solidFill>
                  <a:srgbClr val="3A4756"/>
                </a:solidFill>
                <a:latin typeface="Calibri" pitchFamily="34" charset="0"/>
                <a:ea typeface="Calibri" pitchFamily="34" charset="-122"/>
                <a:cs typeface="Calibri" pitchFamily="34" charset="-120"/>
              </a:rPr>
              <a:t>He arrives with a carry bag: an angiogram report from another hospital, two WhatsApp photos of prescriptions, a discharge summary from February, and last week’s HbA1c from a lab you do not use.</a:t>
            </a:r>
            <a:endParaRPr lang="en-US" sz="1500" dirty="0"/>
          </a:p>
          <a:p>
            <a:pPr marL="0" indent="0">
              <a:lnSpc>
                <a:spcPct val="120000"/>
              </a:lnSpc>
              <a:buNone/>
            </a:pPr>
            <a:r>
              <a:rPr lang="en-US" sz="600" dirty="0">
                <a:solidFill>
                  <a:srgbClr val="3A4756"/>
                </a:solidFill>
                <a:latin typeface="Calibri" pitchFamily="34" charset="0"/>
                <a:ea typeface="Calibri" pitchFamily="34" charset="-122"/>
                <a:cs typeface="Calibri" pitchFamily="34" charset="-120"/>
              </a:rPr>
              <a:t> </a:t>
            </a:r>
            <a:endParaRPr lang="en-US" sz="1500" dirty="0"/>
          </a:p>
          <a:p>
            <a:pPr marL="0" indent="0">
              <a:lnSpc>
                <a:spcPct val="120000"/>
              </a:lnSpc>
              <a:buNone/>
            </a:pPr>
            <a:r>
              <a:rPr lang="en-US" sz="1500" dirty="0">
                <a:solidFill>
                  <a:srgbClr val="3A4756"/>
                </a:solidFill>
                <a:latin typeface="Calibri" pitchFamily="34" charset="0"/>
                <a:ea typeface="Calibri" pitchFamily="34" charset="-122"/>
                <a:cs typeface="Calibri" pitchFamily="34" charset="-120"/>
              </a:rPr>
              <a:t>His cardiologist changed the beta-blocker dose on the 20th. Nobody told you. The file says nothing.</a:t>
            </a:r>
            <a:endParaRPr lang="en-US" sz="1500" dirty="0"/>
          </a:p>
          <a:p>
            <a:pPr marL="0" indent="0">
              <a:lnSpc>
                <a:spcPct val="120000"/>
              </a:lnSpc>
              <a:buNone/>
            </a:pPr>
            <a:r>
              <a:rPr lang="en-US" sz="600" dirty="0">
                <a:solidFill>
                  <a:srgbClr val="3A4756"/>
                </a:solidFill>
                <a:latin typeface="Calibri" pitchFamily="34" charset="0"/>
                <a:ea typeface="Calibri" pitchFamily="34" charset="-122"/>
                <a:cs typeface="Calibri" pitchFamily="34" charset="-120"/>
              </a:rPr>
              <a:t> </a:t>
            </a:r>
            <a:endParaRPr lang="en-US" sz="1500" dirty="0"/>
          </a:p>
          <a:p>
            <a:pPr marL="0" indent="0">
              <a:lnSpc>
                <a:spcPct val="120000"/>
              </a:lnSpc>
              <a:buNone/>
            </a:pPr>
            <a:r>
              <a:rPr lang="en-US" sz="1500" b="1" dirty="0">
                <a:solidFill>
                  <a:srgbClr val="3A4756"/>
                </a:solidFill>
                <a:latin typeface="Calibri" pitchFamily="34" charset="0"/>
                <a:ea typeface="Calibri" pitchFamily="34" charset="-122"/>
                <a:cs typeface="Calibri" pitchFamily="34" charset="-120"/>
              </a:rPr>
              <a:t>You have eight minutes. The first four go to reading.</a:t>
            </a:r>
            <a:endParaRPr lang="en-US" sz="1500" dirty="0"/>
          </a:p>
        </p:txBody>
      </p:sp>
      <p:sp>
        <p:nvSpPr>
          <p:cNvPr id="5" name="Shape 3"/>
          <p:cNvSpPr/>
          <p:nvPr/>
        </p:nvSpPr>
        <p:spPr>
          <a:xfrm>
            <a:off x="7726680" y="868680"/>
            <a:ext cx="3931920" cy="676656"/>
          </a:xfrm>
          <a:prstGeom prst="roundRect">
            <a:avLst>
              <a:gd name="adj" fmla="val 16216"/>
            </a:avLst>
          </a:prstGeom>
          <a:solidFill>
            <a:srgbClr val="FFFFFF"/>
          </a:solidFill>
          <a:ln w="9525">
            <a:solidFill>
              <a:srgbClr val="ECE7DD"/>
            </a:solidFill>
            <a:prstDash val="solid"/>
          </a:ln>
          <a:effectLst>
            <a:outerShdw blurRad="101600" dist="25400" dir="5400000" algn="bl" rotWithShape="0">
              <a:srgbClr val="22303C">
                <a:alpha val="10000"/>
              </a:srgbClr>
            </a:outerShdw>
          </a:effectLst>
        </p:spPr>
      </p:sp>
      <p:pic>
        <p:nvPicPr>
          <p:cNvPr id="6" name="Image 0" descr="preencoded.png"/>
          <p:cNvPicPr>
            <a:picLocks noChangeAspect="1"/>
          </p:cNvPicPr>
          <p:nvPr/>
        </p:nvPicPr>
        <p:blipFill>
          <a:blip r:embed="rId1"/>
          <a:stretch>
            <a:fillRect/>
          </a:stretch>
        </p:blipFill>
        <p:spPr>
          <a:xfrm>
            <a:off x="7882128" y="1024128"/>
            <a:ext cx="365760" cy="365760"/>
          </a:xfrm>
          <a:prstGeom prst="rect">
            <a:avLst/>
          </a:prstGeom>
        </p:spPr>
      </p:pic>
      <p:sp>
        <p:nvSpPr>
          <p:cNvPr id="7" name="Text 4"/>
          <p:cNvSpPr/>
          <p:nvPr/>
        </p:nvSpPr>
        <p:spPr>
          <a:xfrm>
            <a:off x="8366760" y="987552"/>
            <a:ext cx="3200400" cy="274320"/>
          </a:xfrm>
          <a:prstGeom prst="rect">
            <a:avLst/>
          </a:prstGeom>
          <a:noFill/>
        </p:spPr>
        <p:txBody>
          <a:bodyPr wrap="square" lIns="0" tIns="0" rIns="0" bIns="0" rtlCol="0" anchor="t"/>
          <a:lstStyle/>
          <a:p>
            <a:pPr marL="0" indent="0">
              <a:buNone/>
            </a:pPr>
            <a:r>
              <a:rPr lang="en-US" sz="1350" b="1" dirty="0">
                <a:solidFill>
                  <a:srgbClr val="22303C"/>
                </a:solidFill>
                <a:latin typeface="Calibri" pitchFamily="34" charset="0"/>
                <a:ea typeface="Calibri" pitchFamily="34" charset="-122"/>
                <a:cs typeface="Calibri" pitchFamily="34" charset="-120"/>
              </a:rPr>
              <a:t>Angiogram report</a:t>
            </a:r>
            <a:endParaRPr lang="en-US" sz="1350" dirty="0"/>
          </a:p>
        </p:txBody>
      </p:sp>
      <p:sp>
        <p:nvSpPr>
          <p:cNvPr id="8" name="Text 5"/>
          <p:cNvSpPr/>
          <p:nvPr/>
        </p:nvSpPr>
        <p:spPr>
          <a:xfrm>
            <a:off x="8366760" y="1234440"/>
            <a:ext cx="3200400" cy="256032"/>
          </a:xfrm>
          <a:prstGeom prst="rect">
            <a:avLst/>
          </a:prstGeom>
          <a:noFill/>
        </p:spPr>
        <p:txBody>
          <a:bodyPr wrap="square" lIns="0" tIns="0" rIns="0" bIns="0" rtlCol="0" anchor="t"/>
          <a:lstStyle/>
          <a:p>
            <a:pPr marL="0" indent="0">
              <a:buNone/>
            </a:pPr>
            <a:r>
              <a:rPr lang="en-US" sz="1100" dirty="0">
                <a:solidFill>
                  <a:srgbClr val="7D868E"/>
                </a:solidFill>
                <a:latin typeface="Calibri" pitchFamily="34" charset="0"/>
                <a:ea typeface="Calibri" pitchFamily="34" charset="-122"/>
                <a:cs typeface="Calibri" pitchFamily="34" charset="-120"/>
              </a:rPr>
              <a:t>Other hospital · paper</a:t>
            </a:r>
            <a:endParaRPr lang="en-US" sz="1100" dirty="0"/>
          </a:p>
        </p:txBody>
      </p:sp>
      <p:sp>
        <p:nvSpPr>
          <p:cNvPr id="9" name="Shape 6"/>
          <p:cNvSpPr/>
          <p:nvPr/>
        </p:nvSpPr>
        <p:spPr>
          <a:xfrm>
            <a:off x="7726680" y="1655064"/>
            <a:ext cx="3931920" cy="676656"/>
          </a:xfrm>
          <a:prstGeom prst="roundRect">
            <a:avLst>
              <a:gd name="adj" fmla="val 16216"/>
            </a:avLst>
          </a:prstGeom>
          <a:solidFill>
            <a:srgbClr val="FFFFFF"/>
          </a:solidFill>
          <a:ln w="9525">
            <a:solidFill>
              <a:srgbClr val="ECE7DD"/>
            </a:solidFill>
            <a:prstDash val="solid"/>
          </a:ln>
          <a:effectLst>
            <a:outerShdw blurRad="101600" dist="25400" dir="5400000" algn="bl" rotWithShape="0">
              <a:srgbClr val="22303C">
                <a:alpha val="10000"/>
              </a:srgbClr>
            </a:outerShdw>
          </a:effectLst>
        </p:spPr>
      </p:sp>
      <p:pic>
        <p:nvPicPr>
          <p:cNvPr id="10" name="Image 1" descr="preencoded.png"/>
          <p:cNvPicPr>
            <a:picLocks noChangeAspect="1"/>
          </p:cNvPicPr>
          <p:nvPr/>
        </p:nvPicPr>
        <p:blipFill>
          <a:blip r:embed="rId2"/>
          <a:stretch>
            <a:fillRect/>
          </a:stretch>
        </p:blipFill>
        <p:spPr>
          <a:xfrm>
            <a:off x="7882128" y="1810512"/>
            <a:ext cx="365760" cy="365760"/>
          </a:xfrm>
          <a:prstGeom prst="rect">
            <a:avLst/>
          </a:prstGeom>
        </p:spPr>
      </p:pic>
      <p:sp>
        <p:nvSpPr>
          <p:cNvPr id="11" name="Text 7"/>
          <p:cNvSpPr/>
          <p:nvPr/>
        </p:nvSpPr>
        <p:spPr>
          <a:xfrm>
            <a:off x="8366760" y="1773936"/>
            <a:ext cx="3200400" cy="274320"/>
          </a:xfrm>
          <a:prstGeom prst="rect">
            <a:avLst/>
          </a:prstGeom>
          <a:noFill/>
        </p:spPr>
        <p:txBody>
          <a:bodyPr wrap="square" lIns="0" tIns="0" rIns="0" bIns="0" rtlCol="0" anchor="t"/>
          <a:lstStyle/>
          <a:p>
            <a:pPr marL="0" indent="0">
              <a:buNone/>
            </a:pPr>
            <a:r>
              <a:rPr lang="en-US" sz="1350" b="1" dirty="0">
                <a:solidFill>
                  <a:srgbClr val="22303C"/>
                </a:solidFill>
                <a:latin typeface="Calibri" pitchFamily="34" charset="0"/>
                <a:ea typeface="Calibri" pitchFamily="34" charset="-122"/>
                <a:cs typeface="Calibri" pitchFamily="34" charset="-120"/>
              </a:rPr>
              <a:t>Prescription</a:t>
            </a:r>
            <a:endParaRPr lang="en-US" sz="1350" dirty="0"/>
          </a:p>
        </p:txBody>
      </p:sp>
      <p:sp>
        <p:nvSpPr>
          <p:cNvPr id="12" name="Text 8"/>
          <p:cNvSpPr/>
          <p:nvPr/>
        </p:nvSpPr>
        <p:spPr>
          <a:xfrm>
            <a:off x="8366760" y="2020824"/>
            <a:ext cx="3200400" cy="256032"/>
          </a:xfrm>
          <a:prstGeom prst="rect">
            <a:avLst/>
          </a:prstGeom>
          <a:noFill/>
        </p:spPr>
        <p:txBody>
          <a:bodyPr wrap="square" lIns="0" tIns="0" rIns="0" bIns="0" rtlCol="0" anchor="t"/>
          <a:lstStyle/>
          <a:p>
            <a:pPr marL="0" indent="0">
              <a:buNone/>
            </a:pPr>
            <a:r>
              <a:rPr lang="en-US" sz="1100" dirty="0">
                <a:solidFill>
                  <a:srgbClr val="7D868E"/>
                </a:solidFill>
                <a:latin typeface="Calibri" pitchFamily="34" charset="0"/>
                <a:ea typeface="Calibri" pitchFamily="34" charset="-122"/>
                <a:cs typeface="Calibri" pitchFamily="34" charset="-120"/>
              </a:rPr>
              <a:t>WhatsApp photo</a:t>
            </a:r>
            <a:endParaRPr lang="en-US" sz="1100" dirty="0"/>
          </a:p>
        </p:txBody>
      </p:sp>
      <p:sp>
        <p:nvSpPr>
          <p:cNvPr id="13" name="Shape 9"/>
          <p:cNvSpPr/>
          <p:nvPr/>
        </p:nvSpPr>
        <p:spPr>
          <a:xfrm>
            <a:off x="7726680" y="2441448"/>
            <a:ext cx="3931920" cy="676656"/>
          </a:xfrm>
          <a:prstGeom prst="roundRect">
            <a:avLst>
              <a:gd name="adj" fmla="val 16216"/>
            </a:avLst>
          </a:prstGeom>
          <a:solidFill>
            <a:srgbClr val="FFFFFF"/>
          </a:solidFill>
          <a:ln w="9525">
            <a:solidFill>
              <a:srgbClr val="ECE7DD"/>
            </a:solidFill>
            <a:prstDash val="solid"/>
          </a:ln>
          <a:effectLst>
            <a:outerShdw blurRad="101600" dist="25400" dir="5400000" algn="bl" rotWithShape="0">
              <a:srgbClr val="22303C">
                <a:alpha val="10000"/>
              </a:srgbClr>
            </a:outerShdw>
          </a:effectLst>
        </p:spPr>
      </p:sp>
      <p:pic>
        <p:nvPicPr>
          <p:cNvPr id="14" name="Image 2" descr="preencoded.png"/>
          <p:cNvPicPr>
            <a:picLocks noChangeAspect="1"/>
          </p:cNvPicPr>
          <p:nvPr/>
        </p:nvPicPr>
        <p:blipFill>
          <a:blip r:embed="rId1"/>
          <a:stretch>
            <a:fillRect/>
          </a:stretch>
        </p:blipFill>
        <p:spPr>
          <a:xfrm>
            <a:off x="7882128" y="2596896"/>
            <a:ext cx="365760" cy="365760"/>
          </a:xfrm>
          <a:prstGeom prst="rect">
            <a:avLst/>
          </a:prstGeom>
        </p:spPr>
      </p:pic>
      <p:sp>
        <p:nvSpPr>
          <p:cNvPr id="15" name="Text 10"/>
          <p:cNvSpPr/>
          <p:nvPr/>
        </p:nvSpPr>
        <p:spPr>
          <a:xfrm>
            <a:off x="8366760" y="2560320"/>
            <a:ext cx="3200400" cy="274320"/>
          </a:xfrm>
          <a:prstGeom prst="rect">
            <a:avLst/>
          </a:prstGeom>
          <a:noFill/>
        </p:spPr>
        <p:txBody>
          <a:bodyPr wrap="square" lIns="0" tIns="0" rIns="0" bIns="0" rtlCol="0" anchor="t"/>
          <a:lstStyle/>
          <a:p>
            <a:pPr marL="0" indent="0">
              <a:buNone/>
            </a:pPr>
            <a:r>
              <a:rPr lang="en-US" sz="1350" b="1" dirty="0">
                <a:solidFill>
                  <a:srgbClr val="22303C"/>
                </a:solidFill>
                <a:latin typeface="Calibri" pitchFamily="34" charset="0"/>
                <a:ea typeface="Calibri" pitchFamily="34" charset="-122"/>
                <a:cs typeface="Calibri" pitchFamily="34" charset="-120"/>
              </a:rPr>
              <a:t>Discharge summary</a:t>
            </a:r>
            <a:endParaRPr lang="en-US" sz="1350" dirty="0"/>
          </a:p>
        </p:txBody>
      </p:sp>
      <p:sp>
        <p:nvSpPr>
          <p:cNvPr id="16" name="Text 11"/>
          <p:cNvSpPr/>
          <p:nvPr/>
        </p:nvSpPr>
        <p:spPr>
          <a:xfrm>
            <a:off x="8366760" y="2807208"/>
            <a:ext cx="3200400" cy="256032"/>
          </a:xfrm>
          <a:prstGeom prst="rect">
            <a:avLst/>
          </a:prstGeom>
          <a:noFill/>
        </p:spPr>
        <p:txBody>
          <a:bodyPr wrap="square" lIns="0" tIns="0" rIns="0" bIns="0" rtlCol="0" anchor="t"/>
          <a:lstStyle/>
          <a:p>
            <a:pPr marL="0" indent="0">
              <a:buNone/>
            </a:pPr>
            <a:r>
              <a:rPr lang="en-US" sz="1100" dirty="0">
                <a:solidFill>
                  <a:srgbClr val="7D868E"/>
                </a:solidFill>
                <a:latin typeface="Calibri" pitchFamily="34" charset="0"/>
                <a:ea typeface="Calibri" pitchFamily="34" charset="-122"/>
                <a:cs typeface="Calibri" pitchFamily="34" charset="-120"/>
              </a:rPr>
              <a:t>February · scanned PDF</a:t>
            </a:r>
            <a:endParaRPr lang="en-US" sz="1100" dirty="0"/>
          </a:p>
        </p:txBody>
      </p:sp>
      <p:sp>
        <p:nvSpPr>
          <p:cNvPr id="17" name="Shape 12"/>
          <p:cNvSpPr/>
          <p:nvPr/>
        </p:nvSpPr>
        <p:spPr>
          <a:xfrm>
            <a:off x="7726680" y="3227832"/>
            <a:ext cx="3931920" cy="676656"/>
          </a:xfrm>
          <a:prstGeom prst="roundRect">
            <a:avLst>
              <a:gd name="adj" fmla="val 16216"/>
            </a:avLst>
          </a:prstGeom>
          <a:solidFill>
            <a:srgbClr val="FFFFFF"/>
          </a:solidFill>
          <a:ln w="9525">
            <a:solidFill>
              <a:srgbClr val="ECE7DD"/>
            </a:solidFill>
            <a:prstDash val="solid"/>
          </a:ln>
          <a:effectLst>
            <a:outerShdw blurRad="101600" dist="25400" dir="5400000" algn="bl" rotWithShape="0">
              <a:srgbClr val="22303C">
                <a:alpha val="10000"/>
              </a:srgbClr>
            </a:outerShdw>
          </a:effectLst>
        </p:spPr>
      </p:sp>
      <p:pic>
        <p:nvPicPr>
          <p:cNvPr id="18" name="Image 3" descr="preencoded.png"/>
          <p:cNvPicPr>
            <a:picLocks noChangeAspect="1"/>
          </p:cNvPicPr>
          <p:nvPr/>
        </p:nvPicPr>
        <p:blipFill>
          <a:blip r:embed="rId3"/>
          <a:stretch>
            <a:fillRect/>
          </a:stretch>
        </p:blipFill>
        <p:spPr>
          <a:xfrm>
            <a:off x="7882128" y="3383280"/>
            <a:ext cx="365760" cy="365760"/>
          </a:xfrm>
          <a:prstGeom prst="rect">
            <a:avLst/>
          </a:prstGeom>
        </p:spPr>
      </p:pic>
      <p:sp>
        <p:nvSpPr>
          <p:cNvPr id="19" name="Text 13"/>
          <p:cNvSpPr/>
          <p:nvPr/>
        </p:nvSpPr>
        <p:spPr>
          <a:xfrm>
            <a:off x="8366760" y="3346704"/>
            <a:ext cx="3200400" cy="274320"/>
          </a:xfrm>
          <a:prstGeom prst="rect">
            <a:avLst/>
          </a:prstGeom>
          <a:noFill/>
        </p:spPr>
        <p:txBody>
          <a:bodyPr wrap="square" lIns="0" tIns="0" rIns="0" bIns="0" rtlCol="0" anchor="t"/>
          <a:lstStyle/>
          <a:p>
            <a:pPr marL="0" indent="0">
              <a:buNone/>
            </a:pPr>
            <a:r>
              <a:rPr lang="en-US" sz="1350" b="1" dirty="0">
                <a:solidFill>
                  <a:srgbClr val="22303C"/>
                </a:solidFill>
                <a:latin typeface="Calibri" pitchFamily="34" charset="0"/>
                <a:ea typeface="Calibri" pitchFamily="34" charset="-122"/>
                <a:cs typeface="Calibri" pitchFamily="34" charset="-120"/>
              </a:rPr>
              <a:t>HbA1c</a:t>
            </a:r>
            <a:endParaRPr lang="en-US" sz="1350" dirty="0"/>
          </a:p>
        </p:txBody>
      </p:sp>
      <p:sp>
        <p:nvSpPr>
          <p:cNvPr id="20" name="Text 14"/>
          <p:cNvSpPr/>
          <p:nvPr/>
        </p:nvSpPr>
        <p:spPr>
          <a:xfrm>
            <a:off x="8366760" y="3593592"/>
            <a:ext cx="3200400" cy="256032"/>
          </a:xfrm>
          <a:prstGeom prst="rect">
            <a:avLst/>
          </a:prstGeom>
          <a:noFill/>
        </p:spPr>
        <p:txBody>
          <a:bodyPr wrap="square" lIns="0" tIns="0" rIns="0" bIns="0" rtlCol="0" anchor="t"/>
          <a:lstStyle/>
          <a:p>
            <a:pPr marL="0" indent="0">
              <a:buNone/>
            </a:pPr>
            <a:r>
              <a:rPr lang="en-US" sz="1100" dirty="0">
                <a:solidFill>
                  <a:srgbClr val="7D868E"/>
                </a:solidFill>
                <a:latin typeface="Calibri" pitchFamily="34" charset="0"/>
                <a:ea typeface="Calibri" pitchFamily="34" charset="-122"/>
                <a:cs typeface="Calibri" pitchFamily="34" charset="-120"/>
              </a:rPr>
              <a:t>Outside lab · SMS link</a:t>
            </a:r>
            <a:endParaRPr lang="en-US" sz="1100" dirty="0"/>
          </a:p>
        </p:txBody>
      </p:sp>
      <p:sp>
        <p:nvSpPr>
          <p:cNvPr id="21" name="Shape 15"/>
          <p:cNvSpPr/>
          <p:nvPr/>
        </p:nvSpPr>
        <p:spPr>
          <a:xfrm>
            <a:off x="7726680" y="4014216"/>
            <a:ext cx="3931920" cy="676656"/>
          </a:xfrm>
          <a:prstGeom prst="roundRect">
            <a:avLst>
              <a:gd name="adj" fmla="val 16216"/>
            </a:avLst>
          </a:prstGeom>
          <a:solidFill>
            <a:srgbClr val="FFE7E4"/>
          </a:solidFill>
          <a:ln w="9525">
            <a:solidFill>
              <a:srgbClr val="F2B8B5"/>
            </a:solidFill>
            <a:prstDash val="solid"/>
          </a:ln>
          <a:effectLst>
            <a:outerShdw blurRad="101600" dist="25400" dir="5400000" algn="bl" rotWithShape="0">
              <a:srgbClr val="22303C">
                <a:alpha val="10000"/>
              </a:srgbClr>
            </a:outerShdw>
          </a:effectLst>
        </p:spPr>
      </p:sp>
      <p:pic>
        <p:nvPicPr>
          <p:cNvPr id="22" name="Image 4" descr="preencoded.png"/>
          <p:cNvPicPr>
            <a:picLocks noChangeAspect="1"/>
          </p:cNvPicPr>
          <p:nvPr/>
        </p:nvPicPr>
        <p:blipFill>
          <a:blip r:embed="rId4"/>
          <a:stretch>
            <a:fillRect/>
          </a:stretch>
        </p:blipFill>
        <p:spPr>
          <a:xfrm>
            <a:off x="7882128" y="4169664"/>
            <a:ext cx="365760" cy="365760"/>
          </a:xfrm>
          <a:prstGeom prst="rect">
            <a:avLst/>
          </a:prstGeom>
        </p:spPr>
      </p:pic>
      <p:sp>
        <p:nvSpPr>
          <p:cNvPr id="23" name="Text 16"/>
          <p:cNvSpPr/>
          <p:nvPr/>
        </p:nvSpPr>
        <p:spPr>
          <a:xfrm>
            <a:off x="8366760" y="4133088"/>
            <a:ext cx="3200400" cy="274320"/>
          </a:xfrm>
          <a:prstGeom prst="rect">
            <a:avLst/>
          </a:prstGeom>
          <a:noFill/>
        </p:spPr>
        <p:txBody>
          <a:bodyPr wrap="square" lIns="0" tIns="0" rIns="0" bIns="0" rtlCol="0" anchor="t"/>
          <a:lstStyle/>
          <a:p>
            <a:pPr marL="0" indent="0">
              <a:buNone/>
            </a:pPr>
            <a:r>
              <a:rPr lang="en-US" sz="1350" b="1" dirty="0">
                <a:solidFill>
                  <a:srgbClr val="8D1A1E"/>
                </a:solidFill>
                <a:latin typeface="Calibri" pitchFamily="34" charset="0"/>
                <a:ea typeface="Calibri" pitchFamily="34" charset="-122"/>
                <a:cs typeface="Calibri" pitchFamily="34" charset="-120"/>
              </a:rPr>
              <a:t>Beta-blocker change</a:t>
            </a:r>
            <a:endParaRPr lang="en-US" sz="1350" dirty="0"/>
          </a:p>
        </p:txBody>
      </p:sp>
      <p:sp>
        <p:nvSpPr>
          <p:cNvPr id="24" name="Text 17"/>
          <p:cNvSpPr/>
          <p:nvPr/>
        </p:nvSpPr>
        <p:spPr>
          <a:xfrm>
            <a:off x="8366760" y="4379976"/>
            <a:ext cx="3200400" cy="256032"/>
          </a:xfrm>
          <a:prstGeom prst="rect">
            <a:avLst/>
          </a:prstGeom>
          <a:noFill/>
        </p:spPr>
        <p:txBody>
          <a:bodyPr wrap="square" lIns="0" tIns="0" rIns="0" bIns="0" rtlCol="0" anchor="t"/>
          <a:lstStyle/>
          <a:p>
            <a:pPr marL="0" indent="0">
              <a:buNone/>
            </a:pPr>
            <a:r>
              <a:rPr lang="en-US" sz="1100" dirty="0">
                <a:solidFill>
                  <a:srgbClr val="8D1A1E"/>
                </a:solidFill>
                <a:latin typeface="Calibri" pitchFamily="34" charset="0"/>
                <a:ea typeface="Calibri" pitchFamily="34" charset="-122"/>
                <a:cs typeface="Calibri" pitchFamily="34" charset="-120"/>
              </a:rPr>
              <a:t>Cardiology OPD · not in your file</a:t>
            </a:r>
            <a:endParaRPr lang="en-US" sz="1100" dirty="0"/>
          </a:p>
        </p:txBody>
      </p:sp>
      <p:sp>
        <p:nvSpPr>
          <p:cNvPr id="25" name="Shape 18"/>
          <p:cNvSpPr/>
          <p:nvPr/>
        </p:nvSpPr>
        <p:spPr>
          <a:xfrm>
            <a:off x="548640" y="5074920"/>
            <a:ext cx="2131101" cy="566928"/>
          </a:xfrm>
          <a:prstGeom prst="roundRect">
            <a:avLst>
              <a:gd name="adj" fmla="val 12903"/>
            </a:avLst>
          </a:prstGeom>
          <a:solidFill>
            <a:srgbClr val="E4DFD5"/>
          </a:solidFill>
          <a:ln w="12700">
            <a:solidFill>
              <a:srgbClr val="E4DFD5"/>
            </a:solidFill>
            <a:prstDash val="solid"/>
          </a:ln>
        </p:spPr>
      </p:sp>
      <p:sp>
        <p:nvSpPr>
          <p:cNvPr id="26" name="Text 19"/>
          <p:cNvSpPr/>
          <p:nvPr/>
        </p:nvSpPr>
        <p:spPr>
          <a:xfrm>
            <a:off x="658368" y="5074920"/>
            <a:ext cx="1911645" cy="566928"/>
          </a:xfrm>
          <a:prstGeom prst="rect">
            <a:avLst/>
          </a:prstGeom>
          <a:noFill/>
        </p:spPr>
        <p:txBody>
          <a:bodyPr wrap="square" lIns="0" tIns="0" rIns="0" bIns="0" rtlCol="0" anchor="ctr"/>
          <a:lstStyle/>
          <a:p>
            <a:pPr marL="0" indent="0" algn="ctr">
              <a:buNone/>
            </a:pPr>
            <a:r>
              <a:rPr lang="en-US" sz="1250" b="1" dirty="0">
                <a:solidFill>
                  <a:srgbClr val="5C6873"/>
                </a:solidFill>
                <a:latin typeface="Calibri" pitchFamily="34" charset="0"/>
                <a:ea typeface="Calibri" pitchFamily="34" charset="-122"/>
                <a:cs typeface="Calibri" pitchFamily="34" charset="-120"/>
              </a:rPr>
              <a:t>Find the papers</a:t>
            </a:r>
            <a:endParaRPr lang="en-US" sz="1250" dirty="0"/>
          </a:p>
        </p:txBody>
      </p:sp>
      <p:sp>
        <p:nvSpPr>
          <p:cNvPr id="27" name="Shape 20"/>
          <p:cNvSpPr/>
          <p:nvPr/>
        </p:nvSpPr>
        <p:spPr>
          <a:xfrm>
            <a:off x="2789469" y="5074920"/>
            <a:ext cx="2131101" cy="566928"/>
          </a:xfrm>
          <a:prstGeom prst="roundRect">
            <a:avLst>
              <a:gd name="adj" fmla="val 12903"/>
            </a:avLst>
          </a:prstGeom>
          <a:solidFill>
            <a:srgbClr val="E4DFD5"/>
          </a:solidFill>
          <a:ln w="12700">
            <a:solidFill>
              <a:srgbClr val="E4DFD5"/>
            </a:solidFill>
            <a:prstDash val="solid"/>
          </a:ln>
        </p:spPr>
      </p:sp>
      <p:sp>
        <p:nvSpPr>
          <p:cNvPr id="28" name="Text 21"/>
          <p:cNvSpPr/>
          <p:nvPr/>
        </p:nvSpPr>
        <p:spPr>
          <a:xfrm>
            <a:off x="2899197" y="5074920"/>
            <a:ext cx="1911645" cy="566928"/>
          </a:xfrm>
          <a:prstGeom prst="rect">
            <a:avLst/>
          </a:prstGeom>
          <a:noFill/>
        </p:spPr>
        <p:txBody>
          <a:bodyPr wrap="square" lIns="0" tIns="0" rIns="0" bIns="0" rtlCol="0" anchor="ctr"/>
          <a:lstStyle/>
          <a:p>
            <a:pPr marL="0" indent="0" algn="ctr">
              <a:buNone/>
            </a:pPr>
            <a:r>
              <a:rPr lang="en-US" sz="1250" b="1" dirty="0">
                <a:solidFill>
                  <a:srgbClr val="5C6873"/>
                </a:solidFill>
                <a:latin typeface="Calibri" pitchFamily="34" charset="0"/>
                <a:ea typeface="Calibri" pitchFamily="34" charset="-122"/>
                <a:cs typeface="Calibri" pitchFamily="34" charset="-120"/>
              </a:rPr>
              <a:t>Read them</a:t>
            </a:r>
            <a:endParaRPr lang="en-US" sz="1250" dirty="0"/>
          </a:p>
        </p:txBody>
      </p:sp>
      <p:sp>
        <p:nvSpPr>
          <p:cNvPr id="29" name="Shape 22"/>
          <p:cNvSpPr/>
          <p:nvPr/>
        </p:nvSpPr>
        <p:spPr>
          <a:xfrm>
            <a:off x="5030297" y="5074920"/>
            <a:ext cx="2131101" cy="566928"/>
          </a:xfrm>
          <a:prstGeom prst="roundRect">
            <a:avLst>
              <a:gd name="adj" fmla="val 12903"/>
            </a:avLst>
          </a:prstGeom>
          <a:solidFill>
            <a:srgbClr val="E4DFD5"/>
          </a:solidFill>
          <a:ln w="12700">
            <a:solidFill>
              <a:srgbClr val="E4DFD5"/>
            </a:solidFill>
            <a:prstDash val="solid"/>
          </a:ln>
        </p:spPr>
      </p:sp>
      <p:sp>
        <p:nvSpPr>
          <p:cNvPr id="30" name="Text 23"/>
          <p:cNvSpPr/>
          <p:nvPr/>
        </p:nvSpPr>
        <p:spPr>
          <a:xfrm>
            <a:off x="5140025" y="5074920"/>
            <a:ext cx="1911645" cy="566928"/>
          </a:xfrm>
          <a:prstGeom prst="rect">
            <a:avLst/>
          </a:prstGeom>
          <a:noFill/>
        </p:spPr>
        <p:txBody>
          <a:bodyPr wrap="square" lIns="0" tIns="0" rIns="0" bIns="0" rtlCol="0" anchor="ctr"/>
          <a:lstStyle/>
          <a:p>
            <a:pPr marL="0" indent="0" algn="ctr">
              <a:buNone/>
            </a:pPr>
            <a:r>
              <a:rPr lang="en-US" sz="1250" b="1" dirty="0">
                <a:solidFill>
                  <a:srgbClr val="5C6873"/>
                </a:solidFill>
                <a:latin typeface="Calibri" pitchFamily="34" charset="0"/>
                <a:ea typeface="Calibri" pitchFamily="34" charset="-122"/>
                <a:cs typeface="Calibri" pitchFamily="34" charset="-120"/>
              </a:rPr>
              <a:t>Reconcile what changed</a:t>
            </a:r>
            <a:endParaRPr lang="en-US" sz="1250" dirty="0"/>
          </a:p>
        </p:txBody>
      </p:sp>
      <p:sp>
        <p:nvSpPr>
          <p:cNvPr id="31" name="Shape 24"/>
          <p:cNvSpPr/>
          <p:nvPr/>
        </p:nvSpPr>
        <p:spPr>
          <a:xfrm>
            <a:off x="7271126" y="5074920"/>
            <a:ext cx="2131101" cy="566928"/>
          </a:xfrm>
          <a:prstGeom prst="roundRect">
            <a:avLst>
              <a:gd name="adj" fmla="val 12903"/>
            </a:avLst>
          </a:prstGeom>
          <a:solidFill>
            <a:srgbClr val="0072A8"/>
          </a:solidFill>
          <a:ln w="12700">
            <a:solidFill>
              <a:srgbClr val="0072A8"/>
            </a:solidFill>
            <a:prstDash val="solid"/>
          </a:ln>
        </p:spPr>
      </p:sp>
      <p:sp>
        <p:nvSpPr>
          <p:cNvPr id="32" name="Text 25"/>
          <p:cNvSpPr/>
          <p:nvPr/>
        </p:nvSpPr>
        <p:spPr>
          <a:xfrm>
            <a:off x="7380854" y="5074920"/>
            <a:ext cx="1911645" cy="566928"/>
          </a:xfrm>
          <a:prstGeom prst="rect">
            <a:avLst/>
          </a:prstGeom>
          <a:noFill/>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Examine &amp; decide</a:t>
            </a:r>
            <a:endParaRPr lang="en-US" sz="1250" dirty="0"/>
          </a:p>
        </p:txBody>
      </p:sp>
      <p:sp>
        <p:nvSpPr>
          <p:cNvPr id="33" name="Shape 26"/>
          <p:cNvSpPr/>
          <p:nvPr/>
        </p:nvSpPr>
        <p:spPr>
          <a:xfrm>
            <a:off x="9511955" y="5074920"/>
            <a:ext cx="2131101" cy="566928"/>
          </a:xfrm>
          <a:prstGeom prst="roundRect">
            <a:avLst>
              <a:gd name="adj" fmla="val 12903"/>
            </a:avLst>
          </a:prstGeom>
          <a:solidFill>
            <a:srgbClr val="0072A8"/>
          </a:solidFill>
          <a:ln w="12700">
            <a:solidFill>
              <a:srgbClr val="0072A8"/>
            </a:solidFill>
            <a:prstDash val="solid"/>
          </a:ln>
        </p:spPr>
      </p:sp>
      <p:sp>
        <p:nvSpPr>
          <p:cNvPr id="34" name="Text 27"/>
          <p:cNvSpPr/>
          <p:nvPr/>
        </p:nvSpPr>
        <p:spPr>
          <a:xfrm>
            <a:off x="9621683" y="5074920"/>
            <a:ext cx="1911645" cy="566928"/>
          </a:xfrm>
          <a:prstGeom prst="rect">
            <a:avLst/>
          </a:prstGeom>
          <a:noFill/>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Write</a:t>
            </a:r>
            <a:endParaRPr lang="en-US" sz="1250" dirty="0"/>
          </a:p>
        </p:txBody>
      </p:sp>
      <p:sp>
        <p:nvSpPr>
          <p:cNvPr id="35" name="Text 28"/>
          <p:cNvSpPr/>
          <p:nvPr/>
        </p:nvSpPr>
        <p:spPr>
          <a:xfrm>
            <a:off x="548640" y="5733288"/>
            <a:ext cx="6612758" cy="274320"/>
          </a:xfrm>
          <a:prstGeom prst="rect">
            <a:avLst/>
          </a:prstGeom>
          <a:noFill/>
        </p:spPr>
        <p:txBody>
          <a:bodyPr wrap="square" lIns="0" tIns="0" rIns="0" bIns="0" rtlCol="0" anchor="t"/>
          <a:lstStyle/>
          <a:p>
            <a:pPr marL="0" indent="0" algn="ctr">
              <a:buNone/>
            </a:pPr>
            <a:r>
              <a:rPr lang="en-US" sz="1100" i="1" dirty="0">
                <a:solidFill>
                  <a:srgbClr val="7D868E"/>
                </a:solidFill>
                <a:latin typeface="Calibri" pitchFamily="34" charset="0"/>
                <a:ea typeface="Calibri" pitchFamily="34" charset="-122"/>
                <a:cs typeface="Calibri" pitchFamily="34" charset="-120"/>
              </a:rPr>
              <a:t>Time that is not medicine</a:t>
            </a:r>
            <a:endParaRPr lang="en-US" sz="1100" dirty="0"/>
          </a:p>
        </p:txBody>
      </p:sp>
      <p:sp>
        <p:nvSpPr>
          <p:cNvPr id="36" name="Text 29"/>
          <p:cNvSpPr/>
          <p:nvPr/>
        </p:nvSpPr>
        <p:spPr>
          <a:xfrm>
            <a:off x="7271126" y="5733288"/>
            <a:ext cx="4371929" cy="274320"/>
          </a:xfrm>
          <a:prstGeom prst="rect">
            <a:avLst/>
          </a:prstGeom>
          <a:noFill/>
        </p:spPr>
        <p:txBody>
          <a:bodyPr wrap="square" lIns="0" tIns="0" rIns="0" bIns="0" rtlCol="0" anchor="t"/>
          <a:lstStyle/>
          <a:p>
            <a:pPr marL="0" indent="0" algn="ctr">
              <a:buNone/>
            </a:pPr>
            <a:r>
              <a:rPr lang="en-US" sz="1100" i="1" dirty="0">
                <a:solidFill>
                  <a:srgbClr val="0072A8"/>
                </a:solidFill>
                <a:latin typeface="Calibri" pitchFamily="34" charset="0"/>
                <a:ea typeface="Calibri" pitchFamily="34" charset="-122"/>
                <a:cs typeface="Calibri" pitchFamily="34" charset="-120"/>
              </a:rPr>
              <a:t>Time that is medicine</a:t>
            </a:r>
            <a:endParaRPr lang="en-US" sz="1100" dirty="0"/>
          </a:p>
        </p:txBody>
      </p:sp>
      <p:sp>
        <p:nvSpPr>
          <p:cNvPr id="37" name="Text 30"/>
          <p:cNvSpPr/>
          <p:nvPr/>
        </p:nvSpPr>
        <p:spPr>
          <a:xfrm>
            <a:off x="11277295" y="6473952"/>
            <a:ext cx="365760" cy="228600"/>
          </a:xfrm>
          <a:prstGeom prst="rect">
            <a:avLst/>
          </a:prstGeom>
          <a:noFill/>
        </p:spPr>
        <p:txBody>
          <a:bodyPr wrap="square" lIns="0" tIns="0" rIns="0" bIns="0" rtlCol="0" anchor="t"/>
          <a:lstStyle/>
          <a:p>
            <a:pPr marL="0" indent="0" algn="r">
              <a:buNone/>
            </a:pPr>
            <a:r>
              <a:rPr lang="en-US" sz="900" dirty="0">
                <a:solidFill>
                  <a:srgbClr val="7D868E"/>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7F1"/>
        </a:solidFill>
        <a:effectLst/>
      </p:bgPr>
    </p:bg>
    <p:spTree>
      <p:nvGrpSpPr>
        <p:cNvPr id="1" name=""/>
        <p:cNvGrpSpPr/>
        <p:nvPr/>
      </p:nvGrpSpPr>
      <p:grpSpPr>
        <a:xfrm>
          <a:off x="0" y="0"/>
          <a:ext cx="0" cy="0"/>
          <a:chOff x="0" y="0"/>
          <a:chExt cx="0" cy="0"/>
        </a:xfrm>
      </p:grpSpPr>
      <p:sp>
        <p:nvSpPr>
          <p:cNvPr id="2" name="Text 0"/>
          <p:cNvSpPr/>
          <p:nvPr/>
        </p:nvSpPr>
        <p:spPr>
          <a:xfrm>
            <a:off x="548640" y="502920"/>
            <a:ext cx="5486400" cy="274320"/>
          </a:xfrm>
          <a:prstGeom prst="rect">
            <a:avLst/>
          </a:prstGeom>
          <a:noFill/>
        </p:spPr>
        <p:txBody>
          <a:bodyPr wrap="square" lIns="0" tIns="0" rIns="0" bIns="0" rtlCol="0" anchor="t"/>
          <a:lstStyle/>
          <a:p>
            <a:pPr marL="0" indent="0">
              <a:buNone/>
            </a:pPr>
            <a:r>
              <a:rPr lang="en-US" sz="1050" b="1" kern="0" spc="300" dirty="0">
                <a:solidFill>
                  <a:srgbClr val="0072A8"/>
                </a:solidFill>
                <a:latin typeface="Calibri" pitchFamily="34" charset="0"/>
                <a:ea typeface="Calibri" pitchFamily="34" charset="-122"/>
                <a:cs typeface="Calibri" pitchFamily="34" charset="-120"/>
              </a:rPr>
              <a:t>FRUSTRATIONS</a:t>
            </a:r>
            <a:endParaRPr lang="en-US" sz="1050" dirty="0"/>
          </a:p>
        </p:txBody>
      </p:sp>
      <p:sp>
        <p:nvSpPr>
          <p:cNvPr id="3" name="Text 1"/>
          <p:cNvSpPr/>
          <p:nvPr/>
        </p:nvSpPr>
        <p:spPr>
          <a:xfrm>
            <a:off x="548640" y="822960"/>
            <a:ext cx="9144000" cy="731520"/>
          </a:xfrm>
          <a:prstGeom prst="rect">
            <a:avLst/>
          </a:prstGeom>
          <a:noFill/>
        </p:spPr>
        <p:txBody>
          <a:bodyPr wrap="square" lIns="0" tIns="0" rIns="0" bIns="0" rtlCol="0" anchor="t"/>
          <a:lstStyle/>
          <a:p>
            <a:pPr marL="0" indent="0">
              <a:buNone/>
            </a:pPr>
            <a:r>
              <a:rPr lang="en-US" sz="3200" dirty="0">
                <a:solidFill>
                  <a:srgbClr val="22303C"/>
                </a:solidFill>
                <a:latin typeface="Cambria" pitchFamily="34" charset="0"/>
                <a:ea typeface="Cambria" pitchFamily="34" charset="-122"/>
                <a:cs typeface="Cambria" pitchFamily="34" charset="-120"/>
              </a:rPr>
              <a:t>The slowest part of the consult is reading.</a:t>
            </a:r>
            <a:endParaRPr lang="en-US" sz="3200" dirty="0"/>
          </a:p>
        </p:txBody>
      </p:sp>
      <p:sp>
        <p:nvSpPr>
          <p:cNvPr id="4" name="Shape 2"/>
          <p:cNvSpPr/>
          <p:nvPr/>
        </p:nvSpPr>
        <p:spPr>
          <a:xfrm>
            <a:off x="548640" y="1783080"/>
            <a:ext cx="2567864" cy="2788920"/>
          </a:xfrm>
          <a:prstGeom prst="roundRect">
            <a:avLst>
              <a:gd name="adj" fmla="val 4273"/>
            </a:avLst>
          </a:prstGeom>
          <a:solidFill>
            <a:srgbClr val="FFFFFF"/>
          </a:solidFill>
          <a:ln w="9525">
            <a:solidFill>
              <a:srgbClr val="ECE7DD"/>
            </a:solidFill>
            <a:prstDash val="solid"/>
          </a:ln>
          <a:effectLst>
            <a:outerShdw blurRad="101600" dist="25400" dir="5400000" algn="bl" rotWithShape="0">
              <a:srgbClr val="22303C">
                <a:alpha val="10000"/>
              </a:srgbClr>
            </a:outerShdw>
          </a:effectLst>
        </p:spPr>
      </p:sp>
      <p:pic>
        <p:nvPicPr>
          <p:cNvPr id="5" name="Image 0" descr="preencoded.png"/>
          <p:cNvPicPr>
            <a:picLocks noChangeAspect="1"/>
          </p:cNvPicPr>
          <p:nvPr/>
        </p:nvPicPr>
        <p:blipFill>
          <a:blip r:embed="rId1"/>
          <a:stretch>
            <a:fillRect/>
          </a:stretch>
        </p:blipFill>
        <p:spPr>
          <a:xfrm>
            <a:off x="804672" y="2057400"/>
            <a:ext cx="566928" cy="566928"/>
          </a:xfrm>
          <a:prstGeom prst="rect">
            <a:avLst/>
          </a:prstGeom>
        </p:spPr>
      </p:pic>
      <p:sp>
        <p:nvSpPr>
          <p:cNvPr id="6" name="Text 3"/>
          <p:cNvSpPr/>
          <p:nvPr/>
        </p:nvSpPr>
        <p:spPr>
          <a:xfrm>
            <a:off x="804672" y="2788920"/>
            <a:ext cx="2110664" cy="365760"/>
          </a:xfrm>
          <a:prstGeom prst="rect">
            <a:avLst/>
          </a:prstGeom>
          <a:noFill/>
        </p:spPr>
        <p:txBody>
          <a:bodyPr wrap="square" lIns="0" tIns="0" rIns="0" bIns="0" rtlCol="0" anchor="t"/>
          <a:lstStyle/>
          <a:p>
            <a:pPr marL="0" indent="0">
              <a:buNone/>
            </a:pPr>
            <a:r>
              <a:rPr lang="en-US" sz="1700" b="1" dirty="0">
                <a:solidFill>
                  <a:srgbClr val="22303C"/>
                </a:solidFill>
                <a:latin typeface="Cambria" pitchFamily="34" charset="0"/>
                <a:ea typeface="Cambria" pitchFamily="34" charset="-122"/>
                <a:cs typeface="Cambria" pitchFamily="34" charset="-120"/>
              </a:rPr>
              <a:t>Scattered</a:t>
            </a:r>
            <a:endParaRPr lang="en-US" sz="1700" dirty="0"/>
          </a:p>
        </p:txBody>
      </p:sp>
      <p:sp>
        <p:nvSpPr>
          <p:cNvPr id="7" name="Text 4"/>
          <p:cNvSpPr/>
          <p:nvPr/>
        </p:nvSpPr>
        <p:spPr>
          <a:xfrm>
            <a:off x="804672" y="3200400"/>
            <a:ext cx="2110664" cy="1280160"/>
          </a:xfrm>
          <a:prstGeom prst="rect">
            <a:avLst/>
          </a:prstGeom>
          <a:noFill/>
        </p:spPr>
        <p:txBody>
          <a:bodyPr wrap="square" lIns="0" tIns="0" rIns="0" bIns="0" rtlCol="0" anchor="t"/>
          <a:lstStyle/>
          <a:p>
            <a:pPr marL="0" indent="0">
              <a:lnSpc>
                <a:spcPct val="115000"/>
              </a:lnSpc>
              <a:buNone/>
            </a:pPr>
            <a:r>
              <a:rPr lang="en-US" sz="1250" dirty="0">
                <a:solidFill>
                  <a:srgbClr val="3A4756"/>
                </a:solidFill>
                <a:latin typeface="Calibri" pitchFamily="34" charset="0"/>
                <a:ea typeface="Calibri" pitchFamily="34" charset="-122"/>
                <a:cs typeface="Calibri" pitchFamily="34" charset="-120"/>
              </a:rPr>
              <a:t>Paper, PDFs, WhatsApp photos, other hospitals’ letterheads. Every report in its own format, none of them in one place.</a:t>
            </a:r>
            <a:endParaRPr lang="en-US" sz="1250" dirty="0"/>
          </a:p>
        </p:txBody>
      </p:sp>
      <p:sp>
        <p:nvSpPr>
          <p:cNvPr id="8" name="Shape 5"/>
          <p:cNvSpPr/>
          <p:nvPr/>
        </p:nvSpPr>
        <p:spPr>
          <a:xfrm>
            <a:off x="3390824" y="1783080"/>
            <a:ext cx="2567864" cy="2788920"/>
          </a:xfrm>
          <a:prstGeom prst="roundRect">
            <a:avLst>
              <a:gd name="adj" fmla="val 4273"/>
            </a:avLst>
          </a:prstGeom>
          <a:solidFill>
            <a:srgbClr val="FFFFFF"/>
          </a:solidFill>
          <a:ln w="9525">
            <a:solidFill>
              <a:srgbClr val="ECE7DD"/>
            </a:solidFill>
            <a:prstDash val="solid"/>
          </a:ln>
          <a:effectLst>
            <a:outerShdw blurRad="101600" dist="25400" dir="5400000" algn="bl" rotWithShape="0">
              <a:srgbClr val="22303C">
                <a:alpha val="10000"/>
              </a:srgbClr>
            </a:outerShdw>
          </a:effectLst>
        </p:spPr>
      </p:sp>
      <p:pic>
        <p:nvPicPr>
          <p:cNvPr id="9" name="Image 1" descr="preencoded.png"/>
          <p:cNvPicPr>
            <a:picLocks noChangeAspect="1"/>
          </p:cNvPicPr>
          <p:nvPr/>
        </p:nvPicPr>
        <p:blipFill>
          <a:blip r:embed="rId2"/>
          <a:stretch>
            <a:fillRect/>
          </a:stretch>
        </p:blipFill>
        <p:spPr>
          <a:xfrm>
            <a:off x="3646856" y="2057400"/>
            <a:ext cx="566928" cy="566928"/>
          </a:xfrm>
          <a:prstGeom prst="rect">
            <a:avLst/>
          </a:prstGeom>
        </p:spPr>
      </p:pic>
      <p:sp>
        <p:nvSpPr>
          <p:cNvPr id="10" name="Text 6"/>
          <p:cNvSpPr/>
          <p:nvPr/>
        </p:nvSpPr>
        <p:spPr>
          <a:xfrm>
            <a:off x="3646856" y="2788920"/>
            <a:ext cx="2110664" cy="365760"/>
          </a:xfrm>
          <a:prstGeom prst="rect">
            <a:avLst/>
          </a:prstGeom>
          <a:noFill/>
        </p:spPr>
        <p:txBody>
          <a:bodyPr wrap="square" lIns="0" tIns="0" rIns="0" bIns="0" rtlCol="0" anchor="t"/>
          <a:lstStyle/>
          <a:p>
            <a:pPr marL="0" indent="0">
              <a:buNone/>
            </a:pPr>
            <a:r>
              <a:rPr lang="en-US" sz="1700" b="1" dirty="0">
                <a:solidFill>
                  <a:srgbClr val="22303C"/>
                </a:solidFill>
                <a:latin typeface="Cambria" pitchFamily="34" charset="0"/>
                <a:ea typeface="Cambria" pitchFamily="34" charset="-122"/>
                <a:cs typeface="Cambria" pitchFamily="34" charset="-120"/>
              </a:rPr>
              <a:t>Unsummarised</a:t>
            </a:r>
            <a:endParaRPr lang="en-US" sz="1700" dirty="0"/>
          </a:p>
        </p:txBody>
      </p:sp>
      <p:sp>
        <p:nvSpPr>
          <p:cNvPr id="11" name="Text 7"/>
          <p:cNvSpPr/>
          <p:nvPr/>
        </p:nvSpPr>
        <p:spPr>
          <a:xfrm>
            <a:off x="3646856" y="3200400"/>
            <a:ext cx="2110664" cy="1280160"/>
          </a:xfrm>
          <a:prstGeom prst="rect">
            <a:avLst/>
          </a:prstGeom>
          <a:noFill/>
        </p:spPr>
        <p:txBody>
          <a:bodyPr wrap="square" lIns="0" tIns="0" rIns="0" bIns="0" rtlCol="0" anchor="t"/>
          <a:lstStyle/>
          <a:p>
            <a:pPr marL="0" indent="0">
              <a:lnSpc>
                <a:spcPct val="115000"/>
              </a:lnSpc>
              <a:buNone/>
            </a:pPr>
            <a:r>
              <a:rPr lang="en-US" sz="1250" dirty="0">
                <a:solidFill>
                  <a:srgbClr val="3A4756"/>
                </a:solidFill>
                <a:latin typeface="Calibri" pitchFamily="34" charset="0"/>
                <a:ea typeface="Calibri" pitchFamily="34" charset="-122"/>
                <a:cs typeface="Calibri" pitchFamily="34" charset="-120"/>
              </a:rPr>
              <a:t>You read the whole file to find the three numbers that matter today. Nothing tells you what changed since the last visit.</a:t>
            </a:r>
            <a:endParaRPr lang="en-US" sz="1250" dirty="0"/>
          </a:p>
        </p:txBody>
      </p:sp>
      <p:sp>
        <p:nvSpPr>
          <p:cNvPr id="12" name="Shape 8"/>
          <p:cNvSpPr/>
          <p:nvPr/>
        </p:nvSpPr>
        <p:spPr>
          <a:xfrm>
            <a:off x="6233008" y="1783080"/>
            <a:ext cx="2567864" cy="2788920"/>
          </a:xfrm>
          <a:prstGeom prst="roundRect">
            <a:avLst>
              <a:gd name="adj" fmla="val 4273"/>
            </a:avLst>
          </a:prstGeom>
          <a:solidFill>
            <a:srgbClr val="FFFFFF"/>
          </a:solidFill>
          <a:ln w="9525">
            <a:solidFill>
              <a:srgbClr val="ECE7DD"/>
            </a:solidFill>
            <a:prstDash val="solid"/>
          </a:ln>
          <a:effectLst>
            <a:outerShdw blurRad="101600" dist="25400" dir="5400000" algn="bl" rotWithShape="0">
              <a:srgbClr val="22303C">
                <a:alpha val="10000"/>
              </a:srgbClr>
            </a:outerShdw>
          </a:effectLst>
        </p:spPr>
      </p:sp>
      <p:pic>
        <p:nvPicPr>
          <p:cNvPr id="13" name="Image 2" descr="preencoded.png"/>
          <p:cNvPicPr>
            <a:picLocks noChangeAspect="1"/>
          </p:cNvPicPr>
          <p:nvPr/>
        </p:nvPicPr>
        <p:blipFill>
          <a:blip r:embed="rId3"/>
          <a:stretch>
            <a:fillRect/>
          </a:stretch>
        </p:blipFill>
        <p:spPr>
          <a:xfrm>
            <a:off x="6489040" y="2057400"/>
            <a:ext cx="566928" cy="566928"/>
          </a:xfrm>
          <a:prstGeom prst="rect">
            <a:avLst/>
          </a:prstGeom>
        </p:spPr>
      </p:pic>
      <p:sp>
        <p:nvSpPr>
          <p:cNvPr id="14" name="Text 9"/>
          <p:cNvSpPr/>
          <p:nvPr/>
        </p:nvSpPr>
        <p:spPr>
          <a:xfrm>
            <a:off x="6489040" y="2788920"/>
            <a:ext cx="2110664" cy="365760"/>
          </a:xfrm>
          <a:prstGeom prst="rect">
            <a:avLst/>
          </a:prstGeom>
          <a:noFill/>
        </p:spPr>
        <p:txBody>
          <a:bodyPr wrap="square" lIns="0" tIns="0" rIns="0" bIns="0" rtlCol="0" anchor="t"/>
          <a:lstStyle/>
          <a:p>
            <a:pPr marL="0" indent="0">
              <a:buNone/>
            </a:pPr>
            <a:r>
              <a:rPr lang="en-US" sz="1700" b="1" dirty="0">
                <a:solidFill>
                  <a:srgbClr val="22303C"/>
                </a:solidFill>
                <a:latin typeface="Cambria" pitchFamily="34" charset="0"/>
                <a:ea typeface="Cambria" pitchFamily="34" charset="-122"/>
                <a:cs typeface="Cambria" pitchFamily="34" charset="-120"/>
              </a:rPr>
              <a:t>Old systems</a:t>
            </a:r>
            <a:endParaRPr lang="en-US" sz="1700" dirty="0"/>
          </a:p>
        </p:txBody>
      </p:sp>
      <p:sp>
        <p:nvSpPr>
          <p:cNvPr id="15" name="Text 10"/>
          <p:cNvSpPr/>
          <p:nvPr/>
        </p:nvSpPr>
        <p:spPr>
          <a:xfrm>
            <a:off x="6489040" y="3200400"/>
            <a:ext cx="2110664" cy="1280160"/>
          </a:xfrm>
          <a:prstGeom prst="rect">
            <a:avLst/>
          </a:prstGeom>
          <a:noFill/>
        </p:spPr>
        <p:txBody>
          <a:bodyPr wrap="square" lIns="0" tIns="0" rIns="0" bIns="0" rtlCol="0" anchor="t"/>
          <a:lstStyle/>
          <a:p>
            <a:pPr marL="0" indent="0">
              <a:lnSpc>
                <a:spcPct val="115000"/>
              </a:lnSpc>
              <a:buNone/>
            </a:pPr>
            <a:r>
              <a:rPr lang="en-US" sz="1250" dirty="0">
                <a:solidFill>
                  <a:srgbClr val="3A4756"/>
                </a:solidFill>
                <a:latin typeface="Calibri" pitchFamily="34" charset="0"/>
                <a:ea typeface="Calibri" pitchFamily="34" charset="-122"/>
                <a:cs typeface="Calibri" pitchFamily="34" charset="-120"/>
              </a:rPr>
              <a:t>The HIS was built for billing and admissions, not for clinicians. A lab trend is a dozen clicks; the discharge summary is a scan.</a:t>
            </a:r>
            <a:endParaRPr lang="en-US" sz="1250" dirty="0"/>
          </a:p>
        </p:txBody>
      </p:sp>
      <p:sp>
        <p:nvSpPr>
          <p:cNvPr id="16" name="Shape 11"/>
          <p:cNvSpPr/>
          <p:nvPr/>
        </p:nvSpPr>
        <p:spPr>
          <a:xfrm>
            <a:off x="9075191" y="1783080"/>
            <a:ext cx="2567864" cy="2788920"/>
          </a:xfrm>
          <a:prstGeom prst="roundRect">
            <a:avLst>
              <a:gd name="adj" fmla="val 4273"/>
            </a:avLst>
          </a:prstGeom>
          <a:solidFill>
            <a:srgbClr val="FFFFFF"/>
          </a:solidFill>
          <a:ln w="9525">
            <a:solidFill>
              <a:srgbClr val="ECE7DD"/>
            </a:solidFill>
            <a:prstDash val="solid"/>
          </a:ln>
          <a:effectLst>
            <a:outerShdw blurRad="101600" dist="25400" dir="5400000" algn="bl" rotWithShape="0">
              <a:srgbClr val="22303C">
                <a:alpha val="10000"/>
              </a:srgbClr>
            </a:outerShdw>
          </a:effectLst>
        </p:spPr>
      </p:sp>
      <p:pic>
        <p:nvPicPr>
          <p:cNvPr id="17" name="Image 3" descr="preencoded.png"/>
          <p:cNvPicPr>
            <a:picLocks noChangeAspect="1"/>
          </p:cNvPicPr>
          <p:nvPr/>
        </p:nvPicPr>
        <p:blipFill>
          <a:blip r:embed="rId4"/>
          <a:stretch>
            <a:fillRect/>
          </a:stretch>
        </p:blipFill>
        <p:spPr>
          <a:xfrm>
            <a:off x="9331223" y="2057400"/>
            <a:ext cx="566928" cy="566928"/>
          </a:xfrm>
          <a:prstGeom prst="rect">
            <a:avLst/>
          </a:prstGeom>
        </p:spPr>
      </p:pic>
      <p:sp>
        <p:nvSpPr>
          <p:cNvPr id="18" name="Text 12"/>
          <p:cNvSpPr/>
          <p:nvPr/>
        </p:nvSpPr>
        <p:spPr>
          <a:xfrm>
            <a:off x="9331223" y="2788920"/>
            <a:ext cx="2110664" cy="365760"/>
          </a:xfrm>
          <a:prstGeom prst="rect">
            <a:avLst/>
          </a:prstGeom>
          <a:noFill/>
        </p:spPr>
        <p:txBody>
          <a:bodyPr wrap="square" lIns="0" tIns="0" rIns="0" bIns="0" rtlCol="0" anchor="t"/>
          <a:lstStyle/>
          <a:p>
            <a:pPr marL="0" indent="0">
              <a:buNone/>
            </a:pPr>
            <a:r>
              <a:rPr lang="en-US" sz="1700" b="1" dirty="0">
                <a:solidFill>
                  <a:srgbClr val="22303C"/>
                </a:solidFill>
                <a:latin typeface="Cambria" pitchFamily="34" charset="0"/>
                <a:ea typeface="Cambria" pitchFamily="34" charset="-122"/>
                <a:cs typeface="Cambria" pitchFamily="34" charset="-120"/>
              </a:rPr>
              <a:t>Siloed</a:t>
            </a:r>
            <a:endParaRPr lang="en-US" sz="1700" dirty="0"/>
          </a:p>
        </p:txBody>
      </p:sp>
      <p:sp>
        <p:nvSpPr>
          <p:cNvPr id="19" name="Text 13"/>
          <p:cNvSpPr/>
          <p:nvPr/>
        </p:nvSpPr>
        <p:spPr>
          <a:xfrm>
            <a:off x="9331223" y="3200400"/>
            <a:ext cx="2110664" cy="1280160"/>
          </a:xfrm>
          <a:prstGeom prst="rect">
            <a:avLst/>
          </a:prstGeom>
          <a:noFill/>
        </p:spPr>
        <p:txBody>
          <a:bodyPr wrap="square" lIns="0" tIns="0" rIns="0" bIns="0" rtlCol="0" anchor="t"/>
          <a:lstStyle/>
          <a:p>
            <a:pPr marL="0" indent="0">
              <a:lnSpc>
                <a:spcPct val="115000"/>
              </a:lnSpc>
              <a:buNone/>
            </a:pPr>
            <a:r>
              <a:rPr lang="en-US" sz="1250" dirty="0">
                <a:solidFill>
                  <a:srgbClr val="3A4756"/>
                </a:solidFill>
                <a:latin typeface="Calibri" pitchFamily="34" charset="0"/>
                <a:ea typeface="Calibri" pitchFamily="34" charset="-122"/>
                <a:cs typeface="Calibri" pitchFamily="34" charset="-120"/>
              </a:rPr>
              <a:t>A co-managed patient sees two specialists who never see each other’s notes, until something goes wrong.</a:t>
            </a:r>
            <a:endParaRPr lang="en-US" sz="1250" dirty="0"/>
          </a:p>
        </p:txBody>
      </p:sp>
      <p:sp>
        <p:nvSpPr>
          <p:cNvPr id="20" name="Shape 14"/>
          <p:cNvSpPr/>
          <p:nvPr/>
        </p:nvSpPr>
        <p:spPr>
          <a:xfrm>
            <a:off x="548640" y="4892040"/>
            <a:ext cx="11094415" cy="1188720"/>
          </a:xfrm>
          <a:prstGeom prst="roundRect">
            <a:avLst>
              <a:gd name="adj" fmla="val 9231"/>
            </a:avLst>
          </a:prstGeom>
          <a:solidFill>
            <a:srgbClr val="DFEEF7"/>
          </a:solidFill>
          <a:ln w="9525">
            <a:solidFill>
              <a:srgbClr val="DFEEF7"/>
            </a:solidFill>
            <a:prstDash val="solid"/>
          </a:ln>
        </p:spPr>
      </p:sp>
      <p:sp>
        <p:nvSpPr>
          <p:cNvPr id="21" name="Text 15"/>
          <p:cNvSpPr/>
          <p:nvPr/>
        </p:nvSpPr>
        <p:spPr>
          <a:xfrm>
            <a:off x="822960" y="5074920"/>
            <a:ext cx="2377440" cy="822960"/>
          </a:xfrm>
          <a:prstGeom prst="rect">
            <a:avLst/>
          </a:prstGeom>
          <a:noFill/>
        </p:spPr>
        <p:txBody>
          <a:bodyPr wrap="square" lIns="0" tIns="0" rIns="0" bIns="0" rtlCol="0" anchor="ctr"/>
          <a:lstStyle/>
          <a:p>
            <a:pPr marL="0" indent="0">
              <a:buNone/>
            </a:pPr>
            <a:r>
              <a:rPr lang="en-US" sz="1800" dirty="0">
                <a:solidFill>
                  <a:srgbClr val="22303C"/>
                </a:solidFill>
                <a:latin typeface="Cambria" pitchFamily="34" charset="0"/>
                <a:ea typeface="Cambria" pitchFamily="34" charset="-122"/>
                <a:cs typeface="Cambria" pitchFamily="34" charset="-120"/>
              </a:rPr>
              <a:t>Paid for three ways</a:t>
            </a:r>
            <a:endParaRPr lang="en-US" sz="1800" dirty="0"/>
          </a:p>
        </p:txBody>
      </p:sp>
      <p:pic>
        <p:nvPicPr>
          <p:cNvPr id="22" name="Image 4" descr="preencoded.png"/>
          <p:cNvPicPr>
            <a:picLocks noChangeAspect="1"/>
          </p:cNvPicPr>
          <p:nvPr/>
        </p:nvPicPr>
        <p:blipFill>
          <a:blip r:embed="rId5"/>
          <a:stretch>
            <a:fillRect/>
          </a:stretch>
        </p:blipFill>
        <p:spPr>
          <a:xfrm>
            <a:off x="3383280" y="5239512"/>
            <a:ext cx="457200" cy="457200"/>
          </a:xfrm>
          <a:prstGeom prst="rect">
            <a:avLst/>
          </a:prstGeom>
        </p:spPr>
      </p:pic>
      <p:sp>
        <p:nvSpPr>
          <p:cNvPr id="23" name="Text 16"/>
          <p:cNvSpPr/>
          <p:nvPr/>
        </p:nvSpPr>
        <p:spPr>
          <a:xfrm>
            <a:off x="3950208" y="5148072"/>
            <a:ext cx="2194560" cy="274320"/>
          </a:xfrm>
          <a:prstGeom prst="rect">
            <a:avLst/>
          </a:prstGeom>
          <a:noFill/>
        </p:spPr>
        <p:txBody>
          <a:bodyPr wrap="square" lIns="0" tIns="0" rIns="0" bIns="0" rtlCol="0" anchor="t"/>
          <a:lstStyle/>
          <a:p>
            <a:pPr marL="0" indent="0">
              <a:buNone/>
            </a:pPr>
            <a:r>
              <a:rPr lang="en-US" sz="1350" b="1" dirty="0">
                <a:solidFill>
                  <a:srgbClr val="22303C"/>
                </a:solidFill>
                <a:latin typeface="Calibri" pitchFamily="34" charset="0"/>
                <a:ea typeface="Calibri" pitchFamily="34" charset="-122"/>
                <a:cs typeface="Calibri" pitchFamily="34" charset="-120"/>
              </a:rPr>
              <a:t>Time</a:t>
            </a:r>
            <a:endParaRPr lang="en-US" sz="1350" dirty="0"/>
          </a:p>
        </p:txBody>
      </p:sp>
      <p:sp>
        <p:nvSpPr>
          <p:cNvPr id="24" name="Text 17"/>
          <p:cNvSpPr/>
          <p:nvPr/>
        </p:nvSpPr>
        <p:spPr>
          <a:xfrm>
            <a:off x="3950208" y="5422392"/>
            <a:ext cx="2194560" cy="548640"/>
          </a:xfrm>
          <a:prstGeom prst="rect">
            <a:avLst/>
          </a:prstGeom>
          <a:noFill/>
        </p:spPr>
        <p:txBody>
          <a:bodyPr wrap="square" lIns="0" tIns="0" rIns="0" bIns="0" rtlCol="0" anchor="t"/>
          <a:lstStyle/>
          <a:p>
            <a:pPr marL="0" indent="0">
              <a:lnSpc>
                <a:spcPct val="110000"/>
              </a:lnSpc>
              <a:buNone/>
            </a:pPr>
            <a:r>
              <a:rPr lang="en-US" sz="1150" dirty="0">
                <a:solidFill>
                  <a:srgbClr val="3A4756"/>
                </a:solidFill>
                <a:latin typeface="Calibri" pitchFamily="34" charset="0"/>
                <a:ea typeface="Calibri" pitchFamily="34" charset="-122"/>
                <a:cs typeface="Calibri" pitchFamily="34" charset="-120"/>
              </a:rPr>
              <a:t>Fewer patients per OPD session.</a:t>
            </a:r>
            <a:endParaRPr lang="en-US" sz="1150" dirty="0"/>
          </a:p>
        </p:txBody>
      </p:sp>
      <p:pic>
        <p:nvPicPr>
          <p:cNvPr id="25" name="Image 5" descr="preencoded.png"/>
          <p:cNvPicPr>
            <a:picLocks noChangeAspect="1"/>
          </p:cNvPicPr>
          <p:nvPr/>
        </p:nvPicPr>
        <p:blipFill>
          <a:blip r:embed="rId6"/>
          <a:stretch>
            <a:fillRect/>
          </a:stretch>
        </p:blipFill>
        <p:spPr>
          <a:xfrm>
            <a:off x="6217920" y="5239512"/>
            <a:ext cx="457200" cy="457200"/>
          </a:xfrm>
          <a:prstGeom prst="rect">
            <a:avLst/>
          </a:prstGeom>
        </p:spPr>
      </p:pic>
      <p:sp>
        <p:nvSpPr>
          <p:cNvPr id="26" name="Text 18"/>
          <p:cNvSpPr/>
          <p:nvPr/>
        </p:nvSpPr>
        <p:spPr>
          <a:xfrm>
            <a:off x="6784848" y="5148072"/>
            <a:ext cx="2194560" cy="274320"/>
          </a:xfrm>
          <a:prstGeom prst="rect">
            <a:avLst/>
          </a:prstGeom>
          <a:noFill/>
        </p:spPr>
        <p:txBody>
          <a:bodyPr wrap="square" lIns="0" tIns="0" rIns="0" bIns="0" rtlCol="0" anchor="t"/>
          <a:lstStyle/>
          <a:p>
            <a:pPr marL="0" indent="0">
              <a:buNone/>
            </a:pPr>
            <a:r>
              <a:rPr lang="en-US" sz="1350" b="1" dirty="0">
                <a:solidFill>
                  <a:srgbClr val="22303C"/>
                </a:solidFill>
                <a:latin typeface="Calibri" pitchFamily="34" charset="0"/>
                <a:ea typeface="Calibri" pitchFamily="34" charset="-122"/>
                <a:cs typeface="Calibri" pitchFamily="34" charset="-120"/>
              </a:rPr>
              <a:t>Money</a:t>
            </a:r>
            <a:endParaRPr lang="en-US" sz="1350" dirty="0"/>
          </a:p>
        </p:txBody>
      </p:sp>
      <p:sp>
        <p:nvSpPr>
          <p:cNvPr id="27" name="Text 19"/>
          <p:cNvSpPr/>
          <p:nvPr/>
        </p:nvSpPr>
        <p:spPr>
          <a:xfrm>
            <a:off x="6784848" y="5422392"/>
            <a:ext cx="2194560" cy="548640"/>
          </a:xfrm>
          <a:prstGeom prst="rect">
            <a:avLst/>
          </a:prstGeom>
          <a:noFill/>
        </p:spPr>
        <p:txBody>
          <a:bodyPr wrap="square" lIns="0" tIns="0" rIns="0" bIns="0" rtlCol="0" anchor="t"/>
          <a:lstStyle/>
          <a:p>
            <a:pPr marL="0" indent="0">
              <a:lnSpc>
                <a:spcPct val="110000"/>
              </a:lnSpc>
              <a:buNone/>
            </a:pPr>
            <a:r>
              <a:rPr lang="en-US" sz="1150" dirty="0">
                <a:solidFill>
                  <a:srgbClr val="3A4756"/>
                </a:solidFill>
                <a:latin typeface="Calibri" pitchFamily="34" charset="0"/>
                <a:ea typeface="Calibri" pitchFamily="34" charset="-122"/>
                <a:cs typeface="Calibri" pitchFamily="34" charset="-120"/>
              </a:rPr>
              <a:t>Investigations repeated because the report is in a bag at home.</a:t>
            </a:r>
            <a:endParaRPr lang="en-US" sz="1150" dirty="0"/>
          </a:p>
        </p:txBody>
      </p:sp>
      <p:pic>
        <p:nvPicPr>
          <p:cNvPr id="28" name="Image 6" descr="preencoded.png"/>
          <p:cNvPicPr>
            <a:picLocks noChangeAspect="1"/>
          </p:cNvPicPr>
          <p:nvPr/>
        </p:nvPicPr>
        <p:blipFill>
          <a:blip r:embed="rId7"/>
          <a:stretch>
            <a:fillRect/>
          </a:stretch>
        </p:blipFill>
        <p:spPr>
          <a:xfrm>
            <a:off x="9052560" y="5239512"/>
            <a:ext cx="457200" cy="457200"/>
          </a:xfrm>
          <a:prstGeom prst="rect">
            <a:avLst/>
          </a:prstGeom>
        </p:spPr>
      </p:pic>
      <p:sp>
        <p:nvSpPr>
          <p:cNvPr id="29" name="Text 20"/>
          <p:cNvSpPr/>
          <p:nvPr/>
        </p:nvSpPr>
        <p:spPr>
          <a:xfrm>
            <a:off x="9619488" y="5148072"/>
            <a:ext cx="2194560" cy="274320"/>
          </a:xfrm>
          <a:prstGeom prst="rect">
            <a:avLst/>
          </a:prstGeom>
          <a:noFill/>
        </p:spPr>
        <p:txBody>
          <a:bodyPr wrap="square" lIns="0" tIns="0" rIns="0" bIns="0" rtlCol="0" anchor="t"/>
          <a:lstStyle/>
          <a:p>
            <a:pPr marL="0" indent="0">
              <a:buNone/>
            </a:pPr>
            <a:r>
              <a:rPr lang="en-US" sz="1350" b="1" dirty="0">
                <a:solidFill>
                  <a:srgbClr val="22303C"/>
                </a:solidFill>
                <a:latin typeface="Calibri" pitchFamily="34" charset="0"/>
                <a:ea typeface="Calibri" pitchFamily="34" charset="-122"/>
                <a:cs typeface="Calibri" pitchFamily="34" charset="-120"/>
              </a:rPr>
              <a:t>Attention</a:t>
            </a:r>
            <a:endParaRPr lang="en-US" sz="1350" dirty="0"/>
          </a:p>
        </p:txBody>
      </p:sp>
      <p:sp>
        <p:nvSpPr>
          <p:cNvPr id="30" name="Text 21"/>
          <p:cNvSpPr/>
          <p:nvPr/>
        </p:nvSpPr>
        <p:spPr>
          <a:xfrm>
            <a:off x="9619488" y="5422392"/>
            <a:ext cx="2194560" cy="548640"/>
          </a:xfrm>
          <a:prstGeom prst="rect">
            <a:avLst/>
          </a:prstGeom>
          <a:noFill/>
        </p:spPr>
        <p:txBody>
          <a:bodyPr wrap="square" lIns="0" tIns="0" rIns="0" bIns="0" rtlCol="0" anchor="t"/>
          <a:lstStyle/>
          <a:p>
            <a:pPr marL="0" indent="0">
              <a:lnSpc>
                <a:spcPct val="110000"/>
              </a:lnSpc>
              <a:buNone/>
            </a:pPr>
            <a:r>
              <a:rPr lang="en-US" sz="1150" dirty="0">
                <a:solidFill>
                  <a:srgbClr val="3A4756"/>
                </a:solidFill>
                <a:latin typeface="Calibri" pitchFamily="34" charset="0"/>
                <a:ea typeface="Calibri" pitchFamily="34" charset="-122"/>
                <a:cs typeface="Calibri" pitchFamily="34" charset="-120"/>
              </a:rPr>
              <a:t>Decisions made on an incomplete file.</a:t>
            </a:r>
            <a:endParaRPr lang="en-US" sz="1150" dirty="0"/>
          </a:p>
        </p:txBody>
      </p:sp>
      <p:sp>
        <p:nvSpPr>
          <p:cNvPr id="31" name="Text 22"/>
          <p:cNvSpPr/>
          <p:nvPr/>
        </p:nvSpPr>
        <p:spPr>
          <a:xfrm>
            <a:off x="11277295" y="6473952"/>
            <a:ext cx="365760" cy="228600"/>
          </a:xfrm>
          <a:prstGeom prst="rect">
            <a:avLst/>
          </a:prstGeom>
          <a:noFill/>
        </p:spPr>
        <p:txBody>
          <a:bodyPr wrap="square" lIns="0" tIns="0" rIns="0" bIns="0" rtlCol="0" anchor="t"/>
          <a:lstStyle/>
          <a:p>
            <a:pPr marL="0" indent="0" algn="r">
              <a:buNone/>
            </a:pPr>
            <a:r>
              <a:rPr lang="en-US" sz="900" dirty="0">
                <a:solidFill>
                  <a:srgbClr val="7D868E"/>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7F1"/>
        </a:solidFill>
        <a:effectLst/>
      </p:bgPr>
    </p:bg>
    <p:spTree>
      <p:nvGrpSpPr>
        <p:cNvPr id="1" name=""/>
        <p:cNvGrpSpPr/>
        <p:nvPr/>
      </p:nvGrpSpPr>
      <p:grpSpPr>
        <a:xfrm>
          <a:off x="0" y="0"/>
          <a:ext cx="0" cy="0"/>
          <a:chOff x="0" y="0"/>
          <a:chExt cx="0" cy="0"/>
        </a:xfrm>
      </p:grpSpPr>
      <p:sp>
        <p:nvSpPr>
          <p:cNvPr id="2" name="Text 0"/>
          <p:cNvSpPr/>
          <p:nvPr/>
        </p:nvSpPr>
        <p:spPr>
          <a:xfrm>
            <a:off x="548640" y="502920"/>
            <a:ext cx="5486400" cy="274320"/>
          </a:xfrm>
          <a:prstGeom prst="rect">
            <a:avLst/>
          </a:prstGeom>
          <a:noFill/>
        </p:spPr>
        <p:txBody>
          <a:bodyPr wrap="square" lIns="0" tIns="0" rIns="0" bIns="0" rtlCol="0" anchor="t"/>
          <a:lstStyle/>
          <a:p>
            <a:pPr marL="0" indent="0">
              <a:buNone/>
            </a:pPr>
            <a:r>
              <a:rPr lang="en-US" sz="1050" b="1" kern="0" spc="300" dirty="0">
                <a:solidFill>
                  <a:srgbClr val="0072A8"/>
                </a:solidFill>
                <a:latin typeface="Calibri" pitchFamily="34" charset="0"/>
                <a:ea typeface="Calibri" pitchFamily="34" charset="-122"/>
                <a:cs typeface="Calibri" pitchFamily="34" charset="-120"/>
              </a:rPr>
              <a:t>WHY IT IS STILL UNSOLVED</a:t>
            </a:r>
            <a:endParaRPr lang="en-US" sz="1050" dirty="0"/>
          </a:p>
        </p:txBody>
      </p:sp>
      <p:sp>
        <p:nvSpPr>
          <p:cNvPr id="3" name="Text 1"/>
          <p:cNvSpPr/>
          <p:nvPr/>
        </p:nvSpPr>
        <p:spPr>
          <a:xfrm>
            <a:off x="548640" y="822960"/>
            <a:ext cx="11094415" cy="731520"/>
          </a:xfrm>
          <a:prstGeom prst="rect">
            <a:avLst/>
          </a:prstGeom>
          <a:noFill/>
        </p:spPr>
        <p:txBody>
          <a:bodyPr wrap="square" lIns="0" tIns="0" rIns="0" bIns="0" rtlCol="0" anchor="t"/>
          <a:lstStyle/>
          <a:p>
            <a:pPr marL="0" indent="0">
              <a:buNone/>
            </a:pPr>
            <a:r>
              <a:rPr lang="en-US" sz="3200" dirty="0">
                <a:solidFill>
                  <a:srgbClr val="22303C"/>
                </a:solidFill>
                <a:latin typeface="Cambria" pitchFamily="34" charset="0"/>
                <a:ea typeface="Cambria" pitchFamily="34" charset="-122"/>
                <a:cs typeface="Cambria" pitchFamily="34" charset="-120"/>
              </a:rPr>
              <a:t>Every previous answer meant starting over.</a:t>
            </a:r>
            <a:endParaRPr lang="en-US" sz="3200" dirty="0"/>
          </a:p>
        </p:txBody>
      </p:sp>
      <p:sp>
        <p:nvSpPr>
          <p:cNvPr id="4" name="Shape 2"/>
          <p:cNvSpPr/>
          <p:nvPr/>
        </p:nvSpPr>
        <p:spPr>
          <a:xfrm>
            <a:off x="548640" y="1783080"/>
            <a:ext cx="3429000" cy="2148840"/>
          </a:xfrm>
          <a:prstGeom prst="roundRect">
            <a:avLst>
              <a:gd name="adj" fmla="val 5106"/>
            </a:avLst>
          </a:prstGeom>
          <a:solidFill>
            <a:srgbClr val="FFFFFF"/>
          </a:solidFill>
          <a:ln w="9525">
            <a:solidFill>
              <a:srgbClr val="ECE7DD"/>
            </a:solidFill>
            <a:prstDash val="solid"/>
          </a:ln>
          <a:effectLst>
            <a:outerShdw blurRad="101600" dist="25400" dir="5400000" algn="bl" rotWithShape="0">
              <a:srgbClr val="22303C">
                <a:alpha val="10000"/>
              </a:srgbClr>
            </a:outerShdw>
          </a:effectLst>
        </p:spPr>
      </p:sp>
      <p:pic>
        <p:nvPicPr>
          <p:cNvPr id="5" name="Image 0" descr="preencoded.png"/>
          <p:cNvPicPr>
            <a:picLocks noChangeAspect="1"/>
          </p:cNvPicPr>
          <p:nvPr/>
        </p:nvPicPr>
        <p:blipFill>
          <a:blip r:embed="rId1"/>
          <a:stretch>
            <a:fillRect/>
          </a:stretch>
        </p:blipFill>
        <p:spPr>
          <a:xfrm>
            <a:off x="804672" y="2057400"/>
            <a:ext cx="512064" cy="512064"/>
          </a:xfrm>
          <a:prstGeom prst="rect">
            <a:avLst/>
          </a:prstGeom>
        </p:spPr>
      </p:pic>
      <p:sp>
        <p:nvSpPr>
          <p:cNvPr id="6" name="Text 3"/>
          <p:cNvSpPr/>
          <p:nvPr/>
        </p:nvSpPr>
        <p:spPr>
          <a:xfrm>
            <a:off x="1444752" y="2112264"/>
            <a:ext cx="2286000" cy="411480"/>
          </a:xfrm>
          <a:prstGeom prst="rect">
            <a:avLst/>
          </a:prstGeom>
          <a:noFill/>
        </p:spPr>
        <p:txBody>
          <a:bodyPr wrap="square" lIns="0" tIns="0" rIns="0" bIns="0" rtlCol="0" anchor="t"/>
          <a:lstStyle/>
          <a:p>
            <a:pPr marL="0" indent="0">
              <a:buNone/>
            </a:pPr>
            <a:r>
              <a:rPr lang="en-US" sz="1800" b="1" dirty="0">
                <a:solidFill>
                  <a:srgbClr val="22303C"/>
                </a:solidFill>
                <a:latin typeface="Cambria" pitchFamily="34" charset="0"/>
                <a:ea typeface="Cambria" pitchFamily="34" charset="-122"/>
                <a:cs typeface="Cambria" pitchFamily="34" charset="-120"/>
              </a:rPr>
              <a:t>Time</a:t>
            </a:r>
            <a:endParaRPr lang="en-US" sz="1800" dirty="0"/>
          </a:p>
        </p:txBody>
      </p:sp>
      <p:sp>
        <p:nvSpPr>
          <p:cNvPr id="7" name="Text 4"/>
          <p:cNvSpPr/>
          <p:nvPr/>
        </p:nvSpPr>
        <p:spPr>
          <a:xfrm>
            <a:off x="804672" y="2743200"/>
            <a:ext cx="2971800" cy="1097280"/>
          </a:xfrm>
          <a:prstGeom prst="rect">
            <a:avLst/>
          </a:prstGeom>
          <a:noFill/>
        </p:spPr>
        <p:txBody>
          <a:bodyPr wrap="square" lIns="0" tIns="0" rIns="0" bIns="0" rtlCol="0" anchor="t"/>
          <a:lstStyle/>
          <a:p>
            <a:pPr marL="0" indent="0">
              <a:lnSpc>
                <a:spcPct val="115000"/>
              </a:lnSpc>
              <a:buNone/>
            </a:pPr>
            <a:r>
              <a:rPr lang="en-US" sz="1250" dirty="0">
                <a:solidFill>
                  <a:srgbClr val="3A4756"/>
                </a:solidFill>
                <a:latin typeface="Calibri" pitchFamily="34" charset="0"/>
                <a:ea typeface="Calibri" pitchFamily="34" charset="-122"/>
                <a:cs typeface="Calibri" pitchFamily="34" charset="-120"/>
              </a:rPr>
              <a:t>Replacing the HIS means years of migration. Clinicians carry the disruption while the vendor carries the invoice.</a:t>
            </a:r>
            <a:endParaRPr lang="en-US" sz="1250" dirty="0"/>
          </a:p>
        </p:txBody>
      </p:sp>
      <p:sp>
        <p:nvSpPr>
          <p:cNvPr id="8" name="Shape 5"/>
          <p:cNvSpPr/>
          <p:nvPr/>
        </p:nvSpPr>
        <p:spPr>
          <a:xfrm>
            <a:off x="4206240" y="1783080"/>
            <a:ext cx="3429000" cy="2148840"/>
          </a:xfrm>
          <a:prstGeom prst="roundRect">
            <a:avLst>
              <a:gd name="adj" fmla="val 5106"/>
            </a:avLst>
          </a:prstGeom>
          <a:solidFill>
            <a:srgbClr val="FFFFFF"/>
          </a:solidFill>
          <a:ln w="9525">
            <a:solidFill>
              <a:srgbClr val="ECE7DD"/>
            </a:solidFill>
            <a:prstDash val="solid"/>
          </a:ln>
          <a:effectLst>
            <a:outerShdw blurRad="101600" dist="25400" dir="5400000" algn="bl" rotWithShape="0">
              <a:srgbClr val="22303C">
                <a:alpha val="10000"/>
              </a:srgbClr>
            </a:outerShdw>
          </a:effectLst>
        </p:spPr>
      </p:sp>
      <p:pic>
        <p:nvPicPr>
          <p:cNvPr id="9" name="Image 1" descr="preencoded.png"/>
          <p:cNvPicPr>
            <a:picLocks noChangeAspect="1"/>
          </p:cNvPicPr>
          <p:nvPr/>
        </p:nvPicPr>
        <p:blipFill>
          <a:blip r:embed="rId2"/>
          <a:stretch>
            <a:fillRect/>
          </a:stretch>
        </p:blipFill>
        <p:spPr>
          <a:xfrm>
            <a:off x="4462272" y="2057400"/>
            <a:ext cx="512064" cy="512064"/>
          </a:xfrm>
          <a:prstGeom prst="rect">
            <a:avLst/>
          </a:prstGeom>
        </p:spPr>
      </p:pic>
      <p:sp>
        <p:nvSpPr>
          <p:cNvPr id="10" name="Text 6"/>
          <p:cNvSpPr/>
          <p:nvPr/>
        </p:nvSpPr>
        <p:spPr>
          <a:xfrm>
            <a:off x="5102352" y="2112264"/>
            <a:ext cx="2286000" cy="411480"/>
          </a:xfrm>
          <a:prstGeom prst="rect">
            <a:avLst/>
          </a:prstGeom>
          <a:noFill/>
        </p:spPr>
        <p:txBody>
          <a:bodyPr wrap="square" lIns="0" tIns="0" rIns="0" bIns="0" rtlCol="0" anchor="t"/>
          <a:lstStyle/>
          <a:p>
            <a:pPr marL="0" indent="0">
              <a:buNone/>
            </a:pPr>
            <a:r>
              <a:rPr lang="en-US" sz="1800" b="1" dirty="0">
                <a:solidFill>
                  <a:srgbClr val="22303C"/>
                </a:solidFill>
                <a:latin typeface="Cambria" pitchFamily="34" charset="0"/>
                <a:ea typeface="Cambria" pitchFamily="34" charset="-122"/>
                <a:cs typeface="Cambria" pitchFamily="34" charset="-120"/>
              </a:rPr>
              <a:t>Money</a:t>
            </a:r>
            <a:endParaRPr lang="en-US" sz="1800" dirty="0"/>
          </a:p>
        </p:txBody>
      </p:sp>
      <p:sp>
        <p:nvSpPr>
          <p:cNvPr id="11" name="Text 7"/>
          <p:cNvSpPr/>
          <p:nvPr/>
        </p:nvSpPr>
        <p:spPr>
          <a:xfrm>
            <a:off x="4462272" y="2743200"/>
            <a:ext cx="2971800" cy="1097280"/>
          </a:xfrm>
          <a:prstGeom prst="rect">
            <a:avLst/>
          </a:prstGeom>
          <a:noFill/>
        </p:spPr>
        <p:txBody>
          <a:bodyPr wrap="square" lIns="0" tIns="0" rIns="0" bIns="0" rtlCol="0" anchor="t"/>
          <a:lstStyle/>
          <a:p>
            <a:pPr marL="0" indent="0">
              <a:lnSpc>
                <a:spcPct val="115000"/>
              </a:lnSpc>
              <a:buNone/>
            </a:pPr>
            <a:r>
              <a:rPr lang="en-US" sz="1250" dirty="0">
                <a:solidFill>
                  <a:srgbClr val="3A4756"/>
                </a:solidFill>
                <a:latin typeface="Calibri" pitchFamily="34" charset="0"/>
                <a:ea typeface="Calibri" pitchFamily="34" charset="-122"/>
                <a:cs typeface="Calibri" pitchFamily="34" charset="-120"/>
              </a:rPr>
              <a:t>Rip-and-replace costs crores, plus a change freeze. Most hospitals have just finished the last one.</a:t>
            </a:r>
            <a:endParaRPr lang="en-US" sz="1250" dirty="0"/>
          </a:p>
        </p:txBody>
      </p:sp>
      <p:sp>
        <p:nvSpPr>
          <p:cNvPr id="12" name="Shape 8"/>
          <p:cNvSpPr/>
          <p:nvPr/>
        </p:nvSpPr>
        <p:spPr>
          <a:xfrm>
            <a:off x="7863840" y="1783080"/>
            <a:ext cx="3429000" cy="2148840"/>
          </a:xfrm>
          <a:prstGeom prst="roundRect">
            <a:avLst>
              <a:gd name="adj" fmla="val 5106"/>
            </a:avLst>
          </a:prstGeom>
          <a:solidFill>
            <a:srgbClr val="FFFFFF"/>
          </a:solidFill>
          <a:ln w="9525">
            <a:solidFill>
              <a:srgbClr val="ECE7DD"/>
            </a:solidFill>
            <a:prstDash val="solid"/>
          </a:ln>
          <a:effectLst>
            <a:outerShdw blurRad="101600" dist="25400" dir="5400000" algn="bl" rotWithShape="0">
              <a:srgbClr val="22303C">
                <a:alpha val="10000"/>
              </a:srgbClr>
            </a:outerShdw>
          </a:effectLst>
        </p:spPr>
      </p:sp>
      <p:pic>
        <p:nvPicPr>
          <p:cNvPr id="13" name="Image 2" descr="preencoded.png"/>
          <p:cNvPicPr>
            <a:picLocks noChangeAspect="1"/>
          </p:cNvPicPr>
          <p:nvPr/>
        </p:nvPicPr>
        <p:blipFill>
          <a:blip r:embed="rId3"/>
          <a:stretch>
            <a:fillRect/>
          </a:stretch>
        </p:blipFill>
        <p:spPr>
          <a:xfrm>
            <a:off x="8119872" y="2057400"/>
            <a:ext cx="512064" cy="512064"/>
          </a:xfrm>
          <a:prstGeom prst="rect">
            <a:avLst/>
          </a:prstGeom>
        </p:spPr>
      </p:pic>
      <p:sp>
        <p:nvSpPr>
          <p:cNvPr id="14" name="Text 9"/>
          <p:cNvSpPr/>
          <p:nvPr/>
        </p:nvSpPr>
        <p:spPr>
          <a:xfrm>
            <a:off x="8759952" y="2112264"/>
            <a:ext cx="2286000" cy="411480"/>
          </a:xfrm>
          <a:prstGeom prst="rect">
            <a:avLst/>
          </a:prstGeom>
          <a:noFill/>
        </p:spPr>
        <p:txBody>
          <a:bodyPr wrap="square" lIns="0" tIns="0" rIns="0" bIns="0" rtlCol="0" anchor="t"/>
          <a:lstStyle/>
          <a:p>
            <a:pPr marL="0" indent="0">
              <a:buNone/>
            </a:pPr>
            <a:r>
              <a:rPr lang="en-US" sz="1800" b="1" dirty="0">
                <a:solidFill>
                  <a:srgbClr val="22303C"/>
                </a:solidFill>
                <a:latin typeface="Cambria" pitchFamily="34" charset="0"/>
                <a:ea typeface="Cambria" pitchFamily="34" charset="-122"/>
                <a:cs typeface="Cambria" pitchFamily="34" charset="-120"/>
              </a:rPr>
              <a:t>Effort</a:t>
            </a:r>
            <a:endParaRPr lang="en-US" sz="1800" dirty="0"/>
          </a:p>
        </p:txBody>
      </p:sp>
      <p:sp>
        <p:nvSpPr>
          <p:cNvPr id="15" name="Text 10"/>
          <p:cNvSpPr/>
          <p:nvPr/>
        </p:nvSpPr>
        <p:spPr>
          <a:xfrm>
            <a:off x="8119872" y="2743200"/>
            <a:ext cx="2971800" cy="1097280"/>
          </a:xfrm>
          <a:prstGeom prst="rect">
            <a:avLst/>
          </a:prstGeom>
          <a:noFill/>
        </p:spPr>
        <p:txBody>
          <a:bodyPr wrap="square" lIns="0" tIns="0" rIns="0" bIns="0" rtlCol="0" anchor="t"/>
          <a:lstStyle/>
          <a:p>
            <a:pPr marL="0" indent="0">
              <a:lnSpc>
                <a:spcPct val="115000"/>
              </a:lnSpc>
              <a:buNone/>
            </a:pPr>
            <a:r>
              <a:rPr lang="en-US" sz="1250" dirty="0">
                <a:solidFill>
                  <a:srgbClr val="3A4756"/>
                </a:solidFill>
                <a:latin typeface="Calibri" pitchFamily="34" charset="0"/>
                <a:ea typeface="Calibri" pitchFamily="34" charset="-122"/>
                <a:cs typeface="Calibri" pitchFamily="34" charset="-120"/>
              </a:rPr>
              <a:t>EMRs asked doctors to type more. Every minute typing is a minute not consulting, so the data never got entered.</a:t>
            </a:r>
            <a:endParaRPr lang="en-US" sz="1250" dirty="0"/>
          </a:p>
        </p:txBody>
      </p:sp>
      <p:sp>
        <p:nvSpPr>
          <p:cNvPr id="16" name="Shape 11"/>
          <p:cNvSpPr/>
          <p:nvPr/>
        </p:nvSpPr>
        <p:spPr>
          <a:xfrm>
            <a:off x="548640" y="4206240"/>
            <a:ext cx="6858000" cy="2057400"/>
          </a:xfrm>
          <a:prstGeom prst="roundRect">
            <a:avLst>
              <a:gd name="adj" fmla="val 5333"/>
            </a:avLst>
          </a:prstGeom>
          <a:solidFill>
            <a:srgbClr val="22303C"/>
          </a:solidFill>
          <a:ln w="9525">
            <a:solidFill>
              <a:srgbClr val="22303C"/>
            </a:solidFill>
            <a:prstDash val="solid"/>
          </a:ln>
        </p:spPr>
      </p:sp>
      <p:sp>
        <p:nvSpPr>
          <p:cNvPr id="17" name="Text 12"/>
          <p:cNvSpPr/>
          <p:nvPr/>
        </p:nvSpPr>
        <p:spPr>
          <a:xfrm>
            <a:off x="868680" y="4434840"/>
            <a:ext cx="2743200" cy="274320"/>
          </a:xfrm>
          <a:prstGeom prst="rect">
            <a:avLst/>
          </a:prstGeom>
          <a:noFill/>
        </p:spPr>
        <p:txBody>
          <a:bodyPr wrap="square" lIns="0" tIns="0" rIns="0" bIns="0" rtlCol="0" anchor="t"/>
          <a:lstStyle/>
          <a:p>
            <a:pPr marL="0" indent="0">
              <a:buNone/>
            </a:pPr>
            <a:r>
              <a:rPr lang="en-US" sz="1050" b="1" kern="0" spc="300" dirty="0">
                <a:solidFill>
                  <a:srgbClr val="61AFDA"/>
                </a:solidFill>
                <a:latin typeface="Calibri" pitchFamily="34" charset="0"/>
                <a:ea typeface="Calibri" pitchFamily="34" charset="-122"/>
                <a:cs typeface="Calibri" pitchFamily="34" charset="-120"/>
              </a:rPr>
              <a:t>The insight</a:t>
            </a:r>
            <a:endParaRPr lang="en-US" sz="1050" dirty="0"/>
          </a:p>
        </p:txBody>
      </p:sp>
      <p:sp>
        <p:nvSpPr>
          <p:cNvPr id="18" name="Text 13"/>
          <p:cNvSpPr/>
          <p:nvPr/>
        </p:nvSpPr>
        <p:spPr>
          <a:xfrm>
            <a:off x="868680" y="4754880"/>
            <a:ext cx="6217920" cy="1371600"/>
          </a:xfrm>
          <a:prstGeom prst="rect">
            <a:avLst/>
          </a:prstGeom>
          <a:noFill/>
        </p:spPr>
        <p:txBody>
          <a:bodyPr wrap="square" lIns="0" tIns="0" rIns="0" bIns="0" rtlCol="0" anchor="t"/>
          <a:lstStyle/>
          <a:p>
            <a:pPr marL="0" indent="0">
              <a:lnSpc>
                <a:spcPct val="115000"/>
              </a:lnSpc>
              <a:buNone/>
            </a:pPr>
            <a:r>
              <a:rPr lang="en-US" sz="1800" dirty="0">
                <a:solidFill>
                  <a:srgbClr val="FFFFFF"/>
                </a:solidFill>
                <a:latin typeface="Cambria" pitchFamily="34" charset="0"/>
                <a:ea typeface="Cambria" pitchFamily="34" charset="-122"/>
                <a:cs typeface="Cambria" pitchFamily="34" charset="-120"/>
              </a:rPr>
              <a:t>The records already exist. Every lab, discharge and prescription is finalised somewhere in your building. The problem is not creating data. It is reading it, in one place, in seconds.</a:t>
            </a:r>
            <a:endParaRPr lang="en-US" sz="1800" dirty="0"/>
          </a:p>
        </p:txBody>
      </p:sp>
      <p:sp>
        <p:nvSpPr>
          <p:cNvPr id="19" name="Shape 14"/>
          <p:cNvSpPr/>
          <p:nvPr/>
        </p:nvSpPr>
        <p:spPr>
          <a:xfrm>
            <a:off x="7818120" y="4206240"/>
            <a:ext cx="3840480" cy="603504"/>
          </a:xfrm>
          <a:prstGeom prst="roundRect">
            <a:avLst>
              <a:gd name="adj" fmla="val 12121"/>
            </a:avLst>
          </a:prstGeom>
          <a:solidFill>
            <a:srgbClr val="DFEEF7"/>
          </a:solidFill>
          <a:ln w="12700">
            <a:solidFill>
              <a:srgbClr val="DFEEF7"/>
            </a:solidFill>
            <a:prstDash val="solid"/>
          </a:ln>
        </p:spPr>
      </p:sp>
      <p:sp>
        <p:nvSpPr>
          <p:cNvPr id="20" name="Text 15"/>
          <p:cNvSpPr/>
          <p:nvPr/>
        </p:nvSpPr>
        <p:spPr>
          <a:xfrm>
            <a:off x="8001000" y="4279392"/>
            <a:ext cx="3474720" cy="274320"/>
          </a:xfrm>
          <a:prstGeom prst="rect">
            <a:avLst/>
          </a:prstGeom>
          <a:noFill/>
        </p:spPr>
        <p:txBody>
          <a:bodyPr wrap="square" lIns="0" tIns="0" rIns="0" bIns="0" rtlCol="0" anchor="t"/>
          <a:lstStyle/>
          <a:p>
            <a:pPr marL="0" indent="0">
              <a:buNone/>
            </a:pPr>
            <a:r>
              <a:rPr lang="en-US" sz="1300" b="1" dirty="0">
                <a:solidFill>
                  <a:srgbClr val="22303C"/>
                </a:solidFill>
                <a:latin typeface="Calibri" pitchFamily="34" charset="0"/>
                <a:ea typeface="Calibri" pitchFamily="34" charset="-122"/>
                <a:cs typeface="Calibri" pitchFamily="34" charset="-120"/>
              </a:rPr>
              <a:t>Doctor app · Patient app</a:t>
            </a:r>
            <a:endParaRPr lang="en-US" sz="1300" dirty="0"/>
          </a:p>
        </p:txBody>
      </p:sp>
      <p:sp>
        <p:nvSpPr>
          <p:cNvPr id="21" name="Text 16"/>
          <p:cNvSpPr/>
          <p:nvPr/>
        </p:nvSpPr>
        <p:spPr>
          <a:xfrm>
            <a:off x="8001000" y="4535424"/>
            <a:ext cx="3474720" cy="237744"/>
          </a:xfrm>
          <a:prstGeom prst="rect">
            <a:avLst/>
          </a:prstGeom>
          <a:noFill/>
        </p:spPr>
        <p:txBody>
          <a:bodyPr wrap="square" lIns="0" tIns="0" rIns="0" bIns="0" rtlCol="0" anchor="t"/>
          <a:lstStyle/>
          <a:p>
            <a:pPr marL="0" indent="0">
              <a:buNone/>
            </a:pPr>
            <a:r>
              <a:rPr lang="en-US" sz="1050" dirty="0">
                <a:solidFill>
                  <a:srgbClr val="5C6873"/>
                </a:solidFill>
                <a:latin typeface="Calibri" pitchFamily="34" charset="0"/>
                <a:ea typeface="Calibri" pitchFamily="34" charset="-122"/>
                <a:cs typeface="Calibri" pitchFamily="34" charset="-120"/>
              </a:rPr>
              <a:t>the reading layer</a:t>
            </a:r>
            <a:endParaRPr lang="en-US" sz="1050" dirty="0"/>
          </a:p>
        </p:txBody>
      </p:sp>
      <p:sp>
        <p:nvSpPr>
          <p:cNvPr id="22" name="Shape 17"/>
          <p:cNvSpPr/>
          <p:nvPr/>
        </p:nvSpPr>
        <p:spPr>
          <a:xfrm>
            <a:off x="7818120" y="4919472"/>
            <a:ext cx="3840480" cy="603504"/>
          </a:xfrm>
          <a:prstGeom prst="roundRect">
            <a:avLst>
              <a:gd name="adj" fmla="val 12121"/>
            </a:avLst>
          </a:prstGeom>
          <a:solidFill>
            <a:srgbClr val="0072A8"/>
          </a:solidFill>
          <a:ln w="12700">
            <a:solidFill>
              <a:srgbClr val="0072A8"/>
            </a:solidFill>
            <a:prstDash val="solid"/>
          </a:ln>
        </p:spPr>
      </p:sp>
      <p:sp>
        <p:nvSpPr>
          <p:cNvPr id="23" name="Text 18"/>
          <p:cNvSpPr/>
          <p:nvPr/>
        </p:nvSpPr>
        <p:spPr>
          <a:xfrm>
            <a:off x="8001000" y="4992624"/>
            <a:ext cx="3474720" cy="274320"/>
          </a:xfrm>
          <a:prstGeom prst="rect">
            <a:avLst/>
          </a:prstGeom>
          <a:noFill/>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Mirai</a:t>
            </a:r>
            <a:endParaRPr lang="en-US" sz="1300" dirty="0"/>
          </a:p>
        </p:txBody>
      </p:sp>
      <p:sp>
        <p:nvSpPr>
          <p:cNvPr id="24" name="Text 19"/>
          <p:cNvSpPr/>
          <p:nvPr/>
        </p:nvSpPr>
        <p:spPr>
          <a:xfrm>
            <a:off x="8001000" y="5248656"/>
            <a:ext cx="3474720" cy="237744"/>
          </a:xfrm>
          <a:prstGeom prst="rect">
            <a:avLst/>
          </a:prstGeom>
          <a:noFill/>
        </p:spPr>
        <p:txBody>
          <a:bodyPr wrap="square" lIns="0" tIns="0" rIns="0" bIns="0" rtlCol="0" anchor="t"/>
          <a:lstStyle/>
          <a:p>
            <a:pPr marL="0" indent="0">
              <a:buNone/>
            </a:pPr>
            <a:r>
              <a:rPr lang="en-US" sz="1050" dirty="0">
                <a:solidFill>
                  <a:srgbClr val="DCEBF5"/>
                </a:solidFill>
                <a:latin typeface="Calibri" pitchFamily="34" charset="0"/>
                <a:ea typeface="Calibri" pitchFamily="34" charset="-122"/>
                <a:cs typeface="Calibri" pitchFamily="34" charset="-120"/>
              </a:rPr>
              <a:t>identity · consent · AI brief · audit</a:t>
            </a:r>
            <a:endParaRPr lang="en-US" sz="1050" dirty="0"/>
          </a:p>
        </p:txBody>
      </p:sp>
      <p:sp>
        <p:nvSpPr>
          <p:cNvPr id="25" name="Shape 20"/>
          <p:cNvSpPr/>
          <p:nvPr/>
        </p:nvSpPr>
        <p:spPr>
          <a:xfrm>
            <a:off x="7818120" y="5632704"/>
            <a:ext cx="3840480" cy="603504"/>
          </a:xfrm>
          <a:prstGeom prst="roundRect">
            <a:avLst>
              <a:gd name="adj" fmla="val 12121"/>
            </a:avLst>
          </a:prstGeom>
          <a:solidFill>
            <a:srgbClr val="E4DFD5"/>
          </a:solidFill>
          <a:ln w="12700">
            <a:solidFill>
              <a:srgbClr val="E4DFD5"/>
            </a:solidFill>
            <a:prstDash val="solid"/>
          </a:ln>
        </p:spPr>
      </p:sp>
      <p:sp>
        <p:nvSpPr>
          <p:cNvPr id="26" name="Text 21"/>
          <p:cNvSpPr/>
          <p:nvPr/>
        </p:nvSpPr>
        <p:spPr>
          <a:xfrm>
            <a:off x="8001000" y="5705856"/>
            <a:ext cx="3474720" cy="274320"/>
          </a:xfrm>
          <a:prstGeom prst="rect">
            <a:avLst/>
          </a:prstGeom>
          <a:noFill/>
        </p:spPr>
        <p:txBody>
          <a:bodyPr wrap="square" lIns="0" tIns="0" rIns="0" bIns="0" rtlCol="0" anchor="t"/>
          <a:lstStyle/>
          <a:p>
            <a:pPr marL="0" indent="0">
              <a:buNone/>
            </a:pPr>
            <a:r>
              <a:rPr lang="en-US" sz="1300" b="1" dirty="0">
                <a:solidFill>
                  <a:srgbClr val="22303C"/>
                </a:solidFill>
                <a:latin typeface="Calibri" pitchFamily="34" charset="0"/>
                <a:ea typeface="Calibri" pitchFamily="34" charset="-122"/>
                <a:cs typeface="Calibri" pitchFamily="34" charset="-120"/>
              </a:rPr>
              <a:t>Your HIS · LIS · PACS</a:t>
            </a:r>
            <a:endParaRPr lang="en-US" sz="1300" dirty="0"/>
          </a:p>
        </p:txBody>
      </p:sp>
      <p:sp>
        <p:nvSpPr>
          <p:cNvPr id="27" name="Text 22"/>
          <p:cNvSpPr/>
          <p:nvPr/>
        </p:nvSpPr>
        <p:spPr>
          <a:xfrm>
            <a:off x="8001000" y="5961888"/>
            <a:ext cx="3474720" cy="237744"/>
          </a:xfrm>
          <a:prstGeom prst="rect">
            <a:avLst/>
          </a:prstGeom>
          <a:noFill/>
        </p:spPr>
        <p:txBody>
          <a:bodyPr wrap="square" lIns="0" tIns="0" rIns="0" bIns="0" rtlCol="0" anchor="t"/>
          <a:lstStyle/>
          <a:p>
            <a:pPr marL="0" indent="0">
              <a:buNone/>
            </a:pPr>
            <a:r>
              <a:rPr lang="en-US" sz="1050" dirty="0">
                <a:solidFill>
                  <a:srgbClr val="5C6873"/>
                </a:solidFill>
                <a:latin typeface="Calibri" pitchFamily="34" charset="0"/>
                <a:ea typeface="Calibri" pitchFamily="34" charset="-122"/>
                <a:cs typeface="Calibri" pitchFamily="34" charset="-120"/>
              </a:rPr>
              <a:t>stay the system of record</a:t>
            </a:r>
            <a:endParaRPr lang="en-US" sz="1050" dirty="0"/>
          </a:p>
        </p:txBody>
      </p:sp>
      <p:sp>
        <p:nvSpPr>
          <p:cNvPr id="28" name="Text 23"/>
          <p:cNvSpPr/>
          <p:nvPr/>
        </p:nvSpPr>
        <p:spPr>
          <a:xfrm>
            <a:off x="7818120" y="6382512"/>
            <a:ext cx="3840480" cy="274320"/>
          </a:xfrm>
          <a:prstGeom prst="rect">
            <a:avLst/>
          </a:prstGeom>
          <a:noFill/>
        </p:spPr>
        <p:txBody>
          <a:bodyPr wrap="square" lIns="0" tIns="0" rIns="0" bIns="0" rtlCol="0" anchor="t"/>
          <a:lstStyle/>
          <a:p>
            <a:pPr marL="0" indent="0">
              <a:buNone/>
            </a:pPr>
            <a:r>
              <a:rPr lang="en-US" sz="1100" i="1" dirty="0">
                <a:solidFill>
                  <a:srgbClr val="0072A8"/>
                </a:solidFill>
                <a:latin typeface="Calibri" pitchFamily="34" charset="0"/>
                <a:ea typeface="Calibri" pitchFamily="34" charset="-122"/>
                <a:cs typeface="Calibri" pitchFamily="34" charset="-120"/>
              </a:rPr>
              <a:t>Nothing is replaced. Mirai sits on top.</a:t>
            </a:r>
            <a:endParaRPr lang="en-US" sz="1100" dirty="0"/>
          </a:p>
        </p:txBody>
      </p:sp>
      <p:sp>
        <p:nvSpPr>
          <p:cNvPr id="29" name="Text 24"/>
          <p:cNvSpPr/>
          <p:nvPr/>
        </p:nvSpPr>
        <p:spPr>
          <a:xfrm>
            <a:off x="11277295" y="6473952"/>
            <a:ext cx="365760" cy="228600"/>
          </a:xfrm>
          <a:prstGeom prst="rect">
            <a:avLst/>
          </a:prstGeom>
          <a:noFill/>
        </p:spPr>
        <p:txBody>
          <a:bodyPr wrap="square" lIns="0" tIns="0" rIns="0" bIns="0" rtlCol="0" anchor="t"/>
          <a:lstStyle/>
          <a:p>
            <a:pPr marL="0" indent="0" algn="r">
              <a:buNone/>
            </a:pPr>
            <a:r>
              <a:rPr lang="en-US" sz="900" dirty="0">
                <a:solidFill>
                  <a:srgbClr val="7D868E"/>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22303C"/>
        </a:solidFill>
        <a:effectLst/>
      </p:bgPr>
    </p:bg>
    <p:spTree>
      <p:nvGrpSpPr>
        <p:cNvPr id="1" name=""/>
        <p:cNvGrpSpPr/>
        <p:nvPr/>
      </p:nvGrpSpPr>
      <p:grpSpPr>
        <a:xfrm>
          <a:off x="0" y="0"/>
          <a:ext cx="0" cy="0"/>
          <a:chOff x="0" y="0"/>
          <a:chExt cx="0" cy="0"/>
        </a:xfrm>
      </p:grpSpPr>
      <p:sp>
        <p:nvSpPr>
          <p:cNvPr id="2" name="Text 0"/>
          <p:cNvSpPr/>
          <p:nvPr/>
        </p:nvSpPr>
        <p:spPr>
          <a:xfrm>
            <a:off x="548640" y="502920"/>
            <a:ext cx="5486400" cy="274320"/>
          </a:xfrm>
          <a:prstGeom prst="rect">
            <a:avLst/>
          </a:prstGeom>
          <a:noFill/>
        </p:spPr>
        <p:txBody>
          <a:bodyPr wrap="square" lIns="0" tIns="0" rIns="0" bIns="0" rtlCol="0" anchor="t"/>
          <a:lstStyle/>
          <a:p>
            <a:pPr marL="0" indent="0">
              <a:buNone/>
            </a:pPr>
            <a:r>
              <a:rPr lang="en-US" sz="1050" b="1" kern="0" spc="300" dirty="0">
                <a:solidFill>
                  <a:srgbClr val="61AFDA"/>
                </a:solidFill>
                <a:latin typeface="Calibri" pitchFamily="34" charset="0"/>
                <a:ea typeface="Calibri" pitchFamily="34" charset="-122"/>
                <a:cs typeface="Calibri" pitchFamily="34" charset="-120"/>
              </a:rPr>
              <a:t>WHAT YOU ACTUALLY WANT</a:t>
            </a:r>
            <a:endParaRPr lang="en-US" sz="1050" dirty="0"/>
          </a:p>
        </p:txBody>
      </p:sp>
      <p:sp>
        <p:nvSpPr>
          <p:cNvPr id="3" name="Text 1"/>
          <p:cNvSpPr/>
          <p:nvPr/>
        </p:nvSpPr>
        <p:spPr>
          <a:xfrm>
            <a:off x="548640" y="822960"/>
            <a:ext cx="7498080" cy="1554480"/>
          </a:xfrm>
          <a:prstGeom prst="rect">
            <a:avLst/>
          </a:prstGeom>
          <a:noFill/>
        </p:spPr>
        <p:txBody>
          <a:bodyPr wrap="square" lIns="0" tIns="0" rIns="0" bIns="0" rtlCol="0" anchor="t"/>
          <a:lstStyle/>
          <a:p>
            <a:pPr marL="0" indent="0">
              <a:lnSpc>
                <a:spcPct val="105000"/>
              </a:lnSpc>
              <a:buNone/>
            </a:pPr>
            <a:r>
              <a:rPr lang="en-US" sz="3600" dirty="0">
                <a:solidFill>
                  <a:srgbClr val="FFFFFF"/>
                </a:solidFill>
                <a:latin typeface="Cambria" pitchFamily="34" charset="0"/>
                <a:ea typeface="Cambria" pitchFamily="34" charset="-122"/>
                <a:cs typeface="Cambria" pitchFamily="34" charset="-120"/>
              </a:rPr>
              <a:t>Scan. Fourteen seconds. The chart has been read for you.</a:t>
            </a:r>
            <a:endParaRPr lang="en-US" sz="3600" dirty="0"/>
          </a:p>
        </p:txBody>
      </p:sp>
      <p:pic>
        <p:nvPicPr>
          <p:cNvPr id="4" name="Image 0" descr="preencoded.png"/>
          <p:cNvPicPr>
            <a:picLocks noChangeAspect="1"/>
          </p:cNvPicPr>
          <p:nvPr/>
        </p:nvPicPr>
        <p:blipFill>
          <a:blip r:embed="rId1"/>
          <a:stretch>
            <a:fillRect/>
          </a:stretch>
        </p:blipFill>
        <p:spPr>
          <a:xfrm>
            <a:off x="548640" y="2532888"/>
            <a:ext cx="457200" cy="457200"/>
          </a:xfrm>
          <a:prstGeom prst="rect">
            <a:avLst/>
          </a:prstGeom>
        </p:spPr>
      </p:pic>
      <p:sp>
        <p:nvSpPr>
          <p:cNvPr id="5" name="Text 2"/>
          <p:cNvSpPr/>
          <p:nvPr/>
        </p:nvSpPr>
        <p:spPr>
          <a:xfrm>
            <a:off x="1188720" y="2514600"/>
            <a:ext cx="6766560" cy="320040"/>
          </a:xfrm>
          <a:prstGeom prst="rect">
            <a:avLst/>
          </a:prstGeom>
          <a:noFill/>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You look at the patient, not the file.</a:t>
            </a:r>
            <a:endParaRPr lang="en-US" sz="1600" dirty="0"/>
          </a:p>
        </p:txBody>
      </p:sp>
      <p:sp>
        <p:nvSpPr>
          <p:cNvPr id="6" name="Text 3"/>
          <p:cNvSpPr/>
          <p:nvPr/>
        </p:nvSpPr>
        <p:spPr>
          <a:xfrm>
            <a:off x="1188720" y="2843784"/>
            <a:ext cx="6766560" cy="502920"/>
          </a:xfrm>
          <a:prstGeom prst="rect">
            <a:avLst/>
          </a:prstGeom>
          <a:noFill/>
        </p:spPr>
        <p:txBody>
          <a:bodyPr wrap="square" lIns="0" tIns="0" rIns="0" bIns="0" rtlCol="0" anchor="t"/>
          <a:lstStyle/>
          <a:p>
            <a:pPr marL="0" indent="0">
              <a:lnSpc>
                <a:spcPct val="115000"/>
              </a:lnSpc>
              <a:buNone/>
            </a:pPr>
            <a:r>
              <a:rPr lang="en-US" sz="1250" dirty="0">
                <a:solidFill>
                  <a:srgbClr val="B9C6D1"/>
                </a:solidFill>
                <a:latin typeface="Calibri" pitchFamily="34" charset="0"/>
                <a:ea typeface="Calibri" pitchFamily="34" charset="-122"/>
                <a:cs typeface="Calibri" pitchFamily="34" charset="-120"/>
              </a:rPr>
              <a:t>The brief is one paragraph, written for your specialty, with the three numbers that matter today.</a:t>
            </a:r>
            <a:endParaRPr lang="en-US" sz="1250" dirty="0"/>
          </a:p>
        </p:txBody>
      </p:sp>
      <p:pic>
        <p:nvPicPr>
          <p:cNvPr id="7" name="Image 1" descr="preencoded.png"/>
          <p:cNvPicPr>
            <a:picLocks noChangeAspect="1"/>
          </p:cNvPicPr>
          <p:nvPr/>
        </p:nvPicPr>
        <p:blipFill>
          <a:blip r:embed="rId2"/>
          <a:stretch>
            <a:fillRect/>
          </a:stretch>
        </p:blipFill>
        <p:spPr>
          <a:xfrm>
            <a:off x="548640" y="3447288"/>
            <a:ext cx="457200" cy="457200"/>
          </a:xfrm>
          <a:prstGeom prst="rect">
            <a:avLst/>
          </a:prstGeom>
        </p:spPr>
      </p:pic>
      <p:sp>
        <p:nvSpPr>
          <p:cNvPr id="8" name="Text 4"/>
          <p:cNvSpPr/>
          <p:nvPr/>
        </p:nvSpPr>
        <p:spPr>
          <a:xfrm>
            <a:off x="1188720" y="3429000"/>
            <a:ext cx="6766560" cy="320040"/>
          </a:xfrm>
          <a:prstGeom prst="rect">
            <a:avLst/>
          </a:prstGeom>
          <a:noFill/>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You already know what cardiology changed last week.</a:t>
            </a:r>
            <a:endParaRPr lang="en-US" sz="1600" dirty="0"/>
          </a:p>
        </p:txBody>
      </p:sp>
      <p:sp>
        <p:nvSpPr>
          <p:cNvPr id="9" name="Text 5"/>
          <p:cNvSpPr/>
          <p:nvPr/>
        </p:nvSpPr>
        <p:spPr>
          <a:xfrm>
            <a:off x="1188720" y="3758184"/>
            <a:ext cx="6766560" cy="502920"/>
          </a:xfrm>
          <a:prstGeom prst="rect">
            <a:avLst/>
          </a:prstGeom>
          <a:noFill/>
        </p:spPr>
        <p:txBody>
          <a:bodyPr wrap="square" lIns="0" tIns="0" rIns="0" bIns="0" rtlCol="0" anchor="t"/>
          <a:lstStyle/>
          <a:p>
            <a:pPr marL="0" indent="0">
              <a:lnSpc>
                <a:spcPct val="115000"/>
              </a:lnSpc>
              <a:buNone/>
            </a:pPr>
            <a:r>
              <a:rPr lang="en-US" sz="1250" dirty="0">
                <a:solidFill>
                  <a:srgbClr val="B9C6D1"/>
                </a:solidFill>
                <a:latin typeface="Calibri" pitchFamily="34" charset="0"/>
                <a:ea typeface="Calibri" pitchFamily="34" charset="-122"/>
                <a:cs typeface="Calibri" pitchFamily="34" charset="-120"/>
              </a:rPr>
              <a:t>Every department’s finalised records, one timeline. No surprises in the bag.</a:t>
            </a:r>
            <a:endParaRPr lang="en-US" sz="1250" dirty="0"/>
          </a:p>
        </p:txBody>
      </p:sp>
      <p:pic>
        <p:nvPicPr>
          <p:cNvPr id="10" name="Image 2" descr="preencoded.png"/>
          <p:cNvPicPr>
            <a:picLocks noChangeAspect="1"/>
          </p:cNvPicPr>
          <p:nvPr/>
        </p:nvPicPr>
        <p:blipFill>
          <a:blip r:embed="rId3"/>
          <a:stretch>
            <a:fillRect/>
          </a:stretch>
        </p:blipFill>
        <p:spPr>
          <a:xfrm>
            <a:off x="548640" y="4361688"/>
            <a:ext cx="457200" cy="457200"/>
          </a:xfrm>
          <a:prstGeom prst="rect">
            <a:avLst/>
          </a:prstGeom>
        </p:spPr>
      </p:pic>
      <p:sp>
        <p:nvSpPr>
          <p:cNvPr id="11" name="Text 6"/>
          <p:cNvSpPr/>
          <p:nvPr/>
        </p:nvSpPr>
        <p:spPr>
          <a:xfrm>
            <a:off x="1188720" y="4343400"/>
            <a:ext cx="6766560" cy="320040"/>
          </a:xfrm>
          <a:prstGeom prst="rect">
            <a:avLst/>
          </a:prstGeom>
          <a:noFill/>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The allergy is the first line. Every time.</a:t>
            </a:r>
            <a:endParaRPr lang="en-US" sz="1600" dirty="0"/>
          </a:p>
        </p:txBody>
      </p:sp>
      <p:sp>
        <p:nvSpPr>
          <p:cNvPr id="12" name="Text 7"/>
          <p:cNvSpPr/>
          <p:nvPr/>
        </p:nvSpPr>
        <p:spPr>
          <a:xfrm>
            <a:off x="1188720" y="4672584"/>
            <a:ext cx="6766560" cy="502920"/>
          </a:xfrm>
          <a:prstGeom prst="rect">
            <a:avLst/>
          </a:prstGeom>
          <a:noFill/>
        </p:spPr>
        <p:txBody>
          <a:bodyPr wrap="square" lIns="0" tIns="0" rIns="0" bIns="0" rtlCol="0" anchor="t"/>
          <a:lstStyle/>
          <a:p>
            <a:pPr marL="0" indent="0">
              <a:lnSpc>
                <a:spcPct val="115000"/>
              </a:lnSpc>
              <a:buNone/>
            </a:pPr>
            <a:r>
              <a:rPr lang="en-US" sz="1250" dirty="0">
                <a:solidFill>
                  <a:srgbClr val="B9C6D1"/>
                </a:solidFill>
                <a:latin typeface="Calibri" pitchFamily="34" charset="0"/>
                <a:ea typeface="Calibri" pitchFamily="34" charset="-122"/>
                <a:cs typeface="Calibri" pitchFamily="34" charset="-120"/>
              </a:rPr>
              <a:t>And the warning fires at the moment of prescribing, not at the pharmacy.</a:t>
            </a:r>
            <a:endParaRPr lang="en-US" sz="1250" dirty="0"/>
          </a:p>
        </p:txBody>
      </p:sp>
      <p:sp>
        <p:nvSpPr>
          <p:cNvPr id="13" name="Shape 8"/>
          <p:cNvSpPr/>
          <p:nvPr/>
        </p:nvSpPr>
        <p:spPr>
          <a:xfrm>
            <a:off x="548640" y="5303520"/>
            <a:ext cx="2148840" cy="960120"/>
          </a:xfrm>
          <a:prstGeom prst="roundRect">
            <a:avLst>
              <a:gd name="adj" fmla="val 9524"/>
            </a:avLst>
          </a:prstGeom>
          <a:solidFill>
            <a:srgbClr val="2C3E4E"/>
          </a:solidFill>
          <a:ln w="12700">
            <a:solidFill>
              <a:srgbClr val="3A4E60"/>
            </a:solidFill>
            <a:prstDash val="solid"/>
          </a:ln>
        </p:spPr>
      </p:sp>
      <p:sp>
        <p:nvSpPr>
          <p:cNvPr id="14" name="Text 9"/>
          <p:cNvSpPr/>
          <p:nvPr/>
        </p:nvSpPr>
        <p:spPr>
          <a:xfrm>
            <a:off x="749808" y="5413248"/>
            <a:ext cx="1783080" cy="502920"/>
          </a:xfrm>
          <a:prstGeom prst="rect">
            <a:avLst/>
          </a:prstGeom>
          <a:noFill/>
        </p:spPr>
        <p:txBody>
          <a:bodyPr wrap="square" lIns="0" tIns="0" rIns="0" bIns="0" rtlCol="0" anchor="t"/>
          <a:lstStyle/>
          <a:p>
            <a:pPr marL="0" indent="0">
              <a:buNone/>
            </a:pPr>
            <a:r>
              <a:rPr lang="en-US" sz="3000" dirty="0">
                <a:solidFill>
                  <a:srgbClr val="FFFFFF"/>
                </a:solidFill>
                <a:latin typeface="Cambria" pitchFamily="34" charset="0"/>
                <a:ea typeface="Cambria" pitchFamily="34" charset="-122"/>
                <a:cs typeface="Cambria" pitchFamily="34" charset="-120"/>
              </a:rPr>
              <a:t>23</a:t>
            </a:r>
            <a:endParaRPr lang="en-US" sz="3000" dirty="0"/>
          </a:p>
        </p:txBody>
      </p:sp>
      <p:sp>
        <p:nvSpPr>
          <p:cNvPr id="15" name="Text 10"/>
          <p:cNvSpPr/>
          <p:nvPr/>
        </p:nvSpPr>
        <p:spPr>
          <a:xfrm>
            <a:off x="749808" y="5907024"/>
            <a:ext cx="1783080" cy="274320"/>
          </a:xfrm>
          <a:prstGeom prst="rect">
            <a:avLst/>
          </a:prstGeom>
          <a:noFill/>
        </p:spPr>
        <p:txBody>
          <a:bodyPr wrap="square" lIns="0" tIns="0" rIns="0" bIns="0" rtlCol="0" anchor="t"/>
          <a:lstStyle/>
          <a:p>
            <a:pPr marL="0" indent="0">
              <a:buNone/>
            </a:pPr>
            <a:r>
              <a:rPr lang="en-US" sz="1100" dirty="0">
                <a:solidFill>
                  <a:srgbClr val="61AFDA"/>
                </a:solidFill>
                <a:latin typeface="Calibri" pitchFamily="34" charset="0"/>
                <a:ea typeface="Calibri" pitchFamily="34" charset="-122"/>
                <a:cs typeface="Calibri" pitchFamily="34" charset="-120"/>
              </a:rPr>
              <a:t>OPD patients today</a:t>
            </a:r>
            <a:endParaRPr lang="en-US" sz="1100" dirty="0"/>
          </a:p>
        </p:txBody>
      </p:sp>
      <p:sp>
        <p:nvSpPr>
          <p:cNvPr id="16" name="Shape 11"/>
          <p:cNvSpPr/>
          <p:nvPr/>
        </p:nvSpPr>
        <p:spPr>
          <a:xfrm>
            <a:off x="2880360" y="5303520"/>
            <a:ext cx="2148840" cy="960120"/>
          </a:xfrm>
          <a:prstGeom prst="roundRect">
            <a:avLst>
              <a:gd name="adj" fmla="val 9524"/>
            </a:avLst>
          </a:prstGeom>
          <a:solidFill>
            <a:srgbClr val="2C3E4E"/>
          </a:solidFill>
          <a:ln w="12700">
            <a:solidFill>
              <a:srgbClr val="3A4E60"/>
            </a:solidFill>
            <a:prstDash val="solid"/>
          </a:ln>
        </p:spPr>
      </p:sp>
      <p:sp>
        <p:nvSpPr>
          <p:cNvPr id="17" name="Text 12"/>
          <p:cNvSpPr/>
          <p:nvPr/>
        </p:nvSpPr>
        <p:spPr>
          <a:xfrm>
            <a:off x="3081528" y="5413248"/>
            <a:ext cx="1783080" cy="502920"/>
          </a:xfrm>
          <a:prstGeom prst="rect">
            <a:avLst/>
          </a:prstGeom>
          <a:noFill/>
        </p:spPr>
        <p:txBody>
          <a:bodyPr wrap="square" lIns="0" tIns="0" rIns="0" bIns="0" rtlCol="0" anchor="t"/>
          <a:lstStyle/>
          <a:p>
            <a:pPr marL="0" indent="0">
              <a:buNone/>
            </a:pPr>
            <a:r>
              <a:rPr lang="en-US" sz="3000" dirty="0">
                <a:solidFill>
                  <a:srgbClr val="FFFFFF"/>
                </a:solidFill>
                <a:latin typeface="Cambria" pitchFamily="34" charset="0"/>
                <a:ea typeface="Cambria" pitchFamily="34" charset="-122"/>
                <a:cs typeface="Cambria" pitchFamily="34" charset="-120"/>
              </a:rPr>
              <a:t>14 s</a:t>
            </a:r>
            <a:endParaRPr lang="en-US" sz="3000" dirty="0"/>
          </a:p>
        </p:txBody>
      </p:sp>
      <p:sp>
        <p:nvSpPr>
          <p:cNvPr id="18" name="Text 13"/>
          <p:cNvSpPr/>
          <p:nvPr/>
        </p:nvSpPr>
        <p:spPr>
          <a:xfrm>
            <a:off x="3081528" y="5907024"/>
            <a:ext cx="1783080" cy="274320"/>
          </a:xfrm>
          <a:prstGeom prst="rect">
            <a:avLst/>
          </a:prstGeom>
          <a:noFill/>
        </p:spPr>
        <p:txBody>
          <a:bodyPr wrap="square" lIns="0" tIns="0" rIns="0" bIns="0" rtlCol="0" anchor="t"/>
          <a:lstStyle/>
          <a:p>
            <a:pPr marL="0" indent="0">
              <a:buNone/>
            </a:pPr>
            <a:r>
              <a:rPr lang="en-US" sz="1100" dirty="0">
                <a:solidFill>
                  <a:srgbClr val="61AFDA"/>
                </a:solidFill>
                <a:latin typeface="Calibri" pitchFamily="34" charset="0"/>
                <a:ea typeface="Calibri" pitchFamily="34" charset="-122"/>
                <a:cs typeface="Calibri" pitchFamily="34" charset="-120"/>
              </a:rPr>
              <a:t>scan → full chart</a:t>
            </a:r>
            <a:endParaRPr lang="en-US" sz="1100" dirty="0"/>
          </a:p>
        </p:txBody>
      </p:sp>
      <p:sp>
        <p:nvSpPr>
          <p:cNvPr id="19" name="Shape 14"/>
          <p:cNvSpPr/>
          <p:nvPr/>
        </p:nvSpPr>
        <p:spPr>
          <a:xfrm>
            <a:off x="5212080" y="5303520"/>
            <a:ext cx="2148840" cy="960120"/>
          </a:xfrm>
          <a:prstGeom prst="roundRect">
            <a:avLst>
              <a:gd name="adj" fmla="val 9524"/>
            </a:avLst>
          </a:prstGeom>
          <a:solidFill>
            <a:srgbClr val="2C3E4E"/>
          </a:solidFill>
          <a:ln w="12700">
            <a:solidFill>
              <a:srgbClr val="3A4E60"/>
            </a:solidFill>
            <a:prstDash val="solid"/>
          </a:ln>
        </p:spPr>
      </p:sp>
      <p:sp>
        <p:nvSpPr>
          <p:cNvPr id="20" name="Text 15"/>
          <p:cNvSpPr/>
          <p:nvPr/>
        </p:nvSpPr>
        <p:spPr>
          <a:xfrm>
            <a:off x="5413248" y="5413248"/>
            <a:ext cx="1783080" cy="502920"/>
          </a:xfrm>
          <a:prstGeom prst="rect">
            <a:avLst/>
          </a:prstGeom>
          <a:noFill/>
        </p:spPr>
        <p:txBody>
          <a:bodyPr wrap="square" lIns="0" tIns="0" rIns="0" bIns="0" rtlCol="0" anchor="t"/>
          <a:lstStyle/>
          <a:p>
            <a:pPr marL="0" indent="0">
              <a:buNone/>
            </a:pPr>
            <a:r>
              <a:rPr lang="en-US" sz="3000" dirty="0">
                <a:solidFill>
                  <a:srgbClr val="FFFFFF"/>
                </a:solidFill>
                <a:latin typeface="Cambria" pitchFamily="34" charset="0"/>
                <a:ea typeface="Cambria" pitchFamily="34" charset="-122"/>
                <a:cs typeface="Cambria" pitchFamily="34" charset="-120"/>
              </a:rPr>
              <a:t>0</a:t>
            </a:r>
            <a:endParaRPr lang="en-US" sz="3000" dirty="0"/>
          </a:p>
        </p:txBody>
      </p:sp>
      <p:sp>
        <p:nvSpPr>
          <p:cNvPr id="21" name="Text 16"/>
          <p:cNvSpPr/>
          <p:nvPr/>
        </p:nvSpPr>
        <p:spPr>
          <a:xfrm>
            <a:off x="5413248" y="5907024"/>
            <a:ext cx="1783080" cy="274320"/>
          </a:xfrm>
          <a:prstGeom prst="rect">
            <a:avLst/>
          </a:prstGeom>
          <a:noFill/>
        </p:spPr>
        <p:txBody>
          <a:bodyPr wrap="square" lIns="0" tIns="0" rIns="0" bIns="0" rtlCol="0" anchor="t"/>
          <a:lstStyle/>
          <a:p>
            <a:pPr marL="0" indent="0">
              <a:buNone/>
            </a:pPr>
            <a:r>
              <a:rPr lang="en-US" sz="1100" dirty="0">
                <a:solidFill>
                  <a:srgbClr val="61AFDA"/>
                </a:solidFill>
                <a:latin typeface="Calibri" pitchFamily="34" charset="0"/>
                <a:ea typeface="Calibri" pitchFamily="34" charset="-122"/>
                <a:cs typeface="Calibri" pitchFamily="34" charset="-120"/>
              </a:rPr>
              <a:t>paper files pulled</a:t>
            </a:r>
            <a:endParaRPr lang="en-US" sz="1100" dirty="0"/>
          </a:p>
        </p:txBody>
      </p:sp>
      <p:sp>
        <p:nvSpPr>
          <p:cNvPr id="22" name="Text 17"/>
          <p:cNvSpPr/>
          <p:nvPr/>
        </p:nvSpPr>
        <p:spPr>
          <a:xfrm>
            <a:off x="548640" y="6327648"/>
            <a:ext cx="6949440" cy="274320"/>
          </a:xfrm>
          <a:prstGeom prst="rect">
            <a:avLst/>
          </a:prstGeom>
          <a:noFill/>
        </p:spPr>
        <p:txBody>
          <a:bodyPr wrap="square" lIns="0" tIns="0" rIns="0" bIns="0" rtlCol="0" anchor="t"/>
          <a:lstStyle/>
          <a:p>
            <a:pPr marL="0" indent="0">
              <a:buNone/>
            </a:pPr>
            <a:r>
              <a:rPr lang="en-US" sz="1000" i="1" dirty="0">
                <a:solidFill>
                  <a:srgbClr val="8FA1B0"/>
                </a:solidFill>
                <a:latin typeface="Calibri" pitchFamily="34" charset="0"/>
                <a:ea typeface="Calibri" pitchFamily="34" charset="-122"/>
                <a:cs typeface="Calibri" pitchFamily="34" charset="-120"/>
              </a:rPr>
              <a:t>The doctor home screen, as designed. These are the targets the pilot will measure.</a:t>
            </a:r>
            <a:endParaRPr lang="en-US" sz="1000" dirty="0"/>
          </a:p>
        </p:txBody>
      </p:sp>
      <p:pic>
        <p:nvPicPr>
          <p:cNvPr id="23" name="Image 3" descr="preencoded.png"/>
          <p:cNvPicPr>
            <a:picLocks noChangeAspect="1"/>
          </p:cNvPicPr>
          <p:nvPr/>
        </p:nvPicPr>
        <p:blipFill>
          <a:blip r:embed="rId4"/>
          <a:stretch>
            <a:fillRect/>
          </a:stretch>
        </p:blipFill>
        <p:spPr>
          <a:xfrm>
            <a:off x="8732520" y="594360"/>
            <a:ext cx="2649668" cy="5760720"/>
          </a:xfrm>
          <a:prstGeom prst="rect">
            <a:avLst/>
          </a:prstGeom>
          <a:effectLst>
            <a:outerShdw blurRad="101600" dist="25400" dir="5400000" algn="bl" rotWithShape="0">
              <a:srgbClr val="22303C">
                <a:alpha val="10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7F1"/>
        </a:solidFill>
        <a:effectLst/>
      </p:bgPr>
    </p:bg>
    <p:spTree>
      <p:nvGrpSpPr>
        <p:cNvPr id="1" name=""/>
        <p:cNvGrpSpPr/>
        <p:nvPr/>
      </p:nvGrpSpPr>
      <p:grpSpPr>
        <a:xfrm>
          <a:off x="0" y="0"/>
          <a:ext cx="0" cy="0"/>
          <a:chOff x="0" y="0"/>
          <a:chExt cx="0" cy="0"/>
        </a:xfrm>
      </p:grpSpPr>
      <p:sp>
        <p:nvSpPr>
          <p:cNvPr id="2" name="Text 0"/>
          <p:cNvSpPr/>
          <p:nvPr/>
        </p:nvSpPr>
        <p:spPr>
          <a:xfrm>
            <a:off x="548640" y="502920"/>
            <a:ext cx="5486400" cy="274320"/>
          </a:xfrm>
          <a:prstGeom prst="rect">
            <a:avLst/>
          </a:prstGeom>
          <a:noFill/>
        </p:spPr>
        <p:txBody>
          <a:bodyPr wrap="square" lIns="0" tIns="0" rIns="0" bIns="0" rtlCol="0" anchor="t"/>
          <a:lstStyle/>
          <a:p>
            <a:pPr marL="0" indent="0">
              <a:buNone/>
            </a:pPr>
            <a:r>
              <a:rPr lang="en-US" sz="1050" b="1" kern="0" spc="300" dirty="0">
                <a:solidFill>
                  <a:srgbClr val="0072A8"/>
                </a:solidFill>
                <a:latin typeface="Calibri" pitchFamily="34" charset="0"/>
                <a:ea typeface="Calibri" pitchFamily="34" charset="-122"/>
                <a:cs typeface="Calibri" pitchFamily="34" charset="-120"/>
              </a:rPr>
              <a:t>MIRAI IN ONE LINE</a:t>
            </a:r>
            <a:endParaRPr lang="en-US" sz="1050" dirty="0"/>
          </a:p>
        </p:txBody>
      </p:sp>
      <p:sp>
        <p:nvSpPr>
          <p:cNvPr id="3" name="Text 1"/>
          <p:cNvSpPr/>
          <p:nvPr/>
        </p:nvSpPr>
        <p:spPr>
          <a:xfrm>
            <a:off x="548640" y="822960"/>
            <a:ext cx="9144000" cy="731520"/>
          </a:xfrm>
          <a:prstGeom prst="rect">
            <a:avLst/>
          </a:prstGeom>
          <a:noFill/>
        </p:spPr>
        <p:txBody>
          <a:bodyPr wrap="square" lIns="0" tIns="0" rIns="0" bIns="0" rtlCol="0" anchor="t"/>
          <a:lstStyle/>
          <a:p>
            <a:pPr marL="0" indent="0">
              <a:buNone/>
            </a:pPr>
            <a:r>
              <a:rPr lang="en-US" sz="3200" dirty="0">
                <a:solidFill>
                  <a:srgbClr val="22303C"/>
                </a:solidFill>
                <a:latin typeface="Cambria" pitchFamily="34" charset="0"/>
                <a:ea typeface="Cambria" pitchFamily="34" charset="-122"/>
                <a:cs typeface="Cambria" pitchFamily="34" charset="-120"/>
              </a:rPr>
              <a:t>One patient. One identity. One QR.</a:t>
            </a:r>
            <a:endParaRPr lang="en-US" sz="3200" dirty="0"/>
          </a:p>
        </p:txBody>
      </p:sp>
      <p:pic>
        <p:nvPicPr>
          <p:cNvPr id="4" name="Image 0" descr="preencoded.png"/>
          <p:cNvPicPr>
            <a:picLocks noChangeAspect="1"/>
          </p:cNvPicPr>
          <p:nvPr/>
        </p:nvPicPr>
        <p:blipFill>
          <a:blip r:embed="rId1"/>
          <a:stretch>
            <a:fillRect/>
          </a:stretch>
        </p:blipFill>
        <p:spPr>
          <a:xfrm>
            <a:off x="548640" y="1600200"/>
            <a:ext cx="1745416" cy="3794760"/>
          </a:xfrm>
          <a:prstGeom prst="rect">
            <a:avLst/>
          </a:prstGeom>
          <a:effectLst>
            <a:outerShdw blurRad="101600" dist="25400" dir="5400000" algn="bl" rotWithShape="0">
              <a:srgbClr val="22303C">
                <a:alpha val="10000"/>
              </a:srgbClr>
            </a:outerShdw>
          </a:effectLst>
        </p:spPr>
      </p:pic>
      <p:sp>
        <p:nvSpPr>
          <p:cNvPr id="5" name="Text 2"/>
          <p:cNvSpPr/>
          <p:nvPr/>
        </p:nvSpPr>
        <p:spPr>
          <a:xfrm>
            <a:off x="0" y="5532120"/>
            <a:ext cx="2842696" cy="320040"/>
          </a:xfrm>
          <a:prstGeom prst="rect">
            <a:avLst/>
          </a:prstGeom>
          <a:noFill/>
        </p:spPr>
        <p:txBody>
          <a:bodyPr wrap="square" lIns="0" tIns="0" rIns="0" bIns="0" rtlCol="0" anchor="t"/>
          <a:lstStyle/>
          <a:p>
            <a:pPr marL="0" indent="0" algn="ctr">
              <a:buNone/>
            </a:pPr>
            <a:r>
              <a:rPr lang="en-US" sz="1350" b="1" dirty="0">
                <a:solidFill>
                  <a:srgbClr val="22303C"/>
                </a:solidFill>
                <a:latin typeface="Calibri" pitchFamily="34" charset="0"/>
                <a:ea typeface="Calibri" pitchFamily="34" charset="-122"/>
                <a:cs typeface="Calibri" pitchFamily="34" charset="-120"/>
              </a:rPr>
              <a:t>The patient carries the record</a:t>
            </a:r>
            <a:endParaRPr lang="en-US" sz="1350" dirty="0"/>
          </a:p>
        </p:txBody>
      </p:sp>
      <p:sp>
        <p:nvSpPr>
          <p:cNvPr id="6" name="Text 3"/>
          <p:cNvSpPr/>
          <p:nvPr/>
        </p:nvSpPr>
        <p:spPr>
          <a:xfrm>
            <a:off x="0" y="5870448"/>
            <a:ext cx="2842696" cy="777240"/>
          </a:xfrm>
          <a:prstGeom prst="rect">
            <a:avLst/>
          </a:prstGeom>
          <a:noFill/>
        </p:spPr>
        <p:txBody>
          <a:bodyPr wrap="square" lIns="0" tIns="0" rIns="0" bIns="0" rtlCol="0" anchor="t"/>
          <a:lstStyle/>
          <a:p>
            <a:pPr marL="0" indent="0" algn="ctr">
              <a:lnSpc>
                <a:spcPct val="112000"/>
              </a:lnSpc>
              <a:buNone/>
            </a:pPr>
            <a:r>
              <a:rPr lang="en-US" sz="1050" dirty="0">
                <a:solidFill>
                  <a:srgbClr val="3A4756"/>
                </a:solidFill>
                <a:latin typeface="Calibri" pitchFamily="34" charset="0"/>
                <a:ea typeface="Calibri" pitchFamily="34" charset="-122"/>
                <a:cs typeface="Calibri" pitchFamily="34" charset="-120"/>
              </a:rPr>
              <a:t>A phone number and an OTP. Family profiles on one account. Reports arrive on the phone the day they are finalised.</a:t>
            </a:r>
            <a:endParaRPr lang="en-US" sz="1050" dirty="0"/>
          </a:p>
        </p:txBody>
      </p:sp>
      <p:pic>
        <p:nvPicPr>
          <p:cNvPr id="7" name="Image 1" descr="preencoded.png"/>
          <p:cNvPicPr>
            <a:picLocks noChangeAspect="1"/>
          </p:cNvPicPr>
          <p:nvPr/>
        </p:nvPicPr>
        <p:blipFill>
          <a:blip r:embed="rId2"/>
          <a:stretch>
            <a:fillRect/>
          </a:stretch>
        </p:blipFill>
        <p:spPr>
          <a:xfrm>
            <a:off x="5223140" y="1600200"/>
            <a:ext cx="1745416" cy="3794760"/>
          </a:xfrm>
          <a:prstGeom prst="rect">
            <a:avLst/>
          </a:prstGeom>
          <a:effectLst>
            <a:outerShdw blurRad="101600" dist="25400" dir="5400000" algn="bl" rotWithShape="0">
              <a:srgbClr val="22303C">
                <a:alpha val="10000"/>
              </a:srgbClr>
            </a:outerShdw>
          </a:effectLst>
        </p:spPr>
      </p:pic>
      <p:sp>
        <p:nvSpPr>
          <p:cNvPr id="8" name="Text 4"/>
          <p:cNvSpPr/>
          <p:nvPr/>
        </p:nvSpPr>
        <p:spPr>
          <a:xfrm>
            <a:off x="4674500" y="5532120"/>
            <a:ext cx="2842696" cy="320040"/>
          </a:xfrm>
          <a:prstGeom prst="rect">
            <a:avLst/>
          </a:prstGeom>
          <a:noFill/>
        </p:spPr>
        <p:txBody>
          <a:bodyPr wrap="square" lIns="0" tIns="0" rIns="0" bIns="0" rtlCol="0" anchor="t"/>
          <a:lstStyle/>
          <a:p>
            <a:pPr marL="0" indent="0" algn="ctr">
              <a:buNone/>
            </a:pPr>
            <a:r>
              <a:rPr lang="en-US" sz="1350" b="1" dirty="0">
                <a:solidFill>
                  <a:srgbClr val="22303C"/>
                </a:solidFill>
                <a:latin typeface="Calibri" pitchFamily="34" charset="0"/>
                <a:ea typeface="Calibri" pitchFamily="34" charset="-122"/>
                <a:cs typeface="Calibri" pitchFamily="34" charset="-120"/>
              </a:rPr>
              <a:t>Identifies. Never authorises.</a:t>
            </a:r>
            <a:endParaRPr lang="en-US" sz="1350" dirty="0"/>
          </a:p>
        </p:txBody>
      </p:sp>
      <p:sp>
        <p:nvSpPr>
          <p:cNvPr id="9" name="Text 5"/>
          <p:cNvSpPr/>
          <p:nvPr/>
        </p:nvSpPr>
        <p:spPr>
          <a:xfrm>
            <a:off x="4674500" y="5870448"/>
            <a:ext cx="2842696" cy="777240"/>
          </a:xfrm>
          <a:prstGeom prst="rect">
            <a:avLst/>
          </a:prstGeom>
          <a:noFill/>
        </p:spPr>
        <p:txBody>
          <a:bodyPr wrap="square" lIns="0" tIns="0" rIns="0" bIns="0" rtlCol="0" anchor="t"/>
          <a:lstStyle/>
          <a:p>
            <a:pPr marL="0" indent="0" algn="ctr">
              <a:lnSpc>
                <a:spcPct val="112000"/>
              </a:lnSpc>
              <a:buNone/>
            </a:pPr>
            <a:r>
              <a:rPr lang="en-US" sz="1050" dirty="0">
                <a:solidFill>
                  <a:srgbClr val="3A4756"/>
                </a:solidFill>
                <a:latin typeface="Calibri" pitchFamily="34" charset="0"/>
                <a:ea typeface="Calibri" pitchFamily="34" charset="-122"/>
                <a:cs typeface="Calibri" pitchFamily="34" charset="-120"/>
              </a:rPr>
              <a:t>An opaque token that carries no medical data and rotates every five minutes. What the doctor sees is decided by authorisation and consent.</a:t>
            </a:r>
            <a:endParaRPr lang="en-US" sz="1050" dirty="0"/>
          </a:p>
        </p:txBody>
      </p:sp>
      <p:pic>
        <p:nvPicPr>
          <p:cNvPr id="10" name="Image 2" descr="preencoded.png"/>
          <p:cNvPicPr>
            <a:picLocks noChangeAspect="1"/>
          </p:cNvPicPr>
          <p:nvPr/>
        </p:nvPicPr>
        <p:blipFill>
          <a:blip r:embed="rId3"/>
          <a:stretch>
            <a:fillRect/>
          </a:stretch>
        </p:blipFill>
        <p:spPr>
          <a:xfrm>
            <a:off x="9897639" y="1600200"/>
            <a:ext cx="1745416" cy="3794760"/>
          </a:xfrm>
          <a:prstGeom prst="rect">
            <a:avLst/>
          </a:prstGeom>
          <a:effectLst>
            <a:outerShdw blurRad="101600" dist="25400" dir="5400000" algn="bl" rotWithShape="0">
              <a:srgbClr val="22303C">
                <a:alpha val="10000"/>
              </a:srgbClr>
            </a:outerShdw>
          </a:effectLst>
        </p:spPr>
      </p:pic>
      <p:sp>
        <p:nvSpPr>
          <p:cNvPr id="11" name="Text 6"/>
          <p:cNvSpPr/>
          <p:nvPr/>
        </p:nvSpPr>
        <p:spPr>
          <a:xfrm>
            <a:off x="9348999" y="5532120"/>
            <a:ext cx="2842696" cy="320040"/>
          </a:xfrm>
          <a:prstGeom prst="rect">
            <a:avLst/>
          </a:prstGeom>
          <a:noFill/>
        </p:spPr>
        <p:txBody>
          <a:bodyPr wrap="square" lIns="0" tIns="0" rIns="0" bIns="0" rtlCol="0" anchor="t"/>
          <a:lstStyle/>
          <a:p>
            <a:pPr marL="0" indent="0" algn="ctr">
              <a:buNone/>
            </a:pPr>
            <a:r>
              <a:rPr lang="en-US" sz="1350" b="1" dirty="0">
                <a:solidFill>
                  <a:srgbClr val="22303C"/>
                </a:solidFill>
                <a:latin typeface="Calibri" pitchFamily="34" charset="0"/>
                <a:ea typeface="Calibri" pitchFamily="34" charset="-122"/>
                <a:cs typeface="Calibri" pitchFamily="34" charset="-120"/>
              </a:rPr>
              <a:t>Scan starts the consult</a:t>
            </a:r>
            <a:endParaRPr lang="en-US" sz="1350" dirty="0"/>
          </a:p>
        </p:txBody>
      </p:sp>
      <p:sp>
        <p:nvSpPr>
          <p:cNvPr id="12" name="Text 7"/>
          <p:cNvSpPr/>
          <p:nvPr/>
        </p:nvSpPr>
        <p:spPr>
          <a:xfrm>
            <a:off x="9348999" y="5870448"/>
            <a:ext cx="2842696" cy="777240"/>
          </a:xfrm>
          <a:prstGeom prst="rect">
            <a:avLst/>
          </a:prstGeom>
          <a:noFill/>
        </p:spPr>
        <p:txBody>
          <a:bodyPr wrap="square" lIns="0" tIns="0" rIns="0" bIns="0" rtlCol="0" anchor="t"/>
          <a:lstStyle/>
          <a:p>
            <a:pPr marL="0" indent="0" algn="ctr">
              <a:lnSpc>
                <a:spcPct val="112000"/>
              </a:lnSpc>
              <a:buNone/>
            </a:pPr>
            <a:r>
              <a:rPr lang="en-US" sz="1050" dirty="0">
                <a:solidFill>
                  <a:srgbClr val="3A4756"/>
                </a:solidFill>
                <a:latin typeface="Calibri" pitchFamily="34" charset="0"/>
                <a:ea typeface="Calibri" pitchFamily="34" charset="-122"/>
                <a:cs typeface="Calibri" pitchFamily="34" charset="-120"/>
              </a:rPr>
              <a:t>Identity resolved, consent checked, session logged. The doctor’s own hospital records are there before a single patient enrols.</a:t>
            </a:r>
            <a:endParaRPr lang="en-US" sz="1050" dirty="0"/>
          </a:p>
        </p:txBody>
      </p:sp>
      <p:sp>
        <p:nvSpPr>
          <p:cNvPr id="13" name="Text 8"/>
          <p:cNvSpPr/>
          <p:nvPr/>
        </p:nvSpPr>
        <p:spPr>
          <a:xfrm>
            <a:off x="11277295" y="6473952"/>
            <a:ext cx="365760" cy="228600"/>
          </a:xfrm>
          <a:prstGeom prst="rect">
            <a:avLst/>
          </a:prstGeom>
          <a:noFill/>
        </p:spPr>
        <p:txBody>
          <a:bodyPr wrap="square" lIns="0" tIns="0" rIns="0" bIns="0" rtlCol="0" anchor="t"/>
          <a:lstStyle/>
          <a:p>
            <a:pPr marL="0" indent="0" algn="r">
              <a:buNone/>
            </a:pPr>
            <a:r>
              <a:rPr lang="en-US" sz="900" dirty="0">
                <a:solidFill>
                  <a:srgbClr val="7D868E"/>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7F1"/>
        </a:solidFill>
        <a:effectLst/>
      </p:bgPr>
    </p:bg>
    <p:spTree>
      <p:nvGrpSpPr>
        <p:cNvPr id="1" name=""/>
        <p:cNvGrpSpPr/>
        <p:nvPr/>
      </p:nvGrpSpPr>
      <p:grpSpPr>
        <a:xfrm>
          <a:off x="0" y="0"/>
          <a:ext cx="0" cy="0"/>
          <a:chOff x="0" y="0"/>
          <a:chExt cx="0" cy="0"/>
        </a:xfrm>
      </p:grpSpPr>
      <p:sp>
        <p:nvSpPr>
          <p:cNvPr id="2" name="Text 0"/>
          <p:cNvSpPr/>
          <p:nvPr/>
        </p:nvSpPr>
        <p:spPr>
          <a:xfrm>
            <a:off x="548640" y="502920"/>
            <a:ext cx="5486400" cy="274320"/>
          </a:xfrm>
          <a:prstGeom prst="rect">
            <a:avLst/>
          </a:prstGeom>
          <a:noFill/>
        </p:spPr>
        <p:txBody>
          <a:bodyPr wrap="square" lIns="0" tIns="0" rIns="0" bIns="0" rtlCol="0" anchor="t"/>
          <a:lstStyle/>
          <a:p>
            <a:pPr marL="0" indent="0">
              <a:buNone/>
            </a:pPr>
            <a:r>
              <a:rPr lang="en-US" sz="1050" b="1" kern="0" spc="300" dirty="0">
                <a:solidFill>
                  <a:srgbClr val="0072A8"/>
                </a:solidFill>
                <a:latin typeface="Calibri" pitchFamily="34" charset="0"/>
                <a:ea typeface="Calibri" pitchFamily="34" charset="-122"/>
                <a:cs typeface="Calibri" pitchFamily="34" charset="-120"/>
              </a:rPr>
              <a:t>THE DOCTOR’S VIEW</a:t>
            </a:r>
            <a:endParaRPr lang="en-US" sz="1050" dirty="0"/>
          </a:p>
        </p:txBody>
      </p:sp>
      <p:sp>
        <p:nvSpPr>
          <p:cNvPr id="3" name="Text 1"/>
          <p:cNvSpPr/>
          <p:nvPr/>
        </p:nvSpPr>
        <p:spPr>
          <a:xfrm>
            <a:off x="548640" y="822960"/>
            <a:ext cx="6949440" cy="1188720"/>
          </a:xfrm>
          <a:prstGeom prst="rect">
            <a:avLst/>
          </a:prstGeom>
          <a:noFill/>
        </p:spPr>
        <p:txBody>
          <a:bodyPr wrap="square" lIns="0" tIns="0" rIns="0" bIns="0" rtlCol="0" anchor="t"/>
          <a:lstStyle/>
          <a:p>
            <a:pPr marL="0" indent="0">
              <a:buNone/>
            </a:pPr>
            <a:r>
              <a:rPr lang="en-US" sz="2800" dirty="0">
                <a:solidFill>
                  <a:srgbClr val="22303C"/>
                </a:solidFill>
                <a:latin typeface="Cambria" pitchFamily="34" charset="0"/>
                <a:ea typeface="Cambria" pitchFamily="34" charset="-122"/>
                <a:cs typeface="Cambria" pitchFamily="34" charset="-120"/>
              </a:rPr>
              <a:t>The whole history, read for your specialty, at the moment of scan.</a:t>
            </a:r>
            <a:endParaRPr lang="en-US" sz="2800" dirty="0"/>
          </a:p>
        </p:txBody>
      </p:sp>
      <p:pic>
        <p:nvPicPr>
          <p:cNvPr id="4" name="Image 0" descr="preencoded.png"/>
          <p:cNvPicPr>
            <a:picLocks noChangeAspect="1"/>
          </p:cNvPicPr>
          <p:nvPr/>
        </p:nvPicPr>
        <p:blipFill>
          <a:blip r:embed="rId1"/>
          <a:stretch>
            <a:fillRect/>
          </a:stretch>
        </p:blipFill>
        <p:spPr>
          <a:xfrm>
            <a:off x="8412480" y="548640"/>
            <a:ext cx="2670697" cy="5806440"/>
          </a:xfrm>
          <a:prstGeom prst="rect">
            <a:avLst/>
          </a:prstGeom>
          <a:effectLst>
            <a:outerShdw blurRad="101600" dist="25400" dir="5400000" algn="bl" rotWithShape="0">
              <a:srgbClr val="22303C">
                <a:alpha val="10000"/>
              </a:srgbClr>
            </a:outerShdw>
          </a:effectLst>
        </p:spPr>
      </p:pic>
      <p:sp>
        <p:nvSpPr>
          <p:cNvPr id="5" name="Shape 2"/>
          <p:cNvSpPr/>
          <p:nvPr/>
        </p:nvSpPr>
        <p:spPr>
          <a:xfrm>
            <a:off x="548640" y="2258568"/>
            <a:ext cx="384048" cy="384048"/>
          </a:xfrm>
          <a:prstGeom prst="ellipse">
            <a:avLst/>
          </a:prstGeom>
          <a:solidFill>
            <a:srgbClr val="0072A8"/>
          </a:solidFill>
          <a:ln w="12700">
            <a:solidFill>
              <a:srgbClr val="0072A8"/>
            </a:solidFill>
            <a:prstDash val="solid"/>
          </a:ln>
        </p:spPr>
      </p:sp>
      <p:sp>
        <p:nvSpPr>
          <p:cNvPr id="6" name="Text 3"/>
          <p:cNvSpPr/>
          <p:nvPr/>
        </p:nvSpPr>
        <p:spPr>
          <a:xfrm>
            <a:off x="548640" y="2258568"/>
            <a:ext cx="384048" cy="384048"/>
          </a:xfrm>
          <a:prstGeom prst="rect">
            <a:avLst/>
          </a:prstGeom>
          <a:noFill/>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4"/>
          <p:cNvSpPr/>
          <p:nvPr/>
        </p:nvSpPr>
        <p:spPr>
          <a:xfrm>
            <a:off x="1097280" y="2240280"/>
            <a:ext cx="6949440" cy="292608"/>
          </a:xfrm>
          <a:prstGeom prst="rect">
            <a:avLst/>
          </a:prstGeom>
          <a:noFill/>
        </p:spPr>
        <p:txBody>
          <a:bodyPr wrap="square" lIns="0" tIns="0" rIns="0" bIns="0" rtlCol="0" anchor="t"/>
          <a:lstStyle/>
          <a:p>
            <a:pPr marL="0" indent="0">
              <a:buNone/>
            </a:pPr>
            <a:r>
              <a:rPr lang="en-US" sz="1500" b="1" dirty="0">
                <a:solidFill>
                  <a:srgbClr val="22303C"/>
                </a:solidFill>
                <a:latin typeface="Calibri" pitchFamily="34" charset="0"/>
                <a:ea typeface="Calibri" pitchFamily="34" charset="-122"/>
                <a:cs typeface="Calibri" pitchFamily="34" charset="-120"/>
              </a:rPr>
              <a:t>Allergy first. Always.</a:t>
            </a:r>
            <a:endParaRPr lang="en-US" sz="1500" dirty="0"/>
          </a:p>
        </p:txBody>
      </p:sp>
      <p:sp>
        <p:nvSpPr>
          <p:cNvPr id="8" name="Text 5"/>
          <p:cNvSpPr/>
          <p:nvPr/>
        </p:nvSpPr>
        <p:spPr>
          <a:xfrm>
            <a:off x="1097280" y="2542032"/>
            <a:ext cx="7040880" cy="640080"/>
          </a:xfrm>
          <a:prstGeom prst="rect">
            <a:avLst/>
          </a:prstGeom>
          <a:noFill/>
        </p:spPr>
        <p:txBody>
          <a:bodyPr wrap="square" lIns="0" tIns="0" rIns="0" bIns="0" rtlCol="0" anchor="t"/>
          <a:lstStyle/>
          <a:p>
            <a:pPr marL="0" indent="0">
              <a:lnSpc>
                <a:spcPct val="115000"/>
              </a:lnSpc>
              <a:buNone/>
            </a:pPr>
            <a:r>
              <a:rPr lang="en-US" sz="1200" dirty="0">
                <a:solidFill>
                  <a:srgbClr val="3A4756"/>
                </a:solidFill>
                <a:latin typeface="Calibri" pitchFamily="34" charset="0"/>
                <a:ea typeface="Calibri" pitchFamily="34" charset="-122"/>
                <a:cs typeface="Calibri" pitchFamily="34" charset="-120"/>
              </a:rPr>
              <a:t>The red strip sits above the tabs. It cannot be scrolled away.</a:t>
            </a:r>
            <a:endParaRPr lang="en-US" sz="1200" dirty="0"/>
          </a:p>
        </p:txBody>
      </p:sp>
      <p:sp>
        <p:nvSpPr>
          <p:cNvPr id="9" name="Shape 6"/>
          <p:cNvSpPr/>
          <p:nvPr/>
        </p:nvSpPr>
        <p:spPr>
          <a:xfrm>
            <a:off x="548640" y="3282696"/>
            <a:ext cx="384048" cy="384048"/>
          </a:xfrm>
          <a:prstGeom prst="ellipse">
            <a:avLst/>
          </a:prstGeom>
          <a:solidFill>
            <a:srgbClr val="0072A8"/>
          </a:solidFill>
          <a:ln w="12700">
            <a:solidFill>
              <a:srgbClr val="0072A8"/>
            </a:solidFill>
            <a:prstDash val="solid"/>
          </a:ln>
        </p:spPr>
      </p:sp>
      <p:sp>
        <p:nvSpPr>
          <p:cNvPr id="10" name="Text 7"/>
          <p:cNvSpPr/>
          <p:nvPr/>
        </p:nvSpPr>
        <p:spPr>
          <a:xfrm>
            <a:off x="548640" y="3282696"/>
            <a:ext cx="384048" cy="384048"/>
          </a:xfrm>
          <a:prstGeom prst="rect">
            <a:avLst/>
          </a:prstGeom>
          <a:noFill/>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8"/>
          <p:cNvSpPr/>
          <p:nvPr/>
        </p:nvSpPr>
        <p:spPr>
          <a:xfrm>
            <a:off x="1097280" y="3264408"/>
            <a:ext cx="6949440" cy="292608"/>
          </a:xfrm>
          <a:prstGeom prst="rect">
            <a:avLst/>
          </a:prstGeom>
          <a:noFill/>
        </p:spPr>
        <p:txBody>
          <a:bodyPr wrap="square" lIns="0" tIns="0" rIns="0" bIns="0" rtlCol="0" anchor="t"/>
          <a:lstStyle/>
          <a:p>
            <a:pPr marL="0" indent="0">
              <a:buNone/>
            </a:pPr>
            <a:r>
              <a:rPr lang="en-US" sz="1500" b="1" dirty="0">
                <a:solidFill>
                  <a:srgbClr val="22303C"/>
                </a:solidFill>
                <a:latin typeface="Calibri" pitchFamily="34" charset="0"/>
                <a:ea typeface="Calibri" pitchFamily="34" charset="-122"/>
                <a:cs typeface="Calibri" pitchFamily="34" charset="-120"/>
              </a:rPr>
              <a:t>A brief, not a file.</a:t>
            </a:r>
            <a:endParaRPr lang="en-US" sz="1500" dirty="0"/>
          </a:p>
        </p:txBody>
      </p:sp>
      <p:sp>
        <p:nvSpPr>
          <p:cNvPr id="12" name="Text 9"/>
          <p:cNvSpPr/>
          <p:nvPr/>
        </p:nvSpPr>
        <p:spPr>
          <a:xfrm>
            <a:off x="1097280" y="3566160"/>
            <a:ext cx="7040880" cy="640080"/>
          </a:xfrm>
          <a:prstGeom prst="rect">
            <a:avLst/>
          </a:prstGeom>
          <a:noFill/>
        </p:spPr>
        <p:txBody>
          <a:bodyPr wrap="square" lIns="0" tIns="0" rIns="0" bIns="0" rtlCol="0" anchor="t"/>
          <a:lstStyle/>
          <a:p>
            <a:pPr marL="0" indent="0">
              <a:lnSpc>
                <a:spcPct val="115000"/>
              </a:lnSpc>
              <a:buNone/>
            </a:pPr>
            <a:r>
              <a:rPr lang="en-US" sz="1200" dirty="0">
                <a:solidFill>
                  <a:srgbClr val="3A4756"/>
                </a:solidFill>
                <a:latin typeface="Calibri" pitchFamily="34" charset="0"/>
                <a:ea typeface="Calibri" pitchFamily="34" charset="-122"/>
                <a:cs typeface="Calibri" pitchFamily="34" charset="-120"/>
              </a:rPr>
              <a:t>Seven records became one paragraph: control, what is new today, current medication, past surgery, a suggested focus. Written for an endocrinologist.</a:t>
            </a:r>
            <a:endParaRPr lang="en-US" sz="1200" dirty="0"/>
          </a:p>
        </p:txBody>
      </p:sp>
      <p:sp>
        <p:nvSpPr>
          <p:cNvPr id="13" name="Shape 10"/>
          <p:cNvSpPr/>
          <p:nvPr/>
        </p:nvSpPr>
        <p:spPr>
          <a:xfrm>
            <a:off x="548640" y="4306824"/>
            <a:ext cx="384048" cy="384048"/>
          </a:xfrm>
          <a:prstGeom prst="ellipse">
            <a:avLst/>
          </a:prstGeom>
          <a:solidFill>
            <a:srgbClr val="0072A8"/>
          </a:solidFill>
          <a:ln w="12700">
            <a:solidFill>
              <a:srgbClr val="0072A8"/>
            </a:solidFill>
            <a:prstDash val="solid"/>
          </a:ln>
        </p:spPr>
      </p:sp>
      <p:sp>
        <p:nvSpPr>
          <p:cNvPr id="14" name="Text 11"/>
          <p:cNvSpPr/>
          <p:nvPr/>
        </p:nvSpPr>
        <p:spPr>
          <a:xfrm>
            <a:off x="548640" y="4306824"/>
            <a:ext cx="384048" cy="384048"/>
          </a:xfrm>
          <a:prstGeom prst="rect">
            <a:avLst/>
          </a:prstGeom>
          <a:noFill/>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2"/>
          <p:cNvSpPr/>
          <p:nvPr/>
        </p:nvSpPr>
        <p:spPr>
          <a:xfrm>
            <a:off x="1097280" y="4288536"/>
            <a:ext cx="6949440" cy="292608"/>
          </a:xfrm>
          <a:prstGeom prst="rect">
            <a:avLst/>
          </a:prstGeom>
          <a:noFill/>
        </p:spPr>
        <p:txBody>
          <a:bodyPr wrap="square" lIns="0" tIns="0" rIns="0" bIns="0" rtlCol="0" anchor="t"/>
          <a:lstStyle/>
          <a:p>
            <a:pPr marL="0" indent="0">
              <a:buNone/>
            </a:pPr>
            <a:r>
              <a:rPr lang="en-US" sz="1500" b="1" dirty="0">
                <a:solidFill>
                  <a:srgbClr val="22303C"/>
                </a:solidFill>
                <a:latin typeface="Calibri" pitchFamily="34" charset="0"/>
                <a:ea typeface="Calibri" pitchFamily="34" charset="-122"/>
                <a:cs typeface="Calibri" pitchFamily="34" charset="-120"/>
              </a:rPr>
              <a:t>The chart chooses its own visual.</a:t>
            </a:r>
            <a:endParaRPr lang="en-US" sz="1500" dirty="0"/>
          </a:p>
        </p:txBody>
      </p:sp>
      <p:sp>
        <p:nvSpPr>
          <p:cNvPr id="16" name="Text 13"/>
          <p:cNvSpPr/>
          <p:nvPr/>
        </p:nvSpPr>
        <p:spPr>
          <a:xfrm>
            <a:off x="1097280" y="4590288"/>
            <a:ext cx="7040880" cy="640080"/>
          </a:xfrm>
          <a:prstGeom prst="rect">
            <a:avLst/>
          </a:prstGeom>
          <a:noFill/>
        </p:spPr>
        <p:txBody>
          <a:bodyPr wrap="square" lIns="0" tIns="0" rIns="0" bIns="0" rtlCol="0" anchor="t"/>
          <a:lstStyle/>
          <a:p>
            <a:pPr marL="0" indent="0">
              <a:lnSpc>
                <a:spcPct val="115000"/>
              </a:lnSpc>
              <a:buNone/>
            </a:pPr>
            <a:r>
              <a:rPr lang="en-US" sz="1200" dirty="0">
                <a:solidFill>
                  <a:srgbClr val="3A4756"/>
                </a:solidFill>
                <a:latin typeface="Calibri" pitchFamily="34" charset="0"/>
                <a:ea typeface="Calibri" pitchFamily="34" charset="-122"/>
                <a:cs typeface="Calibri" pitchFamily="34" charset="-120"/>
              </a:rPr>
              <a:t>HbA1c against target, triglycerides against reference. Picked for this visit, rendered live. A cardiologist would get an EF trend instead.</a:t>
            </a:r>
            <a:endParaRPr lang="en-US" sz="1200" dirty="0"/>
          </a:p>
        </p:txBody>
      </p:sp>
      <p:sp>
        <p:nvSpPr>
          <p:cNvPr id="17" name="Shape 14"/>
          <p:cNvSpPr/>
          <p:nvPr/>
        </p:nvSpPr>
        <p:spPr>
          <a:xfrm>
            <a:off x="548640" y="5330952"/>
            <a:ext cx="384048" cy="384048"/>
          </a:xfrm>
          <a:prstGeom prst="ellipse">
            <a:avLst/>
          </a:prstGeom>
          <a:solidFill>
            <a:srgbClr val="0072A8"/>
          </a:solidFill>
          <a:ln w="12700">
            <a:solidFill>
              <a:srgbClr val="0072A8"/>
            </a:solidFill>
            <a:prstDash val="solid"/>
          </a:ln>
        </p:spPr>
      </p:sp>
      <p:sp>
        <p:nvSpPr>
          <p:cNvPr id="18" name="Text 15"/>
          <p:cNvSpPr/>
          <p:nvPr/>
        </p:nvSpPr>
        <p:spPr>
          <a:xfrm>
            <a:off x="548640" y="5330952"/>
            <a:ext cx="384048" cy="384048"/>
          </a:xfrm>
          <a:prstGeom prst="rect">
            <a:avLst/>
          </a:prstGeom>
          <a:noFill/>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9" name="Text 16"/>
          <p:cNvSpPr/>
          <p:nvPr/>
        </p:nvSpPr>
        <p:spPr>
          <a:xfrm>
            <a:off x="1097280" y="5312664"/>
            <a:ext cx="6949440" cy="292608"/>
          </a:xfrm>
          <a:prstGeom prst="rect">
            <a:avLst/>
          </a:prstGeom>
          <a:noFill/>
        </p:spPr>
        <p:txBody>
          <a:bodyPr wrap="square" lIns="0" tIns="0" rIns="0" bIns="0" rtlCol="0" anchor="t"/>
          <a:lstStyle/>
          <a:p>
            <a:pPr marL="0" indent="0">
              <a:buNone/>
            </a:pPr>
            <a:r>
              <a:rPr lang="en-US" sz="1500" b="1" dirty="0">
                <a:solidFill>
                  <a:srgbClr val="22303C"/>
                </a:solidFill>
                <a:latin typeface="Calibri" pitchFamily="34" charset="0"/>
                <a:ea typeface="Calibri" pitchFamily="34" charset="-122"/>
                <a:cs typeface="Calibri" pitchFamily="34" charset="-120"/>
              </a:rPr>
              <a:t>Verify against source.</a:t>
            </a:r>
            <a:endParaRPr lang="en-US" sz="1500" dirty="0"/>
          </a:p>
        </p:txBody>
      </p:sp>
      <p:sp>
        <p:nvSpPr>
          <p:cNvPr id="20" name="Text 17"/>
          <p:cNvSpPr/>
          <p:nvPr/>
        </p:nvSpPr>
        <p:spPr>
          <a:xfrm>
            <a:off x="1097280" y="5614416"/>
            <a:ext cx="7040880" cy="640080"/>
          </a:xfrm>
          <a:prstGeom prst="rect">
            <a:avLst/>
          </a:prstGeom>
          <a:noFill/>
        </p:spPr>
        <p:txBody>
          <a:bodyPr wrap="square" lIns="0" tIns="0" rIns="0" bIns="0" rtlCol="0" anchor="t"/>
          <a:lstStyle/>
          <a:p>
            <a:pPr marL="0" indent="0">
              <a:lnSpc>
                <a:spcPct val="115000"/>
              </a:lnSpc>
              <a:buNone/>
            </a:pPr>
            <a:r>
              <a:rPr lang="en-US" sz="1200" dirty="0">
                <a:solidFill>
                  <a:srgbClr val="3A4756"/>
                </a:solidFill>
                <a:latin typeface="Calibri" pitchFamily="34" charset="0"/>
                <a:ea typeface="Calibri" pitchFamily="34" charset="-122"/>
                <a:cs typeface="Calibri" pitchFamily="34" charset="-120"/>
              </a:rPr>
              <a:t>Every brief states where it came from. The original report is one tap away. The AI never writes to the record.</a:t>
            </a:r>
            <a:endParaRPr lang="en-US" sz="1200" dirty="0"/>
          </a:p>
        </p:txBody>
      </p:sp>
      <p:sp>
        <p:nvSpPr>
          <p:cNvPr id="21" name="Text 18"/>
          <p:cNvSpPr/>
          <p:nvPr/>
        </p:nvSpPr>
        <p:spPr>
          <a:xfrm>
            <a:off x="11277295" y="6473952"/>
            <a:ext cx="365760" cy="228600"/>
          </a:xfrm>
          <a:prstGeom prst="rect">
            <a:avLst/>
          </a:prstGeom>
          <a:noFill/>
        </p:spPr>
        <p:txBody>
          <a:bodyPr wrap="square" lIns="0" tIns="0" rIns="0" bIns="0" rtlCol="0" anchor="t"/>
          <a:lstStyle/>
          <a:p>
            <a:pPr marL="0" indent="0" algn="r">
              <a:buNone/>
            </a:pPr>
            <a:r>
              <a:rPr lang="en-US" sz="900" dirty="0">
                <a:solidFill>
                  <a:srgbClr val="7D868E"/>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7F1"/>
        </a:solidFill>
        <a:effectLst/>
      </p:bgPr>
    </p:bg>
    <p:spTree>
      <p:nvGrpSpPr>
        <p:cNvPr id="1" name=""/>
        <p:cNvGrpSpPr/>
        <p:nvPr/>
      </p:nvGrpSpPr>
      <p:grpSpPr>
        <a:xfrm>
          <a:off x="0" y="0"/>
          <a:ext cx="0" cy="0"/>
          <a:chOff x="0" y="0"/>
          <a:chExt cx="0" cy="0"/>
        </a:xfrm>
      </p:grpSpPr>
      <p:sp>
        <p:nvSpPr>
          <p:cNvPr id="2" name="Text 0"/>
          <p:cNvSpPr/>
          <p:nvPr/>
        </p:nvSpPr>
        <p:spPr>
          <a:xfrm>
            <a:off x="548640" y="502920"/>
            <a:ext cx="5486400" cy="274320"/>
          </a:xfrm>
          <a:prstGeom prst="rect">
            <a:avLst/>
          </a:prstGeom>
          <a:noFill/>
        </p:spPr>
        <p:txBody>
          <a:bodyPr wrap="square" lIns="0" tIns="0" rIns="0" bIns="0" rtlCol="0" anchor="t"/>
          <a:lstStyle/>
          <a:p>
            <a:pPr marL="0" indent="0">
              <a:buNone/>
            </a:pPr>
            <a:r>
              <a:rPr lang="en-US" sz="1050" b="1" kern="0" spc="300" dirty="0">
                <a:solidFill>
                  <a:srgbClr val="0072A8"/>
                </a:solidFill>
                <a:latin typeface="Calibri" pitchFamily="34" charset="0"/>
                <a:ea typeface="Calibri" pitchFamily="34" charset="-122"/>
                <a:cs typeface="Calibri" pitchFamily="34" charset="-120"/>
              </a:rPr>
              <a:t>ACROSS DEPARTMENTS</a:t>
            </a:r>
            <a:endParaRPr lang="en-US" sz="1050" dirty="0"/>
          </a:p>
        </p:txBody>
      </p:sp>
      <p:sp>
        <p:nvSpPr>
          <p:cNvPr id="3" name="Text 1"/>
          <p:cNvSpPr/>
          <p:nvPr/>
        </p:nvSpPr>
        <p:spPr>
          <a:xfrm>
            <a:off x="548640" y="822960"/>
            <a:ext cx="10515600" cy="731520"/>
          </a:xfrm>
          <a:prstGeom prst="rect">
            <a:avLst/>
          </a:prstGeom>
          <a:noFill/>
        </p:spPr>
        <p:txBody>
          <a:bodyPr wrap="square" lIns="0" tIns="0" rIns="0" bIns="0" rtlCol="0" anchor="t"/>
          <a:lstStyle/>
          <a:p>
            <a:pPr marL="0" indent="0">
              <a:buNone/>
            </a:pPr>
            <a:r>
              <a:rPr lang="en-US" sz="2800" dirty="0">
                <a:solidFill>
                  <a:srgbClr val="22303C"/>
                </a:solidFill>
                <a:latin typeface="Cambria" pitchFamily="34" charset="0"/>
                <a:ea typeface="Cambria" pitchFamily="34" charset="-122"/>
                <a:cs typeface="Cambria" pitchFamily="34" charset="-120"/>
              </a:rPr>
              <a:t>Same patient. Two specialists. Each gets the brief written for them.</a:t>
            </a:r>
            <a:endParaRPr lang="en-US" sz="2800" dirty="0"/>
          </a:p>
        </p:txBody>
      </p:sp>
      <p:sp>
        <p:nvSpPr>
          <p:cNvPr id="4" name="Text 2"/>
          <p:cNvSpPr/>
          <p:nvPr/>
        </p:nvSpPr>
        <p:spPr>
          <a:xfrm>
            <a:off x="548640" y="1627632"/>
            <a:ext cx="2081882" cy="228600"/>
          </a:xfrm>
          <a:prstGeom prst="rect">
            <a:avLst/>
          </a:prstGeom>
          <a:noFill/>
        </p:spPr>
        <p:txBody>
          <a:bodyPr wrap="square" lIns="0" tIns="0" rIns="0" bIns="0" rtlCol="0" anchor="t"/>
          <a:lstStyle/>
          <a:p>
            <a:pPr marL="0" indent="0" algn="ctr">
              <a:buNone/>
            </a:pPr>
            <a:r>
              <a:rPr lang="en-US" sz="1050" b="1" dirty="0">
                <a:solidFill>
                  <a:srgbClr val="0072A8"/>
                </a:solidFill>
                <a:latin typeface="Calibri" pitchFamily="34" charset="0"/>
                <a:ea typeface="Calibri" pitchFamily="34" charset="-122"/>
                <a:cs typeface="Calibri" pitchFamily="34" charset="-120"/>
              </a:rPr>
              <a:t>Endocrinology · Dr. Menon</a:t>
            </a:r>
            <a:endParaRPr lang="en-US" sz="1050" dirty="0"/>
          </a:p>
        </p:txBody>
      </p:sp>
      <p:sp>
        <p:nvSpPr>
          <p:cNvPr id="5" name="Text 3"/>
          <p:cNvSpPr/>
          <p:nvPr/>
        </p:nvSpPr>
        <p:spPr>
          <a:xfrm>
            <a:off x="9561174" y="1627632"/>
            <a:ext cx="2081882" cy="228600"/>
          </a:xfrm>
          <a:prstGeom prst="rect">
            <a:avLst/>
          </a:prstGeom>
          <a:noFill/>
        </p:spPr>
        <p:txBody>
          <a:bodyPr wrap="square" lIns="0" tIns="0" rIns="0" bIns="0" rtlCol="0" anchor="t"/>
          <a:lstStyle/>
          <a:p>
            <a:pPr marL="0" indent="0" algn="ctr">
              <a:buNone/>
            </a:pPr>
            <a:r>
              <a:rPr lang="en-US" sz="1050" b="1" dirty="0">
                <a:solidFill>
                  <a:srgbClr val="0072A8"/>
                </a:solidFill>
                <a:latin typeface="Calibri" pitchFamily="34" charset="0"/>
                <a:ea typeface="Calibri" pitchFamily="34" charset="-122"/>
                <a:cs typeface="Calibri" pitchFamily="34" charset="-120"/>
              </a:rPr>
              <a:t>Cardiology · Dr. Bose</a:t>
            </a:r>
            <a:endParaRPr lang="en-US" sz="1050" dirty="0"/>
          </a:p>
        </p:txBody>
      </p:sp>
      <p:pic>
        <p:nvPicPr>
          <p:cNvPr id="6" name="Image 0" descr="preencoded.png"/>
          <p:cNvPicPr>
            <a:picLocks noChangeAspect="1"/>
          </p:cNvPicPr>
          <p:nvPr/>
        </p:nvPicPr>
        <p:blipFill>
          <a:blip r:embed="rId1"/>
          <a:stretch>
            <a:fillRect/>
          </a:stretch>
        </p:blipFill>
        <p:spPr>
          <a:xfrm>
            <a:off x="548640" y="1920240"/>
            <a:ext cx="2081882" cy="4526280"/>
          </a:xfrm>
          <a:prstGeom prst="rect">
            <a:avLst/>
          </a:prstGeom>
          <a:effectLst>
            <a:outerShdw blurRad="101600" dist="25400" dir="5400000" algn="bl" rotWithShape="0">
              <a:srgbClr val="22303C">
                <a:alpha val="10000"/>
              </a:srgbClr>
            </a:outerShdw>
          </a:effectLst>
        </p:spPr>
      </p:pic>
      <p:pic>
        <p:nvPicPr>
          <p:cNvPr id="7" name="Image 1" descr="preencoded.png"/>
          <p:cNvPicPr>
            <a:picLocks noChangeAspect="1"/>
          </p:cNvPicPr>
          <p:nvPr/>
        </p:nvPicPr>
        <p:blipFill>
          <a:blip r:embed="rId2"/>
          <a:stretch>
            <a:fillRect/>
          </a:stretch>
        </p:blipFill>
        <p:spPr>
          <a:xfrm>
            <a:off x="9561174" y="1920240"/>
            <a:ext cx="2081882" cy="4526280"/>
          </a:xfrm>
          <a:prstGeom prst="rect">
            <a:avLst/>
          </a:prstGeom>
          <a:effectLst>
            <a:outerShdw blurRad="101600" dist="25400" dir="5400000" algn="bl" rotWithShape="0">
              <a:srgbClr val="22303C">
                <a:alpha val="10000"/>
              </a:srgbClr>
            </a:outerShdw>
          </a:effectLst>
        </p:spPr>
      </p:pic>
      <p:sp>
        <p:nvSpPr>
          <p:cNvPr id="8" name="Shape 4"/>
          <p:cNvSpPr/>
          <p:nvPr/>
        </p:nvSpPr>
        <p:spPr>
          <a:xfrm>
            <a:off x="3042002" y="1920240"/>
            <a:ext cx="6107692" cy="4526280"/>
          </a:xfrm>
          <a:prstGeom prst="roundRect">
            <a:avLst>
              <a:gd name="adj" fmla="val 2424"/>
            </a:avLst>
          </a:prstGeom>
          <a:solidFill>
            <a:srgbClr val="FFFFFF"/>
          </a:solidFill>
          <a:ln w="9525">
            <a:solidFill>
              <a:srgbClr val="ECE7DD"/>
            </a:solidFill>
            <a:prstDash val="solid"/>
          </a:ln>
          <a:effectLst>
            <a:outerShdw blurRad="101600" dist="25400" dir="5400000" algn="bl" rotWithShape="0">
              <a:srgbClr val="22303C">
                <a:alpha val="10000"/>
              </a:srgbClr>
            </a:outerShdw>
          </a:effectLst>
        </p:spPr>
      </p:sp>
      <p:sp>
        <p:nvSpPr>
          <p:cNvPr id="9" name="Text 5"/>
          <p:cNvSpPr/>
          <p:nvPr/>
        </p:nvSpPr>
        <p:spPr>
          <a:xfrm>
            <a:off x="3362042" y="2148840"/>
            <a:ext cx="5467612" cy="365760"/>
          </a:xfrm>
          <a:prstGeom prst="rect">
            <a:avLst/>
          </a:prstGeom>
          <a:noFill/>
        </p:spPr>
        <p:txBody>
          <a:bodyPr wrap="square" lIns="0" tIns="0" rIns="0" bIns="0" rtlCol="0" anchor="t"/>
          <a:lstStyle/>
          <a:p>
            <a:pPr marL="0" indent="0">
              <a:buNone/>
            </a:pPr>
            <a:r>
              <a:rPr lang="en-US" sz="2000" dirty="0">
                <a:solidFill>
                  <a:srgbClr val="22303C"/>
                </a:solidFill>
                <a:latin typeface="Cambria" pitchFamily="34" charset="0"/>
                <a:ea typeface="Cambria" pitchFamily="34" charset="-122"/>
                <a:cs typeface="Cambria" pitchFamily="34" charset="-120"/>
              </a:rPr>
              <a:t>Ravi Krishnan, 62</a:t>
            </a:r>
            <a:endParaRPr lang="en-US" sz="2000" dirty="0"/>
          </a:p>
        </p:txBody>
      </p:sp>
      <p:sp>
        <p:nvSpPr>
          <p:cNvPr id="10" name="Text 6"/>
          <p:cNvSpPr/>
          <p:nvPr/>
        </p:nvSpPr>
        <p:spPr>
          <a:xfrm>
            <a:off x="3362042" y="2560320"/>
            <a:ext cx="5467612" cy="640080"/>
          </a:xfrm>
          <a:prstGeom prst="rect">
            <a:avLst/>
          </a:prstGeom>
          <a:noFill/>
        </p:spPr>
        <p:txBody>
          <a:bodyPr wrap="square" lIns="0" tIns="0" rIns="0" bIns="0" rtlCol="0" anchor="t"/>
          <a:lstStyle/>
          <a:p>
            <a:pPr marL="0" indent="0">
              <a:lnSpc>
                <a:spcPct val="115000"/>
              </a:lnSpc>
              <a:buNone/>
            </a:pPr>
            <a:r>
              <a:rPr lang="en-US" sz="1200" dirty="0">
                <a:solidFill>
                  <a:srgbClr val="3A4756"/>
                </a:solidFill>
                <a:latin typeface="Calibri" pitchFamily="34" charset="0"/>
                <a:ea typeface="Calibri" pitchFamily="34" charset="-122"/>
                <a:cs typeface="Calibri" pitchFamily="34" charset="-120"/>
              </a:rPr>
              <a:t>NSTEMI with PCI in February. Heart failure, EF 38%. Type 2 diabetes. Aspirin allergy. Co-managed.</a:t>
            </a:r>
            <a:endParaRPr lang="en-US" sz="1200" dirty="0"/>
          </a:p>
        </p:txBody>
      </p:sp>
      <p:sp>
        <p:nvSpPr>
          <p:cNvPr id="11" name="Shape 7"/>
          <p:cNvSpPr/>
          <p:nvPr/>
        </p:nvSpPr>
        <p:spPr>
          <a:xfrm>
            <a:off x="3362042" y="3291840"/>
            <a:ext cx="5467612" cy="0"/>
          </a:xfrm>
          <a:prstGeom prst="line">
            <a:avLst/>
          </a:prstGeom>
          <a:noFill/>
          <a:ln w="9525">
            <a:solidFill>
              <a:srgbClr val="D9D4CA"/>
            </a:solidFill>
            <a:prstDash val="solid"/>
          </a:ln>
        </p:spPr>
      </p:sp>
      <p:pic>
        <p:nvPicPr>
          <p:cNvPr id="12" name="Image 2" descr="preencoded.png"/>
          <p:cNvPicPr>
            <a:picLocks noChangeAspect="1"/>
          </p:cNvPicPr>
          <p:nvPr/>
        </p:nvPicPr>
        <p:blipFill>
          <a:blip r:embed="rId3"/>
          <a:stretch>
            <a:fillRect/>
          </a:stretch>
        </p:blipFill>
        <p:spPr>
          <a:xfrm>
            <a:off x="3362042" y="3493008"/>
            <a:ext cx="402336" cy="402336"/>
          </a:xfrm>
          <a:prstGeom prst="rect">
            <a:avLst/>
          </a:prstGeom>
        </p:spPr>
      </p:pic>
      <p:sp>
        <p:nvSpPr>
          <p:cNvPr id="13" name="Text 8"/>
          <p:cNvSpPr/>
          <p:nvPr/>
        </p:nvSpPr>
        <p:spPr>
          <a:xfrm>
            <a:off x="3883250" y="3474720"/>
            <a:ext cx="4918972" cy="274320"/>
          </a:xfrm>
          <a:prstGeom prst="rect">
            <a:avLst/>
          </a:prstGeom>
          <a:noFill/>
        </p:spPr>
        <p:txBody>
          <a:bodyPr wrap="square" lIns="0" tIns="0" rIns="0" bIns="0" rtlCol="0" anchor="t"/>
          <a:lstStyle/>
          <a:p>
            <a:pPr marL="0" indent="0">
              <a:buNone/>
            </a:pPr>
            <a:r>
              <a:rPr lang="en-US" sz="1350" b="1" dirty="0">
                <a:solidFill>
                  <a:srgbClr val="22303C"/>
                </a:solidFill>
                <a:latin typeface="Calibri" pitchFamily="34" charset="0"/>
                <a:ea typeface="Calibri" pitchFamily="34" charset="-122"/>
                <a:cs typeface="Calibri" pitchFamily="34" charset="-120"/>
              </a:rPr>
              <a:t>One record, two briefs</a:t>
            </a:r>
            <a:endParaRPr lang="en-US" sz="1350" dirty="0"/>
          </a:p>
        </p:txBody>
      </p:sp>
      <p:sp>
        <p:nvSpPr>
          <p:cNvPr id="14" name="Text 9"/>
          <p:cNvSpPr/>
          <p:nvPr/>
        </p:nvSpPr>
        <p:spPr>
          <a:xfrm>
            <a:off x="3883250" y="3749040"/>
            <a:ext cx="4918972" cy="685800"/>
          </a:xfrm>
          <a:prstGeom prst="rect">
            <a:avLst/>
          </a:prstGeom>
          <a:noFill/>
        </p:spPr>
        <p:txBody>
          <a:bodyPr wrap="square" lIns="0" tIns="0" rIns="0" bIns="0" rtlCol="0" anchor="t"/>
          <a:lstStyle/>
          <a:p>
            <a:pPr marL="0" indent="0">
              <a:lnSpc>
                <a:spcPct val="112000"/>
              </a:lnSpc>
              <a:buNone/>
            </a:pPr>
            <a:r>
              <a:rPr lang="en-US" sz="1150" dirty="0">
                <a:solidFill>
                  <a:srgbClr val="3A4756"/>
                </a:solidFill>
                <a:latin typeface="Calibri" pitchFamily="34" charset="0"/>
                <a:ea typeface="Calibri" pitchFamily="34" charset="-122"/>
                <a:cs typeface="Calibri" pitchFamily="34" charset="-120"/>
              </a:rPr>
              <a:t>The endocrinologist gets the HbA1c trend and an eGFR watch for the SGLT2 inhibitor. The cardiologist gets the EF trend and NT-proBNP. Same eighteen records.</a:t>
            </a:r>
            <a:endParaRPr lang="en-US" sz="1150" dirty="0"/>
          </a:p>
        </p:txBody>
      </p:sp>
      <p:pic>
        <p:nvPicPr>
          <p:cNvPr id="15" name="Image 3" descr="preencoded.png"/>
          <p:cNvPicPr>
            <a:picLocks noChangeAspect="1"/>
          </p:cNvPicPr>
          <p:nvPr/>
        </p:nvPicPr>
        <p:blipFill>
          <a:blip r:embed="rId4"/>
          <a:stretch>
            <a:fillRect/>
          </a:stretch>
        </p:blipFill>
        <p:spPr>
          <a:xfrm>
            <a:off x="3362042" y="4453128"/>
            <a:ext cx="402336" cy="402336"/>
          </a:xfrm>
          <a:prstGeom prst="rect">
            <a:avLst/>
          </a:prstGeom>
        </p:spPr>
      </p:pic>
      <p:sp>
        <p:nvSpPr>
          <p:cNvPr id="16" name="Text 10"/>
          <p:cNvSpPr/>
          <p:nvPr/>
        </p:nvSpPr>
        <p:spPr>
          <a:xfrm>
            <a:off x="3883250" y="4434840"/>
            <a:ext cx="4918972" cy="274320"/>
          </a:xfrm>
          <a:prstGeom prst="rect">
            <a:avLst/>
          </a:prstGeom>
          <a:noFill/>
        </p:spPr>
        <p:txBody>
          <a:bodyPr wrap="square" lIns="0" tIns="0" rIns="0" bIns="0" rtlCol="0" anchor="t"/>
          <a:lstStyle/>
          <a:p>
            <a:pPr marL="0" indent="0">
              <a:buNone/>
            </a:pPr>
            <a:r>
              <a:rPr lang="en-US" sz="1350" b="1" dirty="0">
                <a:solidFill>
                  <a:srgbClr val="22303C"/>
                </a:solidFill>
                <a:latin typeface="Calibri" pitchFamily="34" charset="0"/>
                <a:ea typeface="Calibri" pitchFamily="34" charset="-122"/>
                <a:cs typeface="Calibri" pitchFamily="34" charset="-120"/>
              </a:rPr>
              <a:t>Consent scope is visible</a:t>
            </a:r>
            <a:endParaRPr lang="en-US" sz="1350" dirty="0"/>
          </a:p>
        </p:txBody>
      </p:sp>
      <p:sp>
        <p:nvSpPr>
          <p:cNvPr id="17" name="Text 11"/>
          <p:cNvSpPr/>
          <p:nvPr/>
        </p:nvSpPr>
        <p:spPr>
          <a:xfrm>
            <a:off x="3883250" y="4709160"/>
            <a:ext cx="4918972" cy="685800"/>
          </a:xfrm>
          <a:prstGeom prst="rect">
            <a:avLst/>
          </a:prstGeom>
          <a:noFill/>
        </p:spPr>
        <p:txBody>
          <a:bodyPr wrap="square" lIns="0" tIns="0" rIns="0" bIns="0" rtlCol="0" anchor="t"/>
          <a:lstStyle/>
          <a:p>
            <a:pPr marL="0" indent="0">
              <a:lnSpc>
                <a:spcPct val="112000"/>
              </a:lnSpc>
              <a:buNone/>
            </a:pPr>
            <a:r>
              <a:rPr lang="en-US" sz="1150" dirty="0">
                <a:solidFill>
                  <a:srgbClr val="3A4756"/>
                </a:solidFill>
                <a:latin typeface="Calibri" pitchFamily="34" charset="0"/>
                <a:ea typeface="Calibri" pitchFamily="34" charset="-122"/>
                <a:cs typeface="Calibri" pitchFamily="34" charset="-120"/>
              </a:rPr>
              <a:t>The shared-care banner at the top of the chart says exactly what the co-management grant covers.</a:t>
            </a:r>
            <a:endParaRPr lang="en-US" sz="1150" dirty="0"/>
          </a:p>
        </p:txBody>
      </p:sp>
      <p:pic>
        <p:nvPicPr>
          <p:cNvPr id="18" name="Image 4" descr="preencoded.png"/>
          <p:cNvPicPr>
            <a:picLocks noChangeAspect="1"/>
          </p:cNvPicPr>
          <p:nvPr/>
        </p:nvPicPr>
        <p:blipFill>
          <a:blip r:embed="rId5"/>
          <a:stretch>
            <a:fillRect/>
          </a:stretch>
        </p:blipFill>
        <p:spPr>
          <a:xfrm>
            <a:off x="3362042" y="5413248"/>
            <a:ext cx="402336" cy="402336"/>
          </a:xfrm>
          <a:prstGeom prst="rect">
            <a:avLst/>
          </a:prstGeom>
        </p:spPr>
      </p:pic>
      <p:sp>
        <p:nvSpPr>
          <p:cNvPr id="19" name="Text 12"/>
          <p:cNvSpPr/>
          <p:nvPr/>
        </p:nvSpPr>
        <p:spPr>
          <a:xfrm>
            <a:off x="3883250" y="5394960"/>
            <a:ext cx="4918972" cy="274320"/>
          </a:xfrm>
          <a:prstGeom prst="rect">
            <a:avLst/>
          </a:prstGeom>
          <a:noFill/>
        </p:spPr>
        <p:txBody>
          <a:bodyPr wrap="square" lIns="0" tIns="0" rIns="0" bIns="0" rtlCol="0" anchor="t"/>
          <a:lstStyle/>
          <a:p>
            <a:pPr marL="0" indent="0">
              <a:buNone/>
            </a:pPr>
            <a:r>
              <a:rPr lang="en-US" sz="1350" b="1" dirty="0">
                <a:solidFill>
                  <a:srgbClr val="22303C"/>
                </a:solidFill>
                <a:latin typeface="Calibri" pitchFamily="34" charset="0"/>
                <a:ea typeface="Calibri" pitchFamily="34" charset="-122"/>
                <a:cs typeface="Calibri" pitchFamily="34" charset="-120"/>
              </a:rPr>
              <a:t>Both see what either adds</a:t>
            </a:r>
            <a:endParaRPr lang="en-US" sz="1350" dirty="0"/>
          </a:p>
        </p:txBody>
      </p:sp>
      <p:sp>
        <p:nvSpPr>
          <p:cNvPr id="20" name="Text 13"/>
          <p:cNvSpPr/>
          <p:nvPr/>
        </p:nvSpPr>
        <p:spPr>
          <a:xfrm>
            <a:off x="3883250" y="5669280"/>
            <a:ext cx="4918972" cy="685800"/>
          </a:xfrm>
          <a:prstGeom prst="rect">
            <a:avLst/>
          </a:prstGeom>
          <a:noFill/>
        </p:spPr>
        <p:txBody>
          <a:bodyPr wrap="square" lIns="0" tIns="0" rIns="0" bIns="0" rtlCol="0" anchor="t"/>
          <a:lstStyle/>
          <a:p>
            <a:pPr marL="0" indent="0">
              <a:lnSpc>
                <a:spcPct val="112000"/>
              </a:lnSpc>
              <a:buNone/>
            </a:pPr>
            <a:r>
              <a:rPr lang="en-US" sz="1150" dirty="0">
                <a:solidFill>
                  <a:srgbClr val="3A4756"/>
                </a:solidFill>
                <a:latin typeface="Calibri" pitchFamily="34" charset="0"/>
                <a:ea typeface="Calibri" pitchFamily="34" charset="-122"/>
                <a:cs typeface="Calibri" pitchFamily="34" charset="-120"/>
              </a:rPr>
              <a:t>A prescription written in one OPD is on the other’s timeline before the patient reaches the corridor.</a:t>
            </a:r>
            <a:endParaRPr lang="en-US" sz="1150" dirty="0"/>
          </a:p>
        </p:txBody>
      </p:sp>
      <p:sp>
        <p:nvSpPr>
          <p:cNvPr id="21" name="Text 14"/>
          <p:cNvSpPr/>
          <p:nvPr/>
        </p:nvSpPr>
        <p:spPr>
          <a:xfrm>
            <a:off x="11277295" y="6473952"/>
            <a:ext cx="365760" cy="228600"/>
          </a:xfrm>
          <a:prstGeom prst="rect">
            <a:avLst/>
          </a:prstGeom>
          <a:noFill/>
        </p:spPr>
        <p:txBody>
          <a:bodyPr wrap="square" lIns="0" tIns="0" rIns="0" bIns="0" rtlCol="0" anchor="t"/>
          <a:lstStyle/>
          <a:p>
            <a:pPr marL="0" indent="0" algn="r">
              <a:buNone/>
            </a:pPr>
            <a:r>
              <a:rPr lang="en-US" sz="900" dirty="0">
                <a:solidFill>
                  <a:srgbClr val="7D868E"/>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AF7F1"/>
        </a:solidFill>
        <a:effectLst/>
      </p:bgPr>
    </p:bg>
    <p:spTree>
      <p:nvGrpSpPr>
        <p:cNvPr id="1" name=""/>
        <p:cNvGrpSpPr/>
        <p:nvPr/>
      </p:nvGrpSpPr>
      <p:grpSpPr>
        <a:xfrm>
          <a:off x="0" y="0"/>
          <a:ext cx="0" cy="0"/>
          <a:chOff x="0" y="0"/>
          <a:chExt cx="0" cy="0"/>
        </a:xfrm>
      </p:grpSpPr>
      <p:sp>
        <p:nvSpPr>
          <p:cNvPr id="2" name="Text 0"/>
          <p:cNvSpPr/>
          <p:nvPr/>
        </p:nvSpPr>
        <p:spPr>
          <a:xfrm>
            <a:off x="548640" y="502920"/>
            <a:ext cx="5486400" cy="274320"/>
          </a:xfrm>
          <a:prstGeom prst="rect">
            <a:avLst/>
          </a:prstGeom>
          <a:noFill/>
        </p:spPr>
        <p:txBody>
          <a:bodyPr wrap="square" lIns="0" tIns="0" rIns="0" bIns="0" rtlCol="0" anchor="t"/>
          <a:lstStyle/>
          <a:p>
            <a:pPr marL="0" indent="0">
              <a:buNone/>
            </a:pPr>
            <a:r>
              <a:rPr lang="en-US" sz="1050" b="1" kern="0" spc="300" dirty="0">
                <a:solidFill>
                  <a:srgbClr val="0072A8"/>
                </a:solidFill>
                <a:latin typeface="Calibri" pitchFamily="34" charset="0"/>
                <a:ea typeface="Calibri" pitchFamily="34" charset="-122"/>
                <a:cs typeface="Calibri" pitchFamily="34" charset="-120"/>
              </a:rPr>
              <a:t>WHEN YOU HAVE A QUESTION</a:t>
            </a:r>
            <a:endParaRPr lang="en-US" sz="1050" dirty="0"/>
          </a:p>
        </p:txBody>
      </p:sp>
      <p:sp>
        <p:nvSpPr>
          <p:cNvPr id="3" name="Text 1"/>
          <p:cNvSpPr/>
          <p:nvPr/>
        </p:nvSpPr>
        <p:spPr>
          <a:xfrm>
            <a:off x="548640" y="822960"/>
            <a:ext cx="11094415" cy="731520"/>
          </a:xfrm>
          <a:prstGeom prst="rect">
            <a:avLst/>
          </a:prstGeom>
          <a:noFill/>
        </p:spPr>
        <p:txBody>
          <a:bodyPr wrap="square" lIns="0" tIns="0" rIns="0" bIns="0" rtlCol="0" anchor="t"/>
          <a:lstStyle/>
          <a:p>
            <a:pPr marL="0" indent="0">
              <a:buNone/>
            </a:pPr>
            <a:r>
              <a:rPr lang="en-US" sz="3000" dirty="0">
                <a:solidFill>
                  <a:srgbClr val="22303C"/>
                </a:solidFill>
                <a:latin typeface="Cambria" pitchFamily="34" charset="0"/>
                <a:ea typeface="Cambria" pitchFamily="34" charset="-122"/>
                <a:cs typeface="Cambria" pitchFamily="34" charset="-120"/>
              </a:rPr>
              <a:t>Ask the record. Compare the reports. Open the original.</a:t>
            </a:r>
            <a:endParaRPr lang="en-US" sz="3000" dirty="0"/>
          </a:p>
        </p:txBody>
      </p:sp>
      <p:pic>
        <p:nvPicPr>
          <p:cNvPr id="4" name="Image 0" descr="preencoded.png"/>
          <p:cNvPicPr>
            <a:picLocks noChangeAspect="1"/>
          </p:cNvPicPr>
          <p:nvPr/>
        </p:nvPicPr>
        <p:blipFill>
          <a:blip r:embed="rId1"/>
          <a:stretch>
            <a:fillRect/>
          </a:stretch>
        </p:blipFill>
        <p:spPr>
          <a:xfrm>
            <a:off x="548640" y="1600200"/>
            <a:ext cx="1745416" cy="3794760"/>
          </a:xfrm>
          <a:prstGeom prst="rect">
            <a:avLst/>
          </a:prstGeom>
          <a:effectLst>
            <a:outerShdw blurRad="101600" dist="25400" dir="5400000" algn="bl" rotWithShape="0">
              <a:srgbClr val="22303C">
                <a:alpha val="10000"/>
              </a:srgbClr>
            </a:outerShdw>
          </a:effectLst>
        </p:spPr>
      </p:pic>
      <p:sp>
        <p:nvSpPr>
          <p:cNvPr id="5" name="Text 2"/>
          <p:cNvSpPr/>
          <p:nvPr/>
        </p:nvSpPr>
        <p:spPr>
          <a:xfrm>
            <a:off x="0" y="5532120"/>
            <a:ext cx="2842696" cy="320040"/>
          </a:xfrm>
          <a:prstGeom prst="rect">
            <a:avLst/>
          </a:prstGeom>
          <a:noFill/>
        </p:spPr>
        <p:txBody>
          <a:bodyPr wrap="square" lIns="0" tIns="0" rIns="0" bIns="0" rtlCol="0" anchor="t"/>
          <a:lstStyle/>
          <a:p>
            <a:pPr marL="0" indent="0" algn="ctr">
              <a:buNone/>
            </a:pPr>
            <a:r>
              <a:rPr lang="en-US" sz="1350" b="1" dirty="0">
                <a:solidFill>
                  <a:srgbClr val="22303C"/>
                </a:solidFill>
                <a:latin typeface="Calibri" pitchFamily="34" charset="0"/>
                <a:ea typeface="Calibri" pitchFamily="34" charset="-122"/>
                <a:cs typeface="Calibri" pitchFamily="34" charset="-120"/>
              </a:rPr>
              <a:t>“Last eye exam?”</a:t>
            </a:r>
            <a:endParaRPr lang="en-US" sz="1350" dirty="0"/>
          </a:p>
        </p:txBody>
      </p:sp>
      <p:sp>
        <p:nvSpPr>
          <p:cNvPr id="6" name="Text 3"/>
          <p:cNvSpPr/>
          <p:nvPr/>
        </p:nvSpPr>
        <p:spPr>
          <a:xfrm>
            <a:off x="0" y="5870448"/>
            <a:ext cx="2842696" cy="777240"/>
          </a:xfrm>
          <a:prstGeom prst="rect">
            <a:avLst/>
          </a:prstGeom>
          <a:noFill/>
        </p:spPr>
        <p:txBody>
          <a:bodyPr wrap="square" lIns="0" tIns="0" rIns="0" bIns="0" rtlCol="0" anchor="t"/>
          <a:lstStyle/>
          <a:p>
            <a:pPr marL="0" indent="0" algn="ctr">
              <a:lnSpc>
                <a:spcPct val="112000"/>
              </a:lnSpc>
              <a:buNone/>
            </a:pPr>
            <a:r>
              <a:rPr lang="en-US" sz="1050" dirty="0">
                <a:solidFill>
                  <a:srgbClr val="3A4756"/>
                </a:solidFill>
                <a:latin typeface="Calibri" pitchFamily="34" charset="0"/>
                <a:ea typeface="Calibri" pitchFamily="34" charset="-122"/>
                <a:cs typeface="Calibri" pitchFamily="34" charset="-120"/>
              </a:rPr>
              <a:t>Answers come only from the record. No ophthalmology record on file, so it says so, and suggests the referral. It does not guess.</a:t>
            </a:r>
            <a:endParaRPr lang="en-US" sz="1050" dirty="0"/>
          </a:p>
        </p:txBody>
      </p:sp>
      <p:pic>
        <p:nvPicPr>
          <p:cNvPr id="7" name="Image 1" descr="preencoded.png"/>
          <p:cNvPicPr>
            <a:picLocks noChangeAspect="1"/>
          </p:cNvPicPr>
          <p:nvPr/>
        </p:nvPicPr>
        <p:blipFill>
          <a:blip r:embed="rId2"/>
          <a:stretch>
            <a:fillRect/>
          </a:stretch>
        </p:blipFill>
        <p:spPr>
          <a:xfrm>
            <a:off x="5223140" y="1600200"/>
            <a:ext cx="1745416" cy="3794760"/>
          </a:xfrm>
          <a:prstGeom prst="rect">
            <a:avLst/>
          </a:prstGeom>
          <a:effectLst>
            <a:outerShdw blurRad="101600" dist="25400" dir="5400000" algn="bl" rotWithShape="0">
              <a:srgbClr val="22303C">
                <a:alpha val="10000"/>
              </a:srgbClr>
            </a:outerShdw>
          </a:effectLst>
        </p:spPr>
      </p:pic>
      <p:sp>
        <p:nvSpPr>
          <p:cNvPr id="8" name="Text 4"/>
          <p:cNvSpPr/>
          <p:nvPr/>
        </p:nvSpPr>
        <p:spPr>
          <a:xfrm>
            <a:off x="4674500" y="5532120"/>
            <a:ext cx="2842696" cy="320040"/>
          </a:xfrm>
          <a:prstGeom prst="rect">
            <a:avLst/>
          </a:prstGeom>
          <a:noFill/>
        </p:spPr>
        <p:txBody>
          <a:bodyPr wrap="square" lIns="0" tIns="0" rIns="0" bIns="0" rtlCol="0" anchor="t"/>
          <a:lstStyle/>
          <a:p>
            <a:pPr marL="0" indent="0" algn="ctr">
              <a:buNone/>
            </a:pPr>
            <a:r>
              <a:rPr lang="en-US" sz="1350" b="1" dirty="0">
                <a:solidFill>
                  <a:srgbClr val="22303C"/>
                </a:solidFill>
                <a:latin typeface="Calibri" pitchFamily="34" charset="0"/>
                <a:ea typeface="Calibri" pitchFamily="34" charset="-122"/>
                <a:cs typeface="Calibri" pitchFamily="34" charset="-120"/>
              </a:rPr>
              <a:t>Two lipid panels, side by side</a:t>
            </a:r>
            <a:endParaRPr lang="en-US" sz="1350" dirty="0"/>
          </a:p>
        </p:txBody>
      </p:sp>
      <p:sp>
        <p:nvSpPr>
          <p:cNvPr id="9" name="Text 5"/>
          <p:cNvSpPr/>
          <p:nvPr/>
        </p:nvSpPr>
        <p:spPr>
          <a:xfrm>
            <a:off x="4674500" y="5870448"/>
            <a:ext cx="2842696" cy="777240"/>
          </a:xfrm>
          <a:prstGeom prst="rect">
            <a:avLst/>
          </a:prstGeom>
          <a:noFill/>
        </p:spPr>
        <p:txBody>
          <a:bodyPr wrap="square" lIns="0" tIns="0" rIns="0" bIns="0" rtlCol="0" anchor="t"/>
          <a:lstStyle/>
          <a:p>
            <a:pPr marL="0" indent="0" algn="ctr">
              <a:lnSpc>
                <a:spcPct val="112000"/>
              </a:lnSpc>
              <a:buNone/>
            </a:pPr>
            <a:r>
              <a:rPr lang="en-US" sz="1050" dirty="0">
                <a:solidFill>
                  <a:srgbClr val="3A4756"/>
                </a:solidFill>
                <a:latin typeface="Calibri" pitchFamily="34" charset="0"/>
                <a:ea typeface="Calibri" pitchFamily="34" charset="-122"/>
                <a:cs typeface="Calibri" pitchFamily="34" charset="-120"/>
              </a:rPr>
              <a:t>Same lab, same fasting protocol, both final. Triglycerides 155 to 168. The comparison a registrar would spend ten minutes assembling.</a:t>
            </a:r>
            <a:endParaRPr lang="en-US" sz="1050" dirty="0"/>
          </a:p>
        </p:txBody>
      </p:sp>
      <p:pic>
        <p:nvPicPr>
          <p:cNvPr id="10" name="Image 2" descr="preencoded.png"/>
          <p:cNvPicPr>
            <a:picLocks noChangeAspect="1"/>
          </p:cNvPicPr>
          <p:nvPr/>
        </p:nvPicPr>
        <p:blipFill>
          <a:blip r:embed="rId3"/>
          <a:stretch>
            <a:fillRect/>
          </a:stretch>
        </p:blipFill>
        <p:spPr>
          <a:xfrm>
            <a:off x="9897639" y="1600200"/>
            <a:ext cx="1745416" cy="3794760"/>
          </a:xfrm>
          <a:prstGeom prst="rect">
            <a:avLst/>
          </a:prstGeom>
          <a:effectLst>
            <a:outerShdw blurRad="101600" dist="25400" dir="5400000" algn="bl" rotWithShape="0">
              <a:srgbClr val="22303C">
                <a:alpha val="10000"/>
              </a:srgbClr>
            </a:outerShdw>
          </a:effectLst>
        </p:spPr>
      </p:pic>
      <p:sp>
        <p:nvSpPr>
          <p:cNvPr id="11" name="Text 6"/>
          <p:cNvSpPr/>
          <p:nvPr/>
        </p:nvSpPr>
        <p:spPr>
          <a:xfrm>
            <a:off x="9348999" y="5532120"/>
            <a:ext cx="2842696" cy="320040"/>
          </a:xfrm>
          <a:prstGeom prst="rect">
            <a:avLst/>
          </a:prstGeom>
          <a:noFill/>
        </p:spPr>
        <p:txBody>
          <a:bodyPr wrap="square" lIns="0" tIns="0" rIns="0" bIns="0" rtlCol="0" anchor="t"/>
          <a:lstStyle/>
          <a:p>
            <a:pPr marL="0" indent="0" algn="ctr">
              <a:buNone/>
            </a:pPr>
            <a:r>
              <a:rPr lang="en-US" sz="1350" b="1" dirty="0">
                <a:solidFill>
                  <a:srgbClr val="22303C"/>
                </a:solidFill>
                <a:latin typeface="Calibri" pitchFamily="34" charset="0"/>
                <a:ea typeface="Calibri" pitchFamily="34" charset="-122"/>
                <a:cs typeface="Calibri" pitchFamily="34" charset="-120"/>
              </a:rPr>
              <a:t>The original, as received</a:t>
            </a:r>
            <a:endParaRPr lang="en-US" sz="1350" dirty="0"/>
          </a:p>
        </p:txBody>
      </p:sp>
      <p:sp>
        <p:nvSpPr>
          <p:cNvPr id="12" name="Text 7"/>
          <p:cNvSpPr/>
          <p:nvPr/>
        </p:nvSpPr>
        <p:spPr>
          <a:xfrm>
            <a:off x="9348999" y="5870448"/>
            <a:ext cx="2842696" cy="777240"/>
          </a:xfrm>
          <a:prstGeom prst="rect">
            <a:avLst/>
          </a:prstGeom>
          <a:noFill/>
        </p:spPr>
        <p:txBody>
          <a:bodyPr wrap="square" lIns="0" tIns="0" rIns="0" bIns="0" rtlCol="0" anchor="t"/>
          <a:lstStyle/>
          <a:p>
            <a:pPr marL="0" indent="0" algn="ctr">
              <a:lnSpc>
                <a:spcPct val="112000"/>
              </a:lnSpc>
              <a:buNone/>
            </a:pPr>
            <a:r>
              <a:rPr lang="en-US" sz="1050" dirty="0">
                <a:solidFill>
                  <a:srgbClr val="3A4756"/>
                </a:solidFill>
                <a:latin typeface="Calibri" pitchFamily="34" charset="0"/>
                <a:ea typeface="Calibri" pitchFamily="34" charset="-122"/>
                <a:cs typeface="Calibri" pitchFamily="34" charset="-120"/>
              </a:rPr>
              <a:t>Letterhead, reference ranges, pathologist’s signature. Because a summary is only as trustworthy as the source it points to. The view is logged.</a:t>
            </a:r>
            <a:endParaRPr lang="en-US" sz="1050" dirty="0"/>
          </a:p>
        </p:txBody>
      </p:sp>
      <p:sp>
        <p:nvSpPr>
          <p:cNvPr id="13" name="Text 8"/>
          <p:cNvSpPr/>
          <p:nvPr/>
        </p:nvSpPr>
        <p:spPr>
          <a:xfrm>
            <a:off x="11277295" y="6473952"/>
            <a:ext cx="365760" cy="228600"/>
          </a:xfrm>
          <a:prstGeom prst="rect">
            <a:avLst/>
          </a:prstGeom>
          <a:noFill/>
        </p:spPr>
        <p:txBody>
          <a:bodyPr wrap="square" lIns="0" tIns="0" rIns="0" bIns="0" rtlCol="0" anchor="t"/>
          <a:lstStyle/>
          <a:p>
            <a:pPr marL="0" indent="0" algn="r">
              <a:buNone/>
            </a:pPr>
            <a:r>
              <a:rPr lang="en-US" sz="900" dirty="0">
                <a:solidFill>
                  <a:srgbClr val="7D868E"/>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AF7F1"/>
        </a:solidFill>
        <a:effectLst/>
      </p:bgPr>
    </p:bg>
    <p:spTree>
      <p:nvGrpSpPr>
        <p:cNvPr id="1" name=""/>
        <p:cNvGrpSpPr/>
        <p:nvPr/>
      </p:nvGrpSpPr>
      <p:grpSpPr>
        <a:xfrm>
          <a:off x="0" y="0"/>
          <a:ext cx="0" cy="0"/>
          <a:chOff x="0" y="0"/>
          <a:chExt cx="0" cy="0"/>
        </a:xfrm>
      </p:grpSpPr>
      <p:sp>
        <p:nvSpPr>
          <p:cNvPr id="2" name="Text 0"/>
          <p:cNvSpPr/>
          <p:nvPr/>
        </p:nvSpPr>
        <p:spPr>
          <a:xfrm>
            <a:off x="548640" y="502920"/>
            <a:ext cx="5486400" cy="274320"/>
          </a:xfrm>
          <a:prstGeom prst="rect">
            <a:avLst/>
          </a:prstGeom>
          <a:noFill/>
        </p:spPr>
        <p:txBody>
          <a:bodyPr wrap="square" lIns="0" tIns="0" rIns="0" bIns="0" rtlCol="0" anchor="t"/>
          <a:lstStyle/>
          <a:p>
            <a:pPr marL="0" indent="0">
              <a:buNone/>
            </a:pPr>
            <a:r>
              <a:rPr lang="en-US" sz="1050" b="1" kern="0" spc="300" dirty="0">
                <a:solidFill>
                  <a:srgbClr val="0072A8"/>
                </a:solidFill>
                <a:latin typeface="Calibri" pitchFamily="34" charset="0"/>
                <a:ea typeface="Calibri" pitchFamily="34" charset="-122"/>
                <a:cs typeface="Calibri" pitchFamily="34" charset="-120"/>
              </a:rPr>
              <a:t>GUARDRAILS</a:t>
            </a:r>
            <a:endParaRPr lang="en-US" sz="1050" dirty="0"/>
          </a:p>
        </p:txBody>
      </p:sp>
      <p:sp>
        <p:nvSpPr>
          <p:cNvPr id="3" name="Text 1"/>
          <p:cNvSpPr/>
          <p:nvPr/>
        </p:nvSpPr>
        <p:spPr>
          <a:xfrm>
            <a:off x="548640" y="822960"/>
            <a:ext cx="9144000" cy="731520"/>
          </a:xfrm>
          <a:prstGeom prst="rect">
            <a:avLst/>
          </a:prstGeom>
          <a:noFill/>
        </p:spPr>
        <p:txBody>
          <a:bodyPr wrap="square" lIns="0" tIns="0" rIns="0" bIns="0" rtlCol="0" anchor="t"/>
          <a:lstStyle/>
          <a:p>
            <a:pPr marL="0" indent="0">
              <a:buNone/>
            </a:pPr>
            <a:r>
              <a:rPr lang="en-US" sz="3200" dirty="0">
                <a:solidFill>
                  <a:srgbClr val="22303C"/>
                </a:solidFill>
                <a:latin typeface="Cambria" pitchFamily="34" charset="0"/>
                <a:ea typeface="Cambria" pitchFamily="34" charset="-122"/>
                <a:cs typeface="Cambria" pitchFamily="34" charset="-120"/>
              </a:rPr>
              <a:t>Built to be trusted by the doctor who signs.</a:t>
            </a:r>
            <a:endParaRPr lang="en-US" sz="3200" dirty="0"/>
          </a:p>
        </p:txBody>
      </p:sp>
      <p:pic>
        <p:nvPicPr>
          <p:cNvPr id="4" name="Image 0" descr="preencoded.png"/>
          <p:cNvPicPr>
            <a:picLocks noChangeAspect="1"/>
          </p:cNvPicPr>
          <p:nvPr/>
        </p:nvPicPr>
        <p:blipFill>
          <a:blip r:embed="rId1"/>
          <a:stretch>
            <a:fillRect/>
          </a:stretch>
        </p:blipFill>
        <p:spPr>
          <a:xfrm>
            <a:off x="548640" y="1691640"/>
            <a:ext cx="2208056" cy="4800600"/>
          </a:xfrm>
          <a:prstGeom prst="rect">
            <a:avLst/>
          </a:prstGeom>
          <a:effectLst>
            <a:outerShdw blurRad="101600" dist="25400" dir="5400000" algn="bl" rotWithShape="0">
              <a:srgbClr val="22303C">
                <a:alpha val="10000"/>
              </a:srgbClr>
            </a:outerShdw>
          </a:effectLst>
        </p:spPr>
      </p:pic>
      <p:pic>
        <p:nvPicPr>
          <p:cNvPr id="5" name="Image 1" descr="preencoded.png"/>
          <p:cNvPicPr>
            <a:picLocks noChangeAspect="1"/>
          </p:cNvPicPr>
          <p:nvPr/>
        </p:nvPicPr>
        <p:blipFill>
          <a:blip r:embed="rId2"/>
          <a:stretch>
            <a:fillRect/>
          </a:stretch>
        </p:blipFill>
        <p:spPr>
          <a:xfrm>
            <a:off x="3076736" y="1691640"/>
            <a:ext cx="2208056" cy="4800600"/>
          </a:xfrm>
          <a:prstGeom prst="rect">
            <a:avLst/>
          </a:prstGeom>
          <a:effectLst>
            <a:outerShdw blurRad="101600" dist="25400" dir="5400000" algn="bl" rotWithShape="0">
              <a:srgbClr val="22303C">
                <a:alpha val="10000"/>
              </a:srgbClr>
            </a:outerShdw>
          </a:effectLst>
        </p:spPr>
      </p:pic>
      <p:pic>
        <p:nvPicPr>
          <p:cNvPr id="6" name="Image 2" descr="preencoded.png"/>
          <p:cNvPicPr>
            <a:picLocks noChangeAspect="1"/>
          </p:cNvPicPr>
          <p:nvPr/>
        </p:nvPicPr>
        <p:blipFill>
          <a:blip r:embed="rId3"/>
          <a:stretch>
            <a:fillRect/>
          </a:stretch>
        </p:blipFill>
        <p:spPr>
          <a:xfrm>
            <a:off x="5696273" y="1709928"/>
            <a:ext cx="420624" cy="420624"/>
          </a:xfrm>
          <a:prstGeom prst="rect">
            <a:avLst/>
          </a:prstGeom>
        </p:spPr>
      </p:pic>
      <p:sp>
        <p:nvSpPr>
          <p:cNvPr id="7" name="Text 2"/>
          <p:cNvSpPr/>
          <p:nvPr/>
        </p:nvSpPr>
        <p:spPr>
          <a:xfrm>
            <a:off x="6263201" y="1691640"/>
            <a:ext cx="5379855" cy="274320"/>
          </a:xfrm>
          <a:prstGeom prst="rect">
            <a:avLst/>
          </a:prstGeom>
          <a:noFill/>
        </p:spPr>
        <p:txBody>
          <a:bodyPr wrap="square" lIns="0" tIns="0" rIns="0" bIns="0" rtlCol="0" anchor="t"/>
          <a:lstStyle/>
          <a:p>
            <a:pPr marL="0" indent="0">
              <a:buNone/>
            </a:pPr>
            <a:r>
              <a:rPr lang="en-US" sz="1350" b="1" dirty="0">
                <a:solidFill>
                  <a:srgbClr val="22303C"/>
                </a:solidFill>
                <a:latin typeface="Calibri" pitchFamily="34" charset="0"/>
                <a:ea typeface="Calibri" pitchFamily="34" charset="-122"/>
                <a:cs typeface="Calibri" pitchFamily="34" charset="-120"/>
              </a:rPr>
              <a:t>Allergy conflict at the moment of prescribing</a:t>
            </a:r>
            <a:endParaRPr lang="en-US" sz="1350" dirty="0"/>
          </a:p>
        </p:txBody>
      </p:sp>
      <p:sp>
        <p:nvSpPr>
          <p:cNvPr id="8" name="Text 3"/>
          <p:cNvSpPr/>
          <p:nvPr/>
        </p:nvSpPr>
        <p:spPr>
          <a:xfrm>
            <a:off x="6263201" y="1984248"/>
            <a:ext cx="5379855" cy="822960"/>
          </a:xfrm>
          <a:prstGeom prst="rect">
            <a:avLst/>
          </a:prstGeom>
          <a:noFill/>
        </p:spPr>
        <p:txBody>
          <a:bodyPr wrap="square" lIns="0" tIns="0" rIns="0" bIns="0" rtlCol="0" anchor="t"/>
          <a:lstStyle/>
          <a:p>
            <a:pPr marL="0" indent="0">
              <a:lnSpc>
                <a:spcPct val="112000"/>
              </a:lnSpc>
              <a:buNone/>
            </a:pPr>
            <a:r>
              <a:rPr lang="en-US" sz="1150" dirty="0">
                <a:solidFill>
                  <a:srgbClr val="3A4756"/>
                </a:solidFill>
                <a:latin typeface="Calibri" pitchFamily="34" charset="0"/>
                <a:ea typeface="Calibri" pitchFamily="34" charset="-122"/>
                <a:cs typeface="Calibri" pitchFamily="34" charset="-120"/>
              </a:rPr>
              <a:t>Amoxicillin for a patient with a recorded penicillin reaction: the warning appears before you save. Override needs a reason and is flagged to compliance.</a:t>
            </a:r>
            <a:endParaRPr lang="en-US" sz="1150" dirty="0"/>
          </a:p>
        </p:txBody>
      </p:sp>
      <p:pic>
        <p:nvPicPr>
          <p:cNvPr id="9" name="Image 3" descr="preencoded.png"/>
          <p:cNvPicPr>
            <a:picLocks noChangeAspect="1"/>
          </p:cNvPicPr>
          <p:nvPr/>
        </p:nvPicPr>
        <p:blipFill>
          <a:blip r:embed="rId4"/>
          <a:stretch>
            <a:fillRect/>
          </a:stretch>
        </p:blipFill>
        <p:spPr>
          <a:xfrm>
            <a:off x="5696273" y="2916936"/>
            <a:ext cx="420624" cy="420624"/>
          </a:xfrm>
          <a:prstGeom prst="rect">
            <a:avLst/>
          </a:prstGeom>
        </p:spPr>
      </p:pic>
      <p:sp>
        <p:nvSpPr>
          <p:cNvPr id="10" name="Text 4"/>
          <p:cNvSpPr/>
          <p:nvPr/>
        </p:nvSpPr>
        <p:spPr>
          <a:xfrm>
            <a:off x="6263201" y="2898648"/>
            <a:ext cx="5379855" cy="274320"/>
          </a:xfrm>
          <a:prstGeom prst="rect">
            <a:avLst/>
          </a:prstGeom>
          <a:noFill/>
        </p:spPr>
        <p:txBody>
          <a:bodyPr wrap="square" lIns="0" tIns="0" rIns="0" bIns="0" rtlCol="0" anchor="t"/>
          <a:lstStyle/>
          <a:p>
            <a:pPr marL="0" indent="0">
              <a:buNone/>
            </a:pPr>
            <a:r>
              <a:rPr lang="en-US" sz="1350" b="1" dirty="0">
                <a:solidFill>
                  <a:srgbClr val="22303C"/>
                </a:solidFill>
                <a:latin typeface="Calibri" pitchFamily="34" charset="0"/>
                <a:ea typeface="Calibri" pitchFamily="34" charset="-122"/>
                <a:cs typeface="Calibri" pitchFamily="34" charset="-120"/>
              </a:rPr>
              <a:t>Break-glass for the unconscious patient</a:t>
            </a:r>
            <a:endParaRPr lang="en-US" sz="1350" dirty="0"/>
          </a:p>
        </p:txBody>
      </p:sp>
      <p:sp>
        <p:nvSpPr>
          <p:cNvPr id="11" name="Text 5"/>
          <p:cNvSpPr/>
          <p:nvPr/>
        </p:nvSpPr>
        <p:spPr>
          <a:xfrm>
            <a:off x="6263201" y="3191256"/>
            <a:ext cx="5379855" cy="822960"/>
          </a:xfrm>
          <a:prstGeom prst="rect">
            <a:avLst/>
          </a:prstGeom>
          <a:noFill/>
        </p:spPr>
        <p:txBody>
          <a:bodyPr wrap="square" lIns="0" tIns="0" rIns="0" bIns="0" rtlCol="0" anchor="t"/>
          <a:lstStyle/>
          <a:p>
            <a:pPr marL="0" indent="0">
              <a:lnSpc>
                <a:spcPct val="112000"/>
              </a:lnSpc>
              <a:buNone/>
            </a:pPr>
            <a:r>
              <a:rPr lang="en-US" sz="1150" dirty="0">
                <a:solidFill>
                  <a:srgbClr val="3A4756"/>
                </a:solidFill>
                <a:latin typeface="Calibri" pitchFamily="34" charset="0"/>
                <a:ea typeface="Calibri" pitchFamily="34" charset="-122"/>
                <a:cs typeface="Calibri" pitchFamily="34" charset="-120"/>
              </a:rPr>
              <a:t>No QR, no consent: emergency access with a mandatory reason, limited to the emergency profile and critical history. Compliance and the patient are notified immediately.</a:t>
            </a:r>
            <a:endParaRPr lang="en-US" sz="1150" dirty="0"/>
          </a:p>
        </p:txBody>
      </p:sp>
      <p:pic>
        <p:nvPicPr>
          <p:cNvPr id="12" name="Image 4" descr="preencoded.png"/>
          <p:cNvPicPr>
            <a:picLocks noChangeAspect="1"/>
          </p:cNvPicPr>
          <p:nvPr/>
        </p:nvPicPr>
        <p:blipFill>
          <a:blip r:embed="rId5"/>
          <a:stretch>
            <a:fillRect/>
          </a:stretch>
        </p:blipFill>
        <p:spPr>
          <a:xfrm>
            <a:off x="5696273" y="4123944"/>
            <a:ext cx="420624" cy="420624"/>
          </a:xfrm>
          <a:prstGeom prst="rect">
            <a:avLst/>
          </a:prstGeom>
        </p:spPr>
      </p:pic>
      <p:sp>
        <p:nvSpPr>
          <p:cNvPr id="13" name="Text 6"/>
          <p:cNvSpPr/>
          <p:nvPr/>
        </p:nvSpPr>
        <p:spPr>
          <a:xfrm>
            <a:off x="6263201" y="4105656"/>
            <a:ext cx="5379855" cy="274320"/>
          </a:xfrm>
          <a:prstGeom prst="rect">
            <a:avLst/>
          </a:prstGeom>
          <a:noFill/>
        </p:spPr>
        <p:txBody>
          <a:bodyPr wrap="square" lIns="0" tIns="0" rIns="0" bIns="0" rtlCol="0" anchor="t"/>
          <a:lstStyle/>
          <a:p>
            <a:pPr marL="0" indent="0">
              <a:buNone/>
            </a:pPr>
            <a:r>
              <a:rPr lang="en-US" sz="1350" b="1" dirty="0">
                <a:solidFill>
                  <a:srgbClr val="22303C"/>
                </a:solidFill>
                <a:latin typeface="Calibri" pitchFamily="34" charset="0"/>
                <a:ea typeface="Calibri" pitchFamily="34" charset="-122"/>
                <a:cs typeface="Calibri" pitchFamily="34" charset="-120"/>
              </a:rPr>
              <a:t>Every view, write and scan is audited</a:t>
            </a:r>
            <a:endParaRPr lang="en-US" sz="1350" dirty="0"/>
          </a:p>
        </p:txBody>
      </p:sp>
      <p:sp>
        <p:nvSpPr>
          <p:cNvPr id="14" name="Text 7"/>
          <p:cNvSpPr/>
          <p:nvPr/>
        </p:nvSpPr>
        <p:spPr>
          <a:xfrm>
            <a:off x="6263201" y="4398264"/>
            <a:ext cx="5379855" cy="822960"/>
          </a:xfrm>
          <a:prstGeom prst="rect">
            <a:avLst/>
          </a:prstGeom>
          <a:noFill/>
        </p:spPr>
        <p:txBody>
          <a:bodyPr wrap="square" lIns="0" tIns="0" rIns="0" bIns="0" rtlCol="0" anchor="t"/>
          <a:lstStyle/>
          <a:p>
            <a:pPr marL="0" indent="0">
              <a:lnSpc>
                <a:spcPct val="112000"/>
              </a:lnSpc>
              <a:buNone/>
            </a:pPr>
            <a:r>
              <a:rPr lang="en-US" sz="1150" dirty="0">
                <a:solidFill>
                  <a:srgbClr val="3A4756"/>
                </a:solidFill>
                <a:latin typeface="Calibri" pitchFamily="34" charset="0"/>
                <a:ea typeface="Calibri" pitchFamily="34" charset="-122"/>
                <a:cs typeface="Calibri" pitchFamily="34" charset="-120"/>
              </a:rPr>
              <a:t>Append-only and hash-chained. The session pill on the chart says “audited” because it is.</a:t>
            </a:r>
            <a:endParaRPr lang="en-US" sz="1150" dirty="0"/>
          </a:p>
        </p:txBody>
      </p:sp>
      <p:pic>
        <p:nvPicPr>
          <p:cNvPr id="15" name="Image 5" descr="preencoded.png"/>
          <p:cNvPicPr>
            <a:picLocks noChangeAspect="1"/>
          </p:cNvPicPr>
          <p:nvPr/>
        </p:nvPicPr>
        <p:blipFill>
          <a:blip r:embed="rId6"/>
          <a:stretch>
            <a:fillRect/>
          </a:stretch>
        </p:blipFill>
        <p:spPr>
          <a:xfrm>
            <a:off x="5696273" y="5330952"/>
            <a:ext cx="420624" cy="420624"/>
          </a:xfrm>
          <a:prstGeom prst="rect">
            <a:avLst/>
          </a:prstGeom>
        </p:spPr>
      </p:pic>
      <p:sp>
        <p:nvSpPr>
          <p:cNvPr id="16" name="Text 8"/>
          <p:cNvSpPr/>
          <p:nvPr/>
        </p:nvSpPr>
        <p:spPr>
          <a:xfrm>
            <a:off x="6263201" y="5312664"/>
            <a:ext cx="5379855" cy="274320"/>
          </a:xfrm>
          <a:prstGeom prst="rect">
            <a:avLst/>
          </a:prstGeom>
          <a:noFill/>
        </p:spPr>
        <p:txBody>
          <a:bodyPr wrap="square" lIns="0" tIns="0" rIns="0" bIns="0" rtlCol="0" anchor="t"/>
          <a:lstStyle/>
          <a:p>
            <a:pPr marL="0" indent="0">
              <a:buNone/>
            </a:pPr>
            <a:r>
              <a:rPr lang="en-US" sz="1350" b="1" dirty="0">
                <a:solidFill>
                  <a:srgbClr val="22303C"/>
                </a:solidFill>
                <a:latin typeface="Calibri" pitchFamily="34" charset="0"/>
                <a:ea typeface="Calibri" pitchFamily="34" charset="-122"/>
                <a:cs typeface="Calibri" pitchFamily="34" charset="-120"/>
              </a:rPr>
              <a:t>The AI never writes to the record</a:t>
            </a:r>
            <a:endParaRPr lang="en-US" sz="1350" dirty="0"/>
          </a:p>
        </p:txBody>
      </p:sp>
      <p:sp>
        <p:nvSpPr>
          <p:cNvPr id="17" name="Text 9"/>
          <p:cNvSpPr/>
          <p:nvPr/>
        </p:nvSpPr>
        <p:spPr>
          <a:xfrm>
            <a:off x="6263201" y="5605272"/>
            <a:ext cx="5379855" cy="822960"/>
          </a:xfrm>
          <a:prstGeom prst="rect">
            <a:avLst/>
          </a:prstGeom>
          <a:noFill/>
        </p:spPr>
        <p:txBody>
          <a:bodyPr wrap="square" lIns="0" tIns="0" rIns="0" bIns="0" rtlCol="0" anchor="t"/>
          <a:lstStyle/>
          <a:p>
            <a:pPr marL="0" indent="0">
              <a:lnSpc>
                <a:spcPct val="112000"/>
              </a:lnSpc>
              <a:buNone/>
            </a:pPr>
            <a:r>
              <a:rPr lang="en-US" sz="1150" dirty="0">
                <a:solidFill>
                  <a:srgbClr val="3A4756"/>
                </a:solidFill>
                <a:latin typeface="Calibri" pitchFamily="34" charset="0"/>
                <a:ea typeface="Calibri" pitchFamily="34" charset="-122"/>
                <a:cs typeface="Calibri" pitchFamily="34" charset="-120"/>
              </a:rPr>
              <a:t>It reads. You decide. Nothing enters the chart without the clinician’s signature.</a:t>
            </a:r>
            <a:endParaRPr lang="en-US" sz="1150" dirty="0"/>
          </a:p>
        </p:txBody>
      </p:sp>
      <p:sp>
        <p:nvSpPr>
          <p:cNvPr id="18" name="Text 10"/>
          <p:cNvSpPr/>
          <p:nvPr/>
        </p:nvSpPr>
        <p:spPr>
          <a:xfrm>
            <a:off x="11277295" y="6473952"/>
            <a:ext cx="365760" cy="228600"/>
          </a:xfrm>
          <a:prstGeom prst="rect">
            <a:avLst/>
          </a:prstGeom>
          <a:noFill/>
        </p:spPr>
        <p:txBody>
          <a:bodyPr wrap="square" lIns="0" tIns="0" rIns="0" bIns="0" rtlCol="0" anchor="t"/>
          <a:lstStyle/>
          <a:p>
            <a:pPr marL="0" indent="0" algn="r">
              <a:buNone/>
            </a:pPr>
            <a:r>
              <a:rPr lang="en-US" sz="900" dirty="0">
                <a:solidFill>
                  <a:srgbClr val="7D868E"/>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AF7F1"/>
        </a:solidFill>
        <a:effectLst/>
      </p:bgPr>
    </p:bg>
    <p:spTree>
      <p:nvGrpSpPr>
        <p:cNvPr id="1" name=""/>
        <p:cNvGrpSpPr/>
        <p:nvPr/>
      </p:nvGrpSpPr>
      <p:grpSpPr>
        <a:xfrm>
          <a:off x="0" y="0"/>
          <a:ext cx="0" cy="0"/>
          <a:chOff x="0" y="0"/>
          <a:chExt cx="0" cy="0"/>
        </a:xfrm>
      </p:grpSpPr>
      <p:sp>
        <p:nvSpPr>
          <p:cNvPr id="2" name="Text 0"/>
          <p:cNvSpPr/>
          <p:nvPr/>
        </p:nvSpPr>
        <p:spPr>
          <a:xfrm>
            <a:off x="548640" y="502920"/>
            <a:ext cx="5486400" cy="274320"/>
          </a:xfrm>
          <a:prstGeom prst="rect">
            <a:avLst/>
          </a:prstGeom>
          <a:noFill/>
        </p:spPr>
        <p:txBody>
          <a:bodyPr wrap="square" lIns="0" tIns="0" rIns="0" bIns="0" rtlCol="0" anchor="t"/>
          <a:lstStyle/>
          <a:p>
            <a:pPr marL="0" indent="0">
              <a:buNone/>
            </a:pPr>
            <a:r>
              <a:rPr lang="en-US" sz="1050" b="1" kern="0" spc="300" dirty="0">
                <a:solidFill>
                  <a:srgbClr val="0072A8"/>
                </a:solidFill>
                <a:latin typeface="Calibri" pitchFamily="34" charset="0"/>
                <a:ea typeface="Calibri" pitchFamily="34" charset="-122"/>
                <a:cs typeface="Calibri" pitchFamily="34" charset="-120"/>
              </a:rPr>
              <a:t>THE PATIENT’S SIDE</a:t>
            </a:r>
            <a:endParaRPr lang="en-US" sz="1050" dirty="0"/>
          </a:p>
        </p:txBody>
      </p:sp>
      <p:sp>
        <p:nvSpPr>
          <p:cNvPr id="3" name="Text 1"/>
          <p:cNvSpPr/>
          <p:nvPr/>
        </p:nvSpPr>
        <p:spPr>
          <a:xfrm>
            <a:off x="548640" y="822960"/>
            <a:ext cx="11094415" cy="731520"/>
          </a:xfrm>
          <a:prstGeom prst="rect">
            <a:avLst/>
          </a:prstGeom>
          <a:noFill/>
        </p:spPr>
        <p:txBody>
          <a:bodyPr wrap="square" lIns="0" tIns="0" rIns="0" bIns="0" rtlCol="0" anchor="t"/>
          <a:lstStyle/>
          <a:p>
            <a:pPr marL="0" indent="0">
              <a:buNone/>
            </a:pPr>
            <a:r>
              <a:rPr lang="en-US" sz="3000" dirty="0">
                <a:solidFill>
                  <a:srgbClr val="22303C"/>
                </a:solidFill>
                <a:latin typeface="Cambria" pitchFamily="34" charset="0"/>
                <a:ea typeface="Cambria" pitchFamily="34" charset="-122"/>
                <a:cs typeface="Cambria" pitchFamily="34" charset="-120"/>
              </a:rPr>
              <a:t>The patient decides who sees what, and for how long.</a:t>
            </a:r>
            <a:endParaRPr lang="en-US" sz="3000" dirty="0"/>
          </a:p>
        </p:txBody>
      </p:sp>
      <p:pic>
        <p:nvPicPr>
          <p:cNvPr id="4" name="Image 0" descr="preencoded.png"/>
          <p:cNvPicPr>
            <a:picLocks noChangeAspect="1"/>
          </p:cNvPicPr>
          <p:nvPr/>
        </p:nvPicPr>
        <p:blipFill>
          <a:blip r:embed="rId1"/>
          <a:stretch>
            <a:fillRect/>
          </a:stretch>
        </p:blipFill>
        <p:spPr>
          <a:xfrm>
            <a:off x="548640" y="1691640"/>
            <a:ext cx="2208056" cy="4800600"/>
          </a:xfrm>
          <a:prstGeom prst="rect">
            <a:avLst/>
          </a:prstGeom>
          <a:effectLst>
            <a:outerShdw blurRad="101600" dist="25400" dir="5400000" algn="bl" rotWithShape="0">
              <a:srgbClr val="22303C">
                <a:alpha val="10000"/>
              </a:srgbClr>
            </a:outerShdw>
          </a:effectLst>
        </p:spPr>
      </p:pic>
      <p:pic>
        <p:nvPicPr>
          <p:cNvPr id="5" name="Image 1" descr="preencoded.png"/>
          <p:cNvPicPr>
            <a:picLocks noChangeAspect="1"/>
          </p:cNvPicPr>
          <p:nvPr/>
        </p:nvPicPr>
        <p:blipFill>
          <a:blip r:embed="rId2"/>
          <a:stretch>
            <a:fillRect/>
          </a:stretch>
        </p:blipFill>
        <p:spPr>
          <a:xfrm>
            <a:off x="3076736" y="1691640"/>
            <a:ext cx="2208056" cy="4800600"/>
          </a:xfrm>
          <a:prstGeom prst="rect">
            <a:avLst/>
          </a:prstGeom>
          <a:effectLst>
            <a:outerShdw blurRad="101600" dist="25400" dir="5400000" algn="bl" rotWithShape="0">
              <a:srgbClr val="22303C">
                <a:alpha val="10000"/>
              </a:srgbClr>
            </a:outerShdw>
          </a:effectLst>
        </p:spPr>
      </p:pic>
      <p:pic>
        <p:nvPicPr>
          <p:cNvPr id="6" name="Image 2" descr="preencoded.png"/>
          <p:cNvPicPr>
            <a:picLocks noChangeAspect="1"/>
          </p:cNvPicPr>
          <p:nvPr/>
        </p:nvPicPr>
        <p:blipFill>
          <a:blip r:embed="rId3"/>
          <a:stretch>
            <a:fillRect/>
          </a:stretch>
        </p:blipFill>
        <p:spPr>
          <a:xfrm>
            <a:off x="5696273" y="1709928"/>
            <a:ext cx="420624" cy="420624"/>
          </a:xfrm>
          <a:prstGeom prst="rect">
            <a:avLst/>
          </a:prstGeom>
        </p:spPr>
      </p:pic>
      <p:sp>
        <p:nvSpPr>
          <p:cNvPr id="7" name="Text 2"/>
          <p:cNvSpPr/>
          <p:nvPr/>
        </p:nvSpPr>
        <p:spPr>
          <a:xfrm>
            <a:off x="6263201" y="1691640"/>
            <a:ext cx="5379855" cy="274320"/>
          </a:xfrm>
          <a:prstGeom prst="rect">
            <a:avLst/>
          </a:prstGeom>
          <a:noFill/>
        </p:spPr>
        <p:txBody>
          <a:bodyPr wrap="square" lIns="0" tIns="0" rIns="0" bIns="0" rtlCol="0" anchor="t"/>
          <a:lstStyle/>
          <a:p>
            <a:pPr marL="0" indent="0">
              <a:buNone/>
            </a:pPr>
            <a:r>
              <a:rPr lang="en-US" sz="1350" b="1" dirty="0">
                <a:solidFill>
                  <a:srgbClr val="22303C"/>
                </a:solidFill>
                <a:latin typeface="Calibri" pitchFamily="34" charset="0"/>
                <a:ea typeface="Calibri" pitchFamily="34" charset="-122"/>
                <a:cs typeface="Calibri" pitchFamily="34" charset="-120"/>
              </a:rPr>
              <a:t>Categories, not all-or-nothing</a:t>
            </a:r>
            <a:endParaRPr lang="en-US" sz="1350" dirty="0"/>
          </a:p>
        </p:txBody>
      </p:sp>
      <p:sp>
        <p:nvSpPr>
          <p:cNvPr id="8" name="Text 3"/>
          <p:cNvSpPr/>
          <p:nvPr/>
        </p:nvSpPr>
        <p:spPr>
          <a:xfrm>
            <a:off x="6263201" y="1984248"/>
            <a:ext cx="5379855" cy="822960"/>
          </a:xfrm>
          <a:prstGeom prst="rect">
            <a:avLst/>
          </a:prstGeom>
          <a:noFill/>
        </p:spPr>
        <p:txBody>
          <a:bodyPr wrap="square" lIns="0" tIns="0" rIns="0" bIns="0" rtlCol="0" anchor="t"/>
          <a:lstStyle/>
          <a:p>
            <a:pPr marL="0" indent="0">
              <a:lnSpc>
                <a:spcPct val="112000"/>
              </a:lnSpc>
              <a:buNone/>
            </a:pPr>
            <a:r>
              <a:rPr lang="en-US" sz="1150" dirty="0">
                <a:solidFill>
                  <a:srgbClr val="3A4756"/>
                </a:solidFill>
                <a:latin typeface="Calibri" pitchFamily="34" charset="0"/>
                <a:ea typeface="Calibri" pitchFamily="34" charset="-122"/>
                <a:cs typeface="Calibri" pitchFamily="34" charset="-120"/>
              </a:rPr>
              <a:t>General history, reports, medications, each a switch. Mental health is off by default.</a:t>
            </a:r>
            <a:endParaRPr lang="en-US" sz="1150" dirty="0"/>
          </a:p>
        </p:txBody>
      </p:sp>
      <p:pic>
        <p:nvPicPr>
          <p:cNvPr id="9" name="Image 3" descr="preencoded.png"/>
          <p:cNvPicPr>
            <a:picLocks noChangeAspect="1"/>
          </p:cNvPicPr>
          <p:nvPr/>
        </p:nvPicPr>
        <p:blipFill>
          <a:blip r:embed="rId4"/>
          <a:stretch>
            <a:fillRect/>
          </a:stretch>
        </p:blipFill>
        <p:spPr>
          <a:xfrm>
            <a:off x="5696273" y="2916936"/>
            <a:ext cx="420624" cy="420624"/>
          </a:xfrm>
          <a:prstGeom prst="rect">
            <a:avLst/>
          </a:prstGeom>
        </p:spPr>
      </p:pic>
      <p:sp>
        <p:nvSpPr>
          <p:cNvPr id="10" name="Text 4"/>
          <p:cNvSpPr/>
          <p:nvPr/>
        </p:nvSpPr>
        <p:spPr>
          <a:xfrm>
            <a:off x="6263201" y="2898648"/>
            <a:ext cx="5379855" cy="274320"/>
          </a:xfrm>
          <a:prstGeom prst="rect">
            <a:avLst/>
          </a:prstGeom>
          <a:noFill/>
        </p:spPr>
        <p:txBody>
          <a:bodyPr wrap="square" lIns="0" tIns="0" rIns="0" bIns="0" rtlCol="0" anchor="t"/>
          <a:lstStyle/>
          <a:p>
            <a:pPr marL="0" indent="0">
              <a:buNone/>
            </a:pPr>
            <a:r>
              <a:rPr lang="en-US" sz="1350" b="1" dirty="0">
                <a:solidFill>
                  <a:srgbClr val="22303C"/>
                </a:solidFill>
                <a:latin typeface="Calibri" pitchFamily="34" charset="0"/>
                <a:ea typeface="Calibri" pitchFamily="34" charset="-122"/>
                <a:cs typeface="Calibri" pitchFamily="34" charset="-120"/>
              </a:rPr>
              <a:t>Time-bound by default</a:t>
            </a:r>
            <a:endParaRPr lang="en-US" sz="1350" dirty="0"/>
          </a:p>
        </p:txBody>
      </p:sp>
      <p:sp>
        <p:nvSpPr>
          <p:cNvPr id="11" name="Text 5"/>
          <p:cNvSpPr/>
          <p:nvPr/>
        </p:nvSpPr>
        <p:spPr>
          <a:xfrm>
            <a:off x="6263201" y="3191256"/>
            <a:ext cx="5379855" cy="822960"/>
          </a:xfrm>
          <a:prstGeom prst="rect">
            <a:avLst/>
          </a:prstGeom>
          <a:noFill/>
        </p:spPr>
        <p:txBody>
          <a:bodyPr wrap="square" lIns="0" tIns="0" rIns="0" bIns="0" rtlCol="0" anchor="t"/>
          <a:lstStyle/>
          <a:p>
            <a:pPr marL="0" indent="0">
              <a:lnSpc>
                <a:spcPct val="112000"/>
              </a:lnSpc>
              <a:buNone/>
            </a:pPr>
            <a:r>
              <a:rPr lang="en-US" sz="1150" dirty="0">
                <a:solidFill>
                  <a:srgbClr val="3A4756"/>
                </a:solidFill>
                <a:latin typeface="Calibri" pitchFamily="34" charset="0"/>
                <a:ea typeface="Calibri" pitchFamily="34" charset="-122"/>
                <a:cs typeface="Calibri" pitchFamily="34" charset="-120"/>
              </a:rPr>
              <a:t>24 hours, 30 days or 90 days. Expiry is automatic. Revocation takes effect on the next read.</a:t>
            </a:r>
            <a:endParaRPr lang="en-US" sz="1150" dirty="0"/>
          </a:p>
        </p:txBody>
      </p:sp>
      <p:pic>
        <p:nvPicPr>
          <p:cNvPr id="12" name="Image 4" descr="preencoded.png"/>
          <p:cNvPicPr>
            <a:picLocks noChangeAspect="1"/>
          </p:cNvPicPr>
          <p:nvPr/>
        </p:nvPicPr>
        <p:blipFill>
          <a:blip r:embed="rId5"/>
          <a:stretch>
            <a:fillRect/>
          </a:stretch>
        </p:blipFill>
        <p:spPr>
          <a:xfrm>
            <a:off x="5696273" y="4123944"/>
            <a:ext cx="420624" cy="420624"/>
          </a:xfrm>
          <a:prstGeom prst="rect">
            <a:avLst/>
          </a:prstGeom>
        </p:spPr>
      </p:pic>
      <p:sp>
        <p:nvSpPr>
          <p:cNvPr id="13" name="Text 6"/>
          <p:cNvSpPr/>
          <p:nvPr/>
        </p:nvSpPr>
        <p:spPr>
          <a:xfrm>
            <a:off x="6263201" y="4105656"/>
            <a:ext cx="5379855" cy="274320"/>
          </a:xfrm>
          <a:prstGeom prst="rect">
            <a:avLst/>
          </a:prstGeom>
          <a:noFill/>
        </p:spPr>
        <p:txBody>
          <a:bodyPr wrap="square" lIns="0" tIns="0" rIns="0" bIns="0" rtlCol="0" anchor="t"/>
          <a:lstStyle/>
          <a:p>
            <a:pPr marL="0" indent="0">
              <a:buNone/>
            </a:pPr>
            <a:r>
              <a:rPr lang="en-US" sz="1350" b="1" dirty="0">
                <a:solidFill>
                  <a:srgbClr val="22303C"/>
                </a:solidFill>
                <a:latin typeface="Calibri" pitchFamily="34" charset="0"/>
                <a:ea typeface="Calibri" pitchFamily="34" charset="-122"/>
                <a:cs typeface="Calibri" pitchFamily="34" charset="-120"/>
              </a:rPr>
              <a:t>Verified doctors get in instantly</a:t>
            </a:r>
            <a:endParaRPr lang="en-US" sz="1350" dirty="0"/>
          </a:p>
        </p:txBody>
      </p:sp>
      <p:sp>
        <p:nvSpPr>
          <p:cNvPr id="14" name="Text 7"/>
          <p:cNvSpPr/>
          <p:nvPr/>
        </p:nvSpPr>
        <p:spPr>
          <a:xfrm>
            <a:off x="6263201" y="4398264"/>
            <a:ext cx="5379855" cy="822960"/>
          </a:xfrm>
          <a:prstGeom prst="rect">
            <a:avLst/>
          </a:prstGeom>
          <a:noFill/>
        </p:spPr>
        <p:txBody>
          <a:bodyPr wrap="square" lIns="0" tIns="0" rIns="0" bIns="0" rtlCol="0" anchor="t"/>
          <a:lstStyle/>
          <a:p>
            <a:pPr marL="0" indent="0">
              <a:lnSpc>
                <a:spcPct val="112000"/>
              </a:lnSpc>
              <a:buNone/>
            </a:pPr>
            <a:r>
              <a:rPr lang="en-US" sz="1150" dirty="0">
                <a:solidFill>
                  <a:srgbClr val="3A4756"/>
                </a:solidFill>
                <a:latin typeface="Calibri" pitchFamily="34" charset="0"/>
                <a:ea typeface="Calibri" pitchFamily="34" charset="-122"/>
                <a:cs typeface="Calibri" pitchFamily="34" charset="-120"/>
              </a:rPr>
              <a:t>Auto-approve is on by default: the patient is notified and can revoke with one tap. The hospital keeps the records it created; consent governs outside doctors.</a:t>
            </a:r>
            <a:endParaRPr lang="en-US" sz="1150" dirty="0"/>
          </a:p>
        </p:txBody>
      </p:sp>
      <p:pic>
        <p:nvPicPr>
          <p:cNvPr id="15" name="Image 5" descr="preencoded.png"/>
          <p:cNvPicPr>
            <a:picLocks noChangeAspect="1"/>
          </p:cNvPicPr>
          <p:nvPr/>
        </p:nvPicPr>
        <p:blipFill>
          <a:blip r:embed="rId6"/>
          <a:stretch>
            <a:fillRect/>
          </a:stretch>
        </p:blipFill>
        <p:spPr>
          <a:xfrm>
            <a:off x="5696273" y="5330952"/>
            <a:ext cx="420624" cy="420624"/>
          </a:xfrm>
          <a:prstGeom prst="rect">
            <a:avLst/>
          </a:prstGeom>
        </p:spPr>
      </p:pic>
      <p:sp>
        <p:nvSpPr>
          <p:cNvPr id="16" name="Text 8"/>
          <p:cNvSpPr/>
          <p:nvPr/>
        </p:nvSpPr>
        <p:spPr>
          <a:xfrm>
            <a:off x="6263201" y="5312664"/>
            <a:ext cx="5379855" cy="274320"/>
          </a:xfrm>
          <a:prstGeom prst="rect">
            <a:avLst/>
          </a:prstGeom>
          <a:noFill/>
        </p:spPr>
        <p:txBody>
          <a:bodyPr wrap="square" lIns="0" tIns="0" rIns="0" bIns="0" rtlCol="0" anchor="t"/>
          <a:lstStyle/>
          <a:p>
            <a:pPr marL="0" indent="0">
              <a:buNone/>
            </a:pPr>
            <a:r>
              <a:rPr lang="en-US" sz="1350" b="1" dirty="0">
                <a:solidFill>
                  <a:srgbClr val="22303C"/>
                </a:solidFill>
                <a:latin typeface="Calibri" pitchFamily="34" charset="0"/>
                <a:ea typeface="Calibri" pitchFamily="34" charset="-122"/>
                <a:cs typeface="Calibri" pitchFamily="34" charset="-120"/>
              </a:rPr>
              <a:t>DPDPA 2023 rights, inside the app</a:t>
            </a:r>
            <a:endParaRPr lang="en-US" sz="1350" dirty="0"/>
          </a:p>
        </p:txBody>
      </p:sp>
      <p:sp>
        <p:nvSpPr>
          <p:cNvPr id="17" name="Text 9"/>
          <p:cNvSpPr/>
          <p:nvPr/>
        </p:nvSpPr>
        <p:spPr>
          <a:xfrm>
            <a:off x="6263201" y="5605272"/>
            <a:ext cx="5379855" cy="822960"/>
          </a:xfrm>
          <a:prstGeom prst="rect">
            <a:avLst/>
          </a:prstGeom>
          <a:noFill/>
        </p:spPr>
        <p:txBody>
          <a:bodyPr wrap="square" lIns="0" tIns="0" rIns="0" bIns="0" rtlCol="0" anchor="t"/>
          <a:lstStyle/>
          <a:p>
            <a:pPr marL="0" indent="0">
              <a:lnSpc>
                <a:spcPct val="112000"/>
              </a:lnSpc>
              <a:buNone/>
            </a:pPr>
            <a:r>
              <a:rPr lang="en-US" sz="1150" dirty="0">
                <a:solidFill>
                  <a:srgbClr val="3A4756"/>
                </a:solidFill>
                <a:latin typeface="Calibri" pitchFamily="34" charset="0"/>
                <a:ea typeface="Calibri" pitchFamily="34" charset="-122"/>
                <a:cs typeface="Calibri" pitchFamily="34" charset="-120"/>
              </a:rPr>
              <a:t>Download my data. Request correction or erasure. Nominate someone to act for me. Contact the grievance officer.</a:t>
            </a:r>
            <a:endParaRPr lang="en-US" sz="1150" dirty="0"/>
          </a:p>
        </p:txBody>
      </p:sp>
      <p:sp>
        <p:nvSpPr>
          <p:cNvPr id="18" name="Text 10"/>
          <p:cNvSpPr/>
          <p:nvPr/>
        </p:nvSpPr>
        <p:spPr>
          <a:xfrm>
            <a:off x="11277295" y="6473952"/>
            <a:ext cx="365760" cy="228600"/>
          </a:xfrm>
          <a:prstGeom prst="rect">
            <a:avLst/>
          </a:prstGeom>
          <a:noFill/>
        </p:spPr>
        <p:txBody>
          <a:bodyPr wrap="square" lIns="0" tIns="0" rIns="0" bIns="0" rtlCol="0" anchor="t"/>
          <a:lstStyle/>
          <a:p>
            <a:pPr marL="0" indent="0" algn="r">
              <a:buNone/>
            </a:pPr>
            <a:r>
              <a:rPr lang="en-US" sz="900" dirty="0">
                <a:solidFill>
                  <a:srgbClr val="7D868E"/>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AF7F1"/>
        </a:solidFill>
        <a:effectLst/>
      </p:bgPr>
    </p:bg>
    <p:spTree>
      <p:nvGrpSpPr>
        <p:cNvPr id="1" name=""/>
        <p:cNvGrpSpPr/>
        <p:nvPr/>
      </p:nvGrpSpPr>
      <p:grpSpPr>
        <a:xfrm>
          <a:off x="0" y="0"/>
          <a:ext cx="0" cy="0"/>
          <a:chOff x="0" y="0"/>
          <a:chExt cx="0" cy="0"/>
        </a:xfrm>
      </p:grpSpPr>
      <p:sp>
        <p:nvSpPr>
          <p:cNvPr id="2" name="Text 0"/>
          <p:cNvSpPr/>
          <p:nvPr/>
        </p:nvSpPr>
        <p:spPr>
          <a:xfrm>
            <a:off x="548640" y="502920"/>
            <a:ext cx="5486400" cy="274320"/>
          </a:xfrm>
          <a:prstGeom prst="rect">
            <a:avLst/>
          </a:prstGeom>
          <a:noFill/>
        </p:spPr>
        <p:txBody>
          <a:bodyPr wrap="square" lIns="0" tIns="0" rIns="0" bIns="0" rtlCol="0" anchor="t"/>
          <a:lstStyle/>
          <a:p>
            <a:pPr marL="0" indent="0">
              <a:buNone/>
            </a:pPr>
            <a:r>
              <a:rPr lang="en-US" sz="1050" b="1" kern="0" spc="300" dirty="0">
                <a:solidFill>
                  <a:srgbClr val="0072A8"/>
                </a:solidFill>
                <a:latin typeface="Calibri" pitchFamily="34" charset="0"/>
                <a:ea typeface="Calibri" pitchFamily="34" charset="-122"/>
                <a:cs typeface="Calibri" pitchFamily="34" charset="-120"/>
              </a:rPr>
              <a:t>FOR THE HOSPITAL</a:t>
            </a:r>
            <a:endParaRPr lang="en-US" sz="1050" dirty="0"/>
          </a:p>
        </p:txBody>
      </p:sp>
      <p:sp>
        <p:nvSpPr>
          <p:cNvPr id="3" name="Text 1"/>
          <p:cNvSpPr/>
          <p:nvPr/>
        </p:nvSpPr>
        <p:spPr>
          <a:xfrm>
            <a:off x="548640" y="822960"/>
            <a:ext cx="10058400" cy="731520"/>
          </a:xfrm>
          <a:prstGeom prst="rect">
            <a:avLst/>
          </a:prstGeom>
          <a:noFill/>
        </p:spPr>
        <p:txBody>
          <a:bodyPr wrap="square" lIns="0" tIns="0" rIns="0" bIns="0" rtlCol="0" anchor="t"/>
          <a:lstStyle/>
          <a:p>
            <a:pPr marL="0" indent="0">
              <a:buNone/>
            </a:pPr>
            <a:r>
              <a:rPr lang="en-US" sz="2800" dirty="0">
                <a:solidFill>
                  <a:srgbClr val="22303C"/>
                </a:solidFill>
                <a:latin typeface="Cambria" pitchFamily="34" charset="0"/>
                <a:ea typeface="Cambria" pitchFamily="34" charset="-122"/>
                <a:cs typeface="Cambria" pitchFamily="34" charset="-120"/>
              </a:rPr>
              <a:t>Your systems stay. Finalised reports flow. Nothing is lost silently.</a:t>
            </a:r>
            <a:endParaRPr lang="en-US" sz="2800" dirty="0"/>
          </a:p>
        </p:txBody>
      </p:sp>
      <p:pic>
        <p:nvPicPr>
          <p:cNvPr id="4" name="Image 0" descr="preencoded.png"/>
          <p:cNvPicPr>
            <a:picLocks noChangeAspect="1"/>
          </p:cNvPicPr>
          <p:nvPr/>
        </p:nvPicPr>
        <p:blipFill>
          <a:blip r:embed="rId1"/>
          <a:stretch>
            <a:fillRect/>
          </a:stretch>
        </p:blipFill>
        <p:spPr>
          <a:xfrm>
            <a:off x="548640" y="1691640"/>
            <a:ext cx="2208056" cy="4800600"/>
          </a:xfrm>
          <a:prstGeom prst="rect">
            <a:avLst/>
          </a:prstGeom>
          <a:effectLst>
            <a:outerShdw blurRad="101600" dist="25400" dir="5400000" algn="bl" rotWithShape="0">
              <a:srgbClr val="22303C">
                <a:alpha val="10000"/>
              </a:srgbClr>
            </a:outerShdw>
          </a:effectLst>
        </p:spPr>
      </p:pic>
      <p:pic>
        <p:nvPicPr>
          <p:cNvPr id="5" name="Image 1" descr="preencoded.png"/>
          <p:cNvPicPr>
            <a:picLocks noChangeAspect="1"/>
          </p:cNvPicPr>
          <p:nvPr/>
        </p:nvPicPr>
        <p:blipFill>
          <a:blip r:embed="rId2"/>
          <a:stretch>
            <a:fillRect/>
          </a:stretch>
        </p:blipFill>
        <p:spPr>
          <a:xfrm>
            <a:off x="3076736" y="1691640"/>
            <a:ext cx="2208056" cy="4800600"/>
          </a:xfrm>
          <a:prstGeom prst="rect">
            <a:avLst/>
          </a:prstGeom>
          <a:effectLst>
            <a:outerShdw blurRad="101600" dist="25400" dir="5400000" algn="bl" rotWithShape="0">
              <a:srgbClr val="22303C">
                <a:alpha val="10000"/>
              </a:srgbClr>
            </a:outerShdw>
          </a:effectLst>
        </p:spPr>
      </p:pic>
      <p:pic>
        <p:nvPicPr>
          <p:cNvPr id="6" name="Image 2" descr="preencoded.png"/>
          <p:cNvPicPr>
            <a:picLocks noChangeAspect="1"/>
          </p:cNvPicPr>
          <p:nvPr/>
        </p:nvPicPr>
        <p:blipFill>
          <a:blip r:embed="rId3"/>
          <a:stretch>
            <a:fillRect/>
          </a:stretch>
        </p:blipFill>
        <p:spPr>
          <a:xfrm>
            <a:off x="5696273" y="1709928"/>
            <a:ext cx="420624" cy="420624"/>
          </a:xfrm>
          <a:prstGeom prst="rect">
            <a:avLst/>
          </a:prstGeom>
        </p:spPr>
      </p:pic>
      <p:sp>
        <p:nvSpPr>
          <p:cNvPr id="7" name="Text 2"/>
          <p:cNvSpPr/>
          <p:nvPr/>
        </p:nvSpPr>
        <p:spPr>
          <a:xfrm>
            <a:off x="6263201" y="1691640"/>
            <a:ext cx="5379855" cy="274320"/>
          </a:xfrm>
          <a:prstGeom prst="rect">
            <a:avLst/>
          </a:prstGeom>
          <a:noFill/>
        </p:spPr>
        <p:txBody>
          <a:bodyPr wrap="square" lIns="0" tIns="0" rIns="0" bIns="0" rtlCol="0" anchor="t"/>
          <a:lstStyle/>
          <a:p>
            <a:pPr marL="0" indent="0">
              <a:buNone/>
            </a:pPr>
            <a:r>
              <a:rPr lang="en-US" sz="1350" b="1" dirty="0">
                <a:solidFill>
                  <a:srgbClr val="22303C"/>
                </a:solidFill>
                <a:latin typeface="Calibri" pitchFamily="34" charset="0"/>
                <a:ea typeface="Calibri" pitchFamily="34" charset="-122"/>
                <a:cs typeface="Calibri" pitchFamily="34" charset="-120"/>
              </a:rPr>
              <a:t>No replacement</a:t>
            </a:r>
            <a:endParaRPr lang="en-US" sz="1350" dirty="0"/>
          </a:p>
        </p:txBody>
      </p:sp>
      <p:sp>
        <p:nvSpPr>
          <p:cNvPr id="8" name="Text 3"/>
          <p:cNvSpPr/>
          <p:nvPr/>
        </p:nvSpPr>
        <p:spPr>
          <a:xfrm>
            <a:off x="6263201" y="1984248"/>
            <a:ext cx="5379855" cy="822960"/>
          </a:xfrm>
          <a:prstGeom prst="rect">
            <a:avLst/>
          </a:prstGeom>
          <a:noFill/>
        </p:spPr>
        <p:txBody>
          <a:bodyPr wrap="square" lIns="0" tIns="0" rIns="0" bIns="0" rtlCol="0" anchor="t"/>
          <a:lstStyle/>
          <a:p>
            <a:pPr marL="0" indent="0">
              <a:lnSpc>
                <a:spcPct val="112000"/>
              </a:lnSpc>
              <a:buNone/>
            </a:pPr>
            <a:r>
              <a:rPr lang="en-US" sz="1150" dirty="0">
                <a:solidFill>
                  <a:srgbClr val="3A4756"/>
                </a:solidFill>
                <a:latin typeface="Calibri" pitchFamily="34" charset="0"/>
                <a:ea typeface="Calibri" pitchFamily="34" charset="-122"/>
                <a:cs typeface="Calibri" pitchFamily="34" charset="-120"/>
              </a:rPr>
              <a:t>HIS, LIS and PACS remain the system of record. Mirai receives finalised results through FHIR, HL7 v2, webhooks, or a file drop for legacy systems.</a:t>
            </a:r>
            <a:endParaRPr lang="en-US" sz="1150" dirty="0"/>
          </a:p>
        </p:txBody>
      </p:sp>
      <p:pic>
        <p:nvPicPr>
          <p:cNvPr id="9" name="Image 3" descr="preencoded.png"/>
          <p:cNvPicPr>
            <a:picLocks noChangeAspect="1"/>
          </p:cNvPicPr>
          <p:nvPr/>
        </p:nvPicPr>
        <p:blipFill>
          <a:blip r:embed="rId4"/>
          <a:stretch>
            <a:fillRect/>
          </a:stretch>
        </p:blipFill>
        <p:spPr>
          <a:xfrm>
            <a:off x="5696273" y="2916936"/>
            <a:ext cx="420624" cy="420624"/>
          </a:xfrm>
          <a:prstGeom prst="rect">
            <a:avLst/>
          </a:prstGeom>
        </p:spPr>
      </p:pic>
      <p:sp>
        <p:nvSpPr>
          <p:cNvPr id="10" name="Text 4"/>
          <p:cNvSpPr/>
          <p:nvPr/>
        </p:nvSpPr>
        <p:spPr>
          <a:xfrm>
            <a:off x="6263201" y="2898648"/>
            <a:ext cx="5379855" cy="274320"/>
          </a:xfrm>
          <a:prstGeom prst="rect">
            <a:avLst/>
          </a:prstGeom>
          <a:noFill/>
        </p:spPr>
        <p:txBody>
          <a:bodyPr wrap="square" lIns="0" tIns="0" rIns="0" bIns="0" rtlCol="0" anchor="t"/>
          <a:lstStyle/>
          <a:p>
            <a:pPr marL="0" indent="0">
              <a:buNone/>
            </a:pPr>
            <a:r>
              <a:rPr lang="en-US" sz="1350" b="1" dirty="0">
                <a:solidFill>
                  <a:srgbClr val="22303C"/>
                </a:solidFill>
                <a:latin typeface="Calibri" pitchFamily="34" charset="0"/>
                <a:ea typeface="Calibri" pitchFamily="34" charset="-122"/>
                <a:cs typeface="Calibri" pitchFamily="34" charset="-120"/>
              </a:rPr>
              <a:t>Identity resolved, never guessed</a:t>
            </a:r>
            <a:endParaRPr lang="en-US" sz="1350" dirty="0"/>
          </a:p>
        </p:txBody>
      </p:sp>
      <p:sp>
        <p:nvSpPr>
          <p:cNvPr id="11" name="Text 5"/>
          <p:cNvSpPr/>
          <p:nvPr/>
        </p:nvSpPr>
        <p:spPr>
          <a:xfrm>
            <a:off x="6263201" y="3191256"/>
            <a:ext cx="5379855" cy="822960"/>
          </a:xfrm>
          <a:prstGeom prst="rect">
            <a:avLst/>
          </a:prstGeom>
          <a:noFill/>
        </p:spPr>
        <p:txBody>
          <a:bodyPr wrap="square" lIns="0" tIns="0" rIns="0" bIns="0" rtlCol="0" anchor="t"/>
          <a:lstStyle/>
          <a:p>
            <a:pPr marL="0" indent="0">
              <a:lnSpc>
                <a:spcPct val="112000"/>
              </a:lnSpc>
              <a:buNone/>
            </a:pPr>
            <a:r>
              <a:rPr lang="en-US" sz="1150" dirty="0">
                <a:solidFill>
                  <a:srgbClr val="3A4756"/>
                </a:solidFill>
                <a:latin typeface="Calibri" pitchFamily="34" charset="0"/>
                <a:ea typeface="Calibri" pitchFamily="34" charset="-122"/>
                <a:cs typeface="Calibri" pitchFamily="34" charset="-120"/>
              </a:rPr>
              <a:t>An ambiguous match goes to a human queue. A report is never attached to the wrong patient.</a:t>
            </a:r>
            <a:endParaRPr lang="en-US" sz="1150" dirty="0"/>
          </a:p>
        </p:txBody>
      </p:sp>
      <p:pic>
        <p:nvPicPr>
          <p:cNvPr id="12" name="Image 4" descr="preencoded.png"/>
          <p:cNvPicPr>
            <a:picLocks noChangeAspect="1"/>
          </p:cNvPicPr>
          <p:nvPr/>
        </p:nvPicPr>
        <p:blipFill>
          <a:blip r:embed="rId5"/>
          <a:stretch>
            <a:fillRect/>
          </a:stretch>
        </p:blipFill>
        <p:spPr>
          <a:xfrm>
            <a:off x="5696273" y="4123944"/>
            <a:ext cx="420624" cy="420624"/>
          </a:xfrm>
          <a:prstGeom prst="rect">
            <a:avLst/>
          </a:prstGeom>
        </p:spPr>
      </p:pic>
      <p:sp>
        <p:nvSpPr>
          <p:cNvPr id="13" name="Text 6"/>
          <p:cNvSpPr/>
          <p:nvPr/>
        </p:nvSpPr>
        <p:spPr>
          <a:xfrm>
            <a:off x="6263201" y="4105656"/>
            <a:ext cx="5379855" cy="274320"/>
          </a:xfrm>
          <a:prstGeom prst="rect">
            <a:avLst/>
          </a:prstGeom>
          <a:noFill/>
        </p:spPr>
        <p:txBody>
          <a:bodyPr wrap="square" lIns="0" tIns="0" rIns="0" bIns="0" rtlCol="0" anchor="t"/>
          <a:lstStyle/>
          <a:p>
            <a:pPr marL="0" indent="0">
              <a:buNone/>
            </a:pPr>
            <a:r>
              <a:rPr lang="en-US" sz="1350" b="1" dirty="0">
                <a:solidFill>
                  <a:srgbClr val="22303C"/>
                </a:solidFill>
                <a:latin typeface="Calibri" pitchFamily="34" charset="0"/>
                <a:ea typeface="Calibri" pitchFamily="34" charset="-122"/>
                <a:cs typeface="Calibri" pitchFamily="34" charset="-120"/>
              </a:rPr>
              <a:t>Fail loudly</a:t>
            </a:r>
            <a:endParaRPr lang="en-US" sz="1350" dirty="0"/>
          </a:p>
        </p:txBody>
      </p:sp>
      <p:sp>
        <p:nvSpPr>
          <p:cNvPr id="14" name="Text 7"/>
          <p:cNvSpPr/>
          <p:nvPr/>
        </p:nvSpPr>
        <p:spPr>
          <a:xfrm>
            <a:off x="6263201" y="4398264"/>
            <a:ext cx="5379855" cy="822960"/>
          </a:xfrm>
          <a:prstGeom prst="rect">
            <a:avLst/>
          </a:prstGeom>
          <a:noFill/>
        </p:spPr>
        <p:txBody>
          <a:bodyPr wrap="square" lIns="0" tIns="0" rIns="0" bIns="0" rtlCol="0" anchor="t"/>
          <a:lstStyle/>
          <a:p>
            <a:pPr marL="0" indent="0">
              <a:lnSpc>
                <a:spcPct val="112000"/>
              </a:lnSpc>
              <a:buNone/>
            </a:pPr>
            <a:r>
              <a:rPr lang="en-US" sz="1150" dirty="0">
                <a:solidFill>
                  <a:srgbClr val="3A4756"/>
                </a:solidFill>
                <a:latin typeface="Calibri" pitchFamily="34" charset="0"/>
                <a:ea typeface="Calibri" pitchFamily="34" charset="-122"/>
                <a:cs typeface="Calibri" pitchFamily="34" charset="-120"/>
              </a:rPr>
              <a:t>A failed event sits in a visible queue with its reason and a retry. Clinical data is never dropped.</a:t>
            </a:r>
            <a:endParaRPr lang="en-US" sz="1150" dirty="0"/>
          </a:p>
        </p:txBody>
      </p:sp>
      <p:pic>
        <p:nvPicPr>
          <p:cNvPr id="15" name="Image 5" descr="preencoded.png"/>
          <p:cNvPicPr>
            <a:picLocks noChangeAspect="1"/>
          </p:cNvPicPr>
          <p:nvPr/>
        </p:nvPicPr>
        <p:blipFill>
          <a:blip r:embed="rId6"/>
          <a:stretch>
            <a:fillRect/>
          </a:stretch>
        </p:blipFill>
        <p:spPr>
          <a:xfrm>
            <a:off x="5696273" y="5330952"/>
            <a:ext cx="420624" cy="420624"/>
          </a:xfrm>
          <a:prstGeom prst="rect">
            <a:avLst/>
          </a:prstGeom>
        </p:spPr>
      </p:pic>
      <p:sp>
        <p:nvSpPr>
          <p:cNvPr id="16" name="Text 8"/>
          <p:cNvSpPr/>
          <p:nvPr/>
        </p:nvSpPr>
        <p:spPr>
          <a:xfrm>
            <a:off x="6263201" y="5312664"/>
            <a:ext cx="5379855" cy="274320"/>
          </a:xfrm>
          <a:prstGeom prst="rect">
            <a:avLst/>
          </a:prstGeom>
          <a:noFill/>
        </p:spPr>
        <p:txBody>
          <a:bodyPr wrap="square" lIns="0" tIns="0" rIns="0" bIns="0" rtlCol="0" anchor="t"/>
          <a:lstStyle/>
          <a:p>
            <a:pPr marL="0" indent="0">
              <a:buNone/>
            </a:pPr>
            <a:r>
              <a:rPr lang="en-US" sz="1350" b="1" dirty="0">
                <a:solidFill>
                  <a:srgbClr val="22303C"/>
                </a:solidFill>
                <a:latin typeface="Calibri" pitchFamily="34" charset="0"/>
                <a:ea typeface="Calibri" pitchFamily="34" charset="-122"/>
                <a:cs typeface="Calibri" pitchFamily="34" charset="-120"/>
              </a:rPr>
              <a:t>Provisioned in minutes</a:t>
            </a:r>
            <a:endParaRPr lang="en-US" sz="1350" dirty="0"/>
          </a:p>
        </p:txBody>
      </p:sp>
      <p:sp>
        <p:nvSpPr>
          <p:cNvPr id="17" name="Text 9"/>
          <p:cNvSpPr/>
          <p:nvPr/>
        </p:nvSpPr>
        <p:spPr>
          <a:xfrm>
            <a:off x="6263201" y="5605272"/>
            <a:ext cx="5379855" cy="822960"/>
          </a:xfrm>
          <a:prstGeom prst="rect">
            <a:avLst/>
          </a:prstGeom>
          <a:noFill/>
        </p:spPr>
        <p:txBody>
          <a:bodyPr wrap="square" lIns="0" tIns="0" rIns="0" bIns="0" rtlCol="0" anchor="t"/>
          <a:lstStyle/>
          <a:p>
            <a:pPr marL="0" indent="0">
              <a:lnSpc>
                <a:spcPct val="112000"/>
              </a:lnSpc>
              <a:buNone/>
            </a:pPr>
            <a:r>
              <a:rPr lang="en-US" sz="1150" dirty="0">
                <a:solidFill>
                  <a:srgbClr val="3A4756"/>
                </a:solidFill>
                <a:latin typeface="Calibri" pitchFamily="34" charset="0"/>
                <a:ea typeface="Calibri" pitchFamily="34" charset="-122"/>
                <a:cs typeface="Calibri" pitchFamily="34" charset="-120"/>
              </a:rPr>
              <a:t>Tenant setup is automated. A sandbox connector proves your feed before go-live. Your identity provider handles doctor sign-in.</a:t>
            </a:r>
            <a:endParaRPr lang="en-US" sz="1150" dirty="0"/>
          </a:p>
        </p:txBody>
      </p:sp>
      <p:sp>
        <p:nvSpPr>
          <p:cNvPr id="18" name="Text 10"/>
          <p:cNvSpPr/>
          <p:nvPr/>
        </p:nvSpPr>
        <p:spPr>
          <a:xfrm>
            <a:off x="11277295" y="6473952"/>
            <a:ext cx="365760" cy="228600"/>
          </a:xfrm>
          <a:prstGeom prst="rect">
            <a:avLst/>
          </a:prstGeom>
          <a:noFill/>
        </p:spPr>
        <p:txBody>
          <a:bodyPr wrap="square" lIns="0" tIns="0" rIns="0" bIns="0" rtlCol="0" anchor="t"/>
          <a:lstStyle/>
          <a:p>
            <a:pPr marL="0" indent="0" algn="r">
              <a:buNone/>
            </a:pPr>
            <a:r>
              <a:rPr lang="en-US" sz="900" dirty="0">
                <a:solidFill>
                  <a:srgbClr val="7D868E"/>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AF7F1"/>
        </a:solidFill>
        <a:effectLst/>
      </p:bgPr>
    </p:bg>
    <p:spTree>
      <p:nvGrpSpPr>
        <p:cNvPr id="1" name=""/>
        <p:cNvGrpSpPr/>
        <p:nvPr/>
      </p:nvGrpSpPr>
      <p:grpSpPr>
        <a:xfrm>
          <a:off x="0" y="0"/>
          <a:ext cx="0" cy="0"/>
          <a:chOff x="0" y="0"/>
          <a:chExt cx="0" cy="0"/>
        </a:xfrm>
      </p:grpSpPr>
      <p:sp>
        <p:nvSpPr>
          <p:cNvPr id="2" name="Text 0"/>
          <p:cNvSpPr/>
          <p:nvPr/>
        </p:nvSpPr>
        <p:spPr>
          <a:xfrm>
            <a:off x="548640" y="502920"/>
            <a:ext cx="5486400" cy="274320"/>
          </a:xfrm>
          <a:prstGeom prst="rect">
            <a:avLst/>
          </a:prstGeom>
          <a:noFill/>
        </p:spPr>
        <p:txBody>
          <a:bodyPr wrap="square" lIns="0" tIns="0" rIns="0" bIns="0" rtlCol="0" anchor="t"/>
          <a:lstStyle/>
          <a:p>
            <a:pPr marL="0" indent="0">
              <a:buNone/>
            </a:pPr>
            <a:r>
              <a:rPr lang="en-US" sz="1050" b="1" kern="0" spc="300" dirty="0">
                <a:solidFill>
                  <a:srgbClr val="0072A8"/>
                </a:solidFill>
                <a:latin typeface="Calibri" pitchFamily="34" charset="0"/>
                <a:ea typeface="Calibri" pitchFamily="34" charset="-122"/>
                <a:cs typeface="Calibri" pitchFamily="34" charset="-120"/>
              </a:rPr>
              <a:t>WHAT YOU MAY BE THINKING · 1 OF 2</a:t>
            </a:r>
            <a:endParaRPr lang="en-US" sz="1050" dirty="0"/>
          </a:p>
        </p:txBody>
      </p:sp>
      <p:sp>
        <p:nvSpPr>
          <p:cNvPr id="3" name="Text 1"/>
          <p:cNvSpPr/>
          <p:nvPr/>
        </p:nvSpPr>
        <p:spPr>
          <a:xfrm>
            <a:off x="548640" y="822960"/>
            <a:ext cx="9144000" cy="731520"/>
          </a:xfrm>
          <a:prstGeom prst="rect">
            <a:avLst/>
          </a:prstGeom>
          <a:noFill/>
        </p:spPr>
        <p:txBody>
          <a:bodyPr wrap="square" lIns="0" tIns="0" rIns="0" bIns="0" rtlCol="0" anchor="t"/>
          <a:lstStyle/>
          <a:p>
            <a:pPr marL="0" indent="0">
              <a:buNone/>
            </a:pPr>
            <a:r>
              <a:rPr lang="en-US" sz="3200" dirty="0">
                <a:solidFill>
                  <a:srgbClr val="22303C"/>
                </a:solidFill>
                <a:latin typeface="Cambria" pitchFamily="34" charset="0"/>
                <a:ea typeface="Cambria" pitchFamily="34" charset="-122"/>
                <a:cs typeface="Cambria" pitchFamily="34" charset="-120"/>
              </a:rPr>
              <a:t>The objections we would raise ourselves.</a:t>
            </a:r>
            <a:endParaRPr lang="en-US" sz="3200" dirty="0"/>
          </a:p>
        </p:txBody>
      </p:sp>
      <p:sp>
        <p:nvSpPr>
          <p:cNvPr id="4" name="Text 2"/>
          <p:cNvSpPr/>
          <p:nvPr/>
        </p:nvSpPr>
        <p:spPr>
          <a:xfrm>
            <a:off x="548640" y="1691640"/>
            <a:ext cx="4206240" cy="228600"/>
          </a:xfrm>
          <a:prstGeom prst="rect">
            <a:avLst/>
          </a:prstGeom>
          <a:noFill/>
        </p:spPr>
        <p:txBody>
          <a:bodyPr wrap="square" lIns="0" tIns="0" rIns="0" bIns="0" rtlCol="0" anchor="t"/>
          <a:lstStyle/>
          <a:p>
            <a:pPr marL="0" indent="0">
              <a:buNone/>
            </a:pPr>
            <a:r>
              <a:rPr lang="en-US" sz="1000" b="1" kern="0" spc="300" dirty="0">
                <a:solidFill>
                  <a:srgbClr val="7D868E"/>
                </a:solidFill>
                <a:latin typeface="Calibri" pitchFamily="34" charset="0"/>
                <a:ea typeface="Calibri" pitchFamily="34" charset="-122"/>
                <a:cs typeface="Calibri" pitchFamily="34" charset="-120"/>
              </a:rPr>
              <a:t>THE BELIEF</a:t>
            </a:r>
            <a:endParaRPr lang="en-US" sz="1000" dirty="0"/>
          </a:p>
        </p:txBody>
      </p:sp>
      <p:sp>
        <p:nvSpPr>
          <p:cNvPr id="5" name="Text 3"/>
          <p:cNvSpPr/>
          <p:nvPr/>
        </p:nvSpPr>
        <p:spPr>
          <a:xfrm>
            <a:off x="5166360" y="1691640"/>
            <a:ext cx="5486400" cy="228600"/>
          </a:xfrm>
          <a:prstGeom prst="rect">
            <a:avLst/>
          </a:prstGeom>
          <a:noFill/>
        </p:spPr>
        <p:txBody>
          <a:bodyPr wrap="square" lIns="0" tIns="0" rIns="0" bIns="0" rtlCol="0" anchor="t"/>
          <a:lstStyle/>
          <a:p>
            <a:pPr marL="0" indent="0">
              <a:buNone/>
            </a:pPr>
            <a:r>
              <a:rPr lang="en-US" sz="1000" b="1" kern="0" spc="300" dirty="0">
                <a:solidFill>
                  <a:srgbClr val="0072A8"/>
                </a:solidFill>
                <a:latin typeface="Calibri" pitchFamily="34" charset="0"/>
                <a:ea typeface="Calibri" pitchFamily="34" charset="-122"/>
                <a:cs typeface="Calibri" pitchFamily="34" charset="-120"/>
              </a:rPr>
              <a:t>WHAT IS ACTUALLY TRUE</a:t>
            </a:r>
            <a:endParaRPr lang="en-US" sz="1000" dirty="0"/>
          </a:p>
        </p:txBody>
      </p:sp>
      <p:sp>
        <p:nvSpPr>
          <p:cNvPr id="6" name="Shape 4"/>
          <p:cNvSpPr/>
          <p:nvPr/>
        </p:nvSpPr>
        <p:spPr>
          <a:xfrm>
            <a:off x="548640" y="2011680"/>
            <a:ext cx="4206240" cy="1417320"/>
          </a:xfrm>
          <a:prstGeom prst="roundRect">
            <a:avLst>
              <a:gd name="adj" fmla="val 7742"/>
            </a:avLst>
          </a:prstGeom>
          <a:solidFill>
            <a:srgbClr val="F1EDE4"/>
          </a:solidFill>
          <a:ln w="9525">
            <a:solidFill>
              <a:srgbClr val="F1EDE4"/>
            </a:solidFill>
            <a:prstDash val="solid"/>
          </a:ln>
        </p:spPr>
      </p:sp>
      <p:sp>
        <p:nvSpPr>
          <p:cNvPr id="7" name="Text 5"/>
          <p:cNvSpPr/>
          <p:nvPr/>
        </p:nvSpPr>
        <p:spPr>
          <a:xfrm>
            <a:off x="804672" y="2194560"/>
            <a:ext cx="3749040" cy="1051560"/>
          </a:xfrm>
          <a:prstGeom prst="rect">
            <a:avLst/>
          </a:prstGeom>
          <a:noFill/>
        </p:spPr>
        <p:txBody>
          <a:bodyPr wrap="square" lIns="0" tIns="0" rIns="0" bIns="0" rtlCol="0" anchor="ctr"/>
          <a:lstStyle/>
          <a:p>
            <a:pPr marL="0" indent="0">
              <a:lnSpc>
                <a:spcPct val="112000"/>
              </a:lnSpc>
              <a:buNone/>
            </a:pPr>
            <a:r>
              <a:rPr lang="en-US" sz="1550" i="1" dirty="0">
                <a:solidFill>
                  <a:srgbClr val="22303C"/>
                </a:solidFill>
                <a:latin typeface="Cambria" pitchFamily="34" charset="0"/>
                <a:ea typeface="Cambria" pitchFamily="34" charset="-122"/>
                <a:cs typeface="Cambria" pitchFamily="34" charset="-120"/>
              </a:rPr>
              <a:t>“An AI summary will hallucinate, and a patient will be harmed.”</a:t>
            </a:r>
            <a:endParaRPr lang="en-US" sz="1550" dirty="0"/>
          </a:p>
        </p:txBody>
      </p:sp>
      <p:pic>
        <p:nvPicPr>
          <p:cNvPr id="8" name="Image 0" descr="preencoded.png"/>
          <p:cNvPicPr>
            <a:picLocks noChangeAspect="1"/>
          </p:cNvPicPr>
          <p:nvPr/>
        </p:nvPicPr>
        <p:blipFill>
          <a:blip r:embed="rId1"/>
          <a:stretch>
            <a:fillRect/>
          </a:stretch>
        </p:blipFill>
        <p:spPr>
          <a:xfrm>
            <a:off x="4828032" y="2564892"/>
            <a:ext cx="310896" cy="310896"/>
          </a:xfrm>
          <a:prstGeom prst="rect">
            <a:avLst/>
          </a:prstGeom>
        </p:spPr>
      </p:pic>
      <p:sp>
        <p:nvSpPr>
          <p:cNvPr id="9" name="Text 6"/>
          <p:cNvSpPr/>
          <p:nvPr/>
        </p:nvSpPr>
        <p:spPr>
          <a:xfrm>
            <a:off x="5166360" y="2084832"/>
            <a:ext cx="6476695" cy="1325880"/>
          </a:xfrm>
          <a:prstGeom prst="rect">
            <a:avLst/>
          </a:prstGeom>
          <a:noFill/>
        </p:spPr>
        <p:txBody>
          <a:bodyPr wrap="square" lIns="0" tIns="0" rIns="0" bIns="0" rtlCol="0" anchor="ctr"/>
          <a:lstStyle/>
          <a:p>
            <a:pPr marL="0" indent="0">
              <a:lnSpc>
                <a:spcPct val="115000"/>
              </a:lnSpc>
              <a:buNone/>
            </a:pPr>
            <a:r>
              <a:rPr lang="en-US" sz="1200" dirty="0">
                <a:solidFill>
                  <a:srgbClr val="3A4756"/>
                </a:solidFill>
                <a:latin typeface="Calibri" pitchFamily="34" charset="0"/>
                <a:ea typeface="Calibri" pitchFamily="34" charset="-122"/>
                <a:cs typeface="Calibri" pitchFamily="34" charset="-120"/>
              </a:rPr>
              <a:t>The brief is generated only from the records you are authorised to see. Every number, date and drug name is checked against the source before it is shown; unsupported claims are dropped. It carries citations and the instruction to verify. It never writes to the record. Clinician-reviewed test sets gate every model change.</a:t>
            </a:r>
            <a:endParaRPr lang="en-US" sz="1200" dirty="0"/>
          </a:p>
        </p:txBody>
      </p:sp>
      <p:sp>
        <p:nvSpPr>
          <p:cNvPr id="10" name="Shape 7"/>
          <p:cNvSpPr/>
          <p:nvPr/>
        </p:nvSpPr>
        <p:spPr>
          <a:xfrm>
            <a:off x="548640" y="3593592"/>
            <a:ext cx="4206240" cy="1417320"/>
          </a:xfrm>
          <a:prstGeom prst="roundRect">
            <a:avLst>
              <a:gd name="adj" fmla="val 7742"/>
            </a:avLst>
          </a:prstGeom>
          <a:solidFill>
            <a:srgbClr val="F1EDE4"/>
          </a:solidFill>
          <a:ln w="9525">
            <a:solidFill>
              <a:srgbClr val="F1EDE4"/>
            </a:solidFill>
            <a:prstDash val="solid"/>
          </a:ln>
        </p:spPr>
      </p:sp>
      <p:sp>
        <p:nvSpPr>
          <p:cNvPr id="11" name="Text 8"/>
          <p:cNvSpPr/>
          <p:nvPr/>
        </p:nvSpPr>
        <p:spPr>
          <a:xfrm>
            <a:off x="804672" y="3776472"/>
            <a:ext cx="3749040" cy="1051560"/>
          </a:xfrm>
          <a:prstGeom prst="rect">
            <a:avLst/>
          </a:prstGeom>
          <a:noFill/>
        </p:spPr>
        <p:txBody>
          <a:bodyPr wrap="square" lIns="0" tIns="0" rIns="0" bIns="0" rtlCol="0" anchor="ctr"/>
          <a:lstStyle/>
          <a:p>
            <a:pPr marL="0" indent="0">
              <a:lnSpc>
                <a:spcPct val="112000"/>
              </a:lnSpc>
              <a:buNone/>
            </a:pPr>
            <a:r>
              <a:rPr lang="en-US" sz="1550" i="1" dirty="0">
                <a:solidFill>
                  <a:srgbClr val="22303C"/>
                </a:solidFill>
                <a:latin typeface="Cambria" pitchFamily="34" charset="0"/>
                <a:ea typeface="Cambria" pitchFamily="34" charset="-122"/>
                <a:cs typeface="Cambria" pitchFamily="34" charset="-120"/>
              </a:rPr>
              <a:t>“This means replacing our HIS. We have been through that.”</a:t>
            </a:r>
            <a:endParaRPr lang="en-US" sz="1550" dirty="0"/>
          </a:p>
        </p:txBody>
      </p:sp>
      <p:pic>
        <p:nvPicPr>
          <p:cNvPr id="12" name="Image 1" descr="preencoded.png"/>
          <p:cNvPicPr>
            <a:picLocks noChangeAspect="1"/>
          </p:cNvPicPr>
          <p:nvPr/>
        </p:nvPicPr>
        <p:blipFill>
          <a:blip r:embed="rId1"/>
          <a:stretch>
            <a:fillRect/>
          </a:stretch>
        </p:blipFill>
        <p:spPr>
          <a:xfrm>
            <a:off x="4828032" y="4146804"/>
            <a:ext cx="310896" cy="310896"/>
          </a:xfrm>
          <a:prstGeom prst="rect">
            <a:avLst/>
          </a:prstGeom>
        </p:spPr>
      </p:pic>
      <p:sp>
        <p:nvSpPr>
          <p:cNvPr id="13" name="Text 9"/>
          <p:cNvSpPr/>
          <p:nvPr/>
        </p:nvSpPr>
        <p:spPr>
          <a:xfrm>
            <a:off x="5166360" y="3666744"/>
            <a:ext cx="6476695" cy="1325880"/>
          </a:xfrm>
          <a:prstGeom prst="rect">
            <a:avLst/>
          </a:prstGeom>
          <a:noFill/>
        </p:spPr>
        <p:txBody>
          <a:bodyPr wrap="square" lIns="0" tIns="0" rIns="0" bIns="0" rtlCol="0" anchor="ctr"/>
          <a:lstStyle/>
          <a:p>
            <a:pPr marL="0" indent="0">
              <a:lnSpc>
                <a:spcPct val="115000"/>
              </a:lnSpc>
              <a:buNone/>
            </a:pPr>
            <a:r>
              <a:rPr lang="en-US" sz="1200" dirty="0">
                <a:solidFill>
                  <a:srgbClr val="3A4756"/>
                </a:solidFill>
                <a:latin typeface="Calibri" pitchFamily="34" charset="0"/>
                <a:ea typeface="Calibri" pitchFamily="34" charset="-122"/>
                <a:cs typeface="Calibri" pitchFamily="34" charset="-120"/>
              </a:rPr>
              <a:t>Nothing is replaced. Your HIS stays the system of record. Mirai receives finalised reports through an integration layer, the way a lab sends a result today. If Mirai were switched off tomorrow, your records would be exactly where they are now.</a:t>
            </a:r>
            <a:endParaRPr lang="en-US" sz="1200" dirty="0"/>
          </a:p>
        </p:txBody>
      </p:sp>
      <p:sp>
        <p:nvSpPr>
          <p:cNvPr id="14" name="Shape 10"/>
          <p:cNvSpPr/>
          <p:nvPr/>
        </p:nvSpPr>
        <p:spPr>
          <a:xfrm>
            <a:off x="548640" y="5175504"/>
            <a:ext cx="4206240" cy="1417320"/>
          </a:xfrm>
          <a:prstGeom prst="roundRect">
            <a:avLst>
              <a:gd name="adj" fmla="val 7742"/>
            </a:avLst>
          </a:prstGeom>
          <a:solidFill>
            <a:srgbClr val="F1EDE4"/>
          </a:solidFill>
          <a:ln w="9525">
            <a:solidFill>
              <a:srgbClr val="F1EDE4"/>
            </a:solidFill>
            <a:prstDash val="solid"/>
          </a:ln>
        </p:spPr>
      </p:sp>
      <p:sp>
        <p:nvSpPr>
          <p:cNvPr id="15" name="Text 11"/>
          <p:cNvSpPr/>
          <p:nvPr/>
        </p:nvSpPr>
        <p:spPr>
          <a:xfrm>
            <a:off x="804672" y="5358384"/>
            <a:ext cx="3749040" cy="1051560"/>
          </a:xfrm>
          <a:prstGeom prst="rect">
            <a:avLst/>
          </a:prstGeom>
          <a:noFill/>
        </p:spPr>
        <p:txBody>
          <a:bodyPr wrap="square" lIns="0" tIns="0" rIns="0" bIns="0" rtlCol="0" anchor="ctr"/>
          <a:lstStyle/>
          <a:p>
            <a:pPr marL="0" indent="0">
              <a:lnSpc>
                <a:spcPct val="112000"/>
              </a:lnSpc>
              <a:buNone/>
            </a:pPr>
            <a:r>
              <a:rPr lang="en-US" sz="1550" i="1" dirty="0">
                <a:solidFill>
                  <a:srgbClr val="22303C"/>
                </a:solidFill>
                <a:latin typeface="Cambria" pitchFamily="34" charset="0"/>
                <a:ea typeface="Cambria" pitchFamily="34" charset="-122"/>
                <a:cs typeface="Cambria" pitchFamily="34" charset="-120"/>
              </a:rPr>
              <a:t>“Our patients will not adopt an app.”</a:t>
            </a:r>
            <a:endParaRPr lang="en-US" sz="1550" dirty="0"/>
          </a:p>
        </p:txBody>
      </p:sp>
      <p:pic>
        <p:nvPicPr>
          <p:cNvPr id="16" name="Image 2" descr="preencoded.png"/>
          <p:cNvPicPr>
            <a:picLocks noChangeAspect="1"/>
          </p:cNvPicPr>
          <p:nvPr/>
        </p:nvPicPr>
        <p:blipFill>
          <a:blip r:embed="rId1"/>
          <a:stretch>
            <a:fillRect/>
          </a:stretch>
        </p:blipFill>
        <p:spPr>
          <a:xfrm>
            <a:off x="4828032" y="5728716"/>
            <a:ext cx="310896" cy="310896"/>
          </a:xfrm>
          <a:prstGeom prst="rect">
            <a:avLst/>
          </a:prstGeom>
        </p:spPr>
      </p:pic>
      <p:sp>
        <p:nvSpPr>
          <p:cNvPr id="17" name="Text 12"/>
          <p:cNvSpPr/>
          <p:nvPr/>
        </p:nvSpPr>
        <p:spPr>
          <a:xfrm>
            <a:off x="5166360" y="5248656"/>
            <a:ext cx="6476695" cy="1325880"/>
          </a:xfrm>
          <a:prstGeom prst="rect">
            <a:avLst/>
          </a:prstGeom>
          <a:noFill/>
        </p:spPr>
        <p:txBody>
          <a:bodyPr wrap="square" lIns="0" tIns="0" rIns="0" bIns="0" rtlCol="0" anchor="ctr"/>
          <a:lstStyle/>
          <a:p>
            <a:pPr marL="0" indent="0">
              <a:lnSpc>
                <a:spcPct val="115000"/>
              </a:lnSpc>
              <a:buNone/>
            </a:pPr>
            <a:r>
              <a:rPr lang="en-US" sz="1200" dirty="0">
                <a:solidFill>
                  <a:srgbClr val="3A4756"/>
                </a:solidFill>
                <a:latin typeface="Calibri" pitchFamily="34" charset="0"/>
                <a:ea typeface="Calibri" pitchFamily="34" charset="-122"/>
                <a:cs typeface="Calibri" pitchFamily="34" charset="-120"/>
              </a:rPr>
              <a:t>Sign-in is a phone number and an OTP, in English, Hindi and Marathi. A family shares one account. A printed QR works for patients without phones. And your own doctors benefit on day one: the hospital’s records are there before a single patient enrols.</a:t>
            </a:r>
            <a:endParaRPr lang="en-US" sz="1200" dirty="0"/>
          </a:p>
        </p:txBody>
      </p:sp>
      <p:sp>
        <p:nvSpPr>
          <p:cNvPr id="18" name="Text 13"/>
          <p:cNvSpPr/>
          <p:nvPr/>
        </p:nvSpPr>
        <p:spPr>
          <a:xfrm>
            <a:off x="11277295" y="6473952"/>
            <a:ext cx="365760" cy="228600"/>
          </a:xfrm>
          <a:prstGeom prst="rect">
            <a:avLst/>
          </a:prstGeom>
          <a:noFill/>
        </p:spPr>
        <p:txBody>
          <a:bodyPr wrap="square" lIns="0" tIns="0" rIns="0" bIns="0" rtlCol="0" anchor="t"/>
          <a:lstStyle/>
          <a:p>
            <a:pPr marL="0" indent="0" algn="r">
              <a:buNone/>
            </a:pPr>
            <a:r>
              <a:rPr lang="en-US" sz="900" dirty="0">
                <a:solidFill>
                  <a:srgbClr val="7D868E"/>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AF7F1"/>
        </a:solidFill>
        <a:effectLst/>
      </p:bgPr>
    </p:bg>
    <p:spTree>
      <p:nvGrpSpPr>
        <p:cNvPr id="1" name=""/>
        <p:cNvGrpSpPr/>
        <p:nvPr/>
      </p:nvGrpSpPr>
      <p:grpSpPr>
        <a:xfrm>
          <a:off x="0" y="0"/>
          <a:ext cx="0" cy="0"/>
          <a:chOff x="0" y="0"/>
          <a:chExt cx="0" cy="0"/>
        </a:xfrm>
      </p:grpSpPr>
      <p:sp>
        <p:nvSpPr>
          <p:cNvPr id="2" name="Text 0"/>
          <p:cNvSpPr/>
          <p:nvPr/>
        </p:nvSpPr>
        <p:spPr>
          <a:xfrm>
            <a:off x="548640" y="502920"/>
            <a:ext cx="5486400" cy="274320"/>
          </a:xfrm>
          <a:prstGeom prst="rect">
            <a:avLst/>
          </a:prstGeom>
          <a:noFill/>
        </p:spPr>
        <p:txBody>
          <a:bodyPr wrap="square" lIns="0" tIns="0" rIns="0" bIns="0" rtlCol="0" anchor="t"/>
          <a:lstStyle/>
          <a:p>
            <a:pPr marL="0" indent="0">
              <a:buNone/>
            </a:pPr>
            <a:r>
              <a:rPr lang="en-US" sz="1050" b="1" kern="0" spc="300" dirty="0">
                <a:solidFill>
                  <a:srgbClr val="0072A8"/>
                </a:solidFill>
                <a:latin typeface="Calibri" pitchFamily="34" charset="0"/>
                <a:ea typeface="Calibri" pitchFamily="34" charset="-122"/>
                <a:cs typeface="Calibri" pitchFamily="34" charset="-120"/>
              </a:rPr>
              <a:t>WHAT YOU MAY BE THINKING · 2 OF 2</a:t>
            </a:r>
            <a:endParaRPr lang="en-US" sz="1050" dirty="0"/>
          </a:p>
        </p:txBody>
      </p:sp>
      <p:sp>
        <p:nvSpPr>
          <p:cNvPr id="3" name="Text 1"/>
          <p:cNvSpPr/>
          <p:nvPr/>
        </p:nvSpPr>
        <p:spPr>
          <a:xfrm>
            <a:off x="548640" y="822960"/>
            <a:ext cx="9144000" cy="731520"/>
          </a:xfrm>
          <a:prstGeom prst="rect">
            <a:avLst/>
          </a:prstGeom>
          <a:noFill/>
        </p:spPr>
        <p:txBody>
          <a:bodyPr wrap="square" lIns="0" tIns="0" rIns="0" bIns="0" rtlCol="0" anchor="t"/>
          <a:lstStyle/>
          <a:p>
            <a:pPr marL="0" indent="0">
              <a:buNone/>
            </a:pPr>
            <a:r>
              <a:rPr lang="en-US" sz="3200" dirty="0">
                <a:solidFill>
                  <a:srgbClr val="22303C"/>
                </a:solidFill>
                <a:latin typeface="Cambria" pitchFamily="34" charset="0"/>
                <a:ea typeface="Cambria" pitchFamily="34" charset="-122"/>
                <a:cs typeface="Cambria" pitchFamily="34" charset="-120"/>
              </a:rPr>
              <a:t>And the ones the board will raise.</a:t>
            </a:r>
            <a:endParaRPr lang="en-US" sz="3200" dirty="0"/>
          </a:p>
        </p:txBody>
      </p:sp>
      <p:sp>
        <p:nvSpPr>
          <p:cNvPr id="4" name="Text 2"/>
          <p:cNvSpPr/>
          <p:nvPr/>
        </p:nvSpPr>
        <p:spPr>
          <a:xfrm>
            <a:off x="548640" y="1691640"/>
            <a:ext cx="4206240" cy="228600"/>
          </a:xfrm>
          <a:prstGeom prst="rect">
            <a:avLst/>
          </a:prstGeom>
          <a:noFill/>
        </p:spPr>
        <p:txBody>
          <a:bodyPr wrap="square" lIns="0" tIns="0" rIns="0" bIns="0" rtlCol="0" anchor="t"/>
          <a:lstStyle/>
          <a:p>
            <a:pPr marL="0" indent="0">
              <a:buNone/>
            </a:pPr>
            <a:r>
              <a:rPr lang="en-US" sz="1000" b="1" kern="0" spc="300" dirty="0">
                <a:solidFill>
                  <a:srgbClr val="7D868E"/>
                </a:solidFill>
                <a:latin typeface="Calibri" pitchFamily="34" charset="0"/>
                <a:ea typeface="Calibri" pitchFamily="34" charset="-122"/>
                <a:cs typeface="Calibri" pitchFamily="34" charset="-120"/>
              </a:rPr>
              <a:t>THE BELIEF</a:t>
            </a:r>
            <a:endParaRPr lang="en-US" sz="1000" dirty="0"/>
          </a:p>
        </p:txBody>
      </p:sp>
      <p:sp>
        <p:nvSpPr>
          <p:cNvPr id="5" name="Text 3"/>
          <p:cNvSpPr/>
          <p:nvPr/>
        </p:nvSpPr>
        <p:spPr>
          <a:xfrm>
            <a:off x="5166360" y="1691640"/>
            <a:ext cx="5486400" cy="228600"/>
          </a:xfrm>
          <a:prstGeom prst="rect">
            <a:avLst/>
          </a:prstGeom>
          <a:noFill/>
        </p:spPr>
        <p:txBody>
          <a:bodyPr wrap="square" lIns="0" tIns="0" rIns="0" bIns="0" rtlCol="0" anchor="t"/>
          <a:lstStyle/>
          <a:p>
            <a:pPr marL="0" indent="0">
              <a:buNone/>
            </a:pPr>
            <a:r>
              <a:rPr lang="en-US" sz="1000" b="1" kern="0" spc="300" dirty="0">
                <a:solidFill>
                  <a:srgbClr val="0072A8"/>
                </a:solidFill>
                <a:latin typeface="Calibri" pitchFamily="34" charset="0"/>
                <a:ea typeface="Calibri" pitchFamily="34" charset="-122"/>
                <a:cs typeface="Calibri" pitchFamily="34" charset="-120"/>
              </a:rPr>
              <a:t>WHAT IS ACTUALLY TRUE</a:t>
            </a:r>
            <a:endParaRPr lang="en-US" sz="1000" dirty="0"/>
          </a:p>
        </p:txBody>
      </p:sp>
      <p:sp>
        <p:nvSpPr>
          <p:cNvPr id="6" name="Shape 4"/>
          <p:cNvSpPr/>
          <p:nvPr/>
        </p:nvSpPr>
        <p:spPr>
          <a:xfrm>
            <a:off x="548640" y="2011680"/>
            <a:ext cx="4206240" cy="1417320"/>
          </a:xfrm>
          <a:prstGeom prst="roundRect">
            <a:avLst>
              <a:gd name="adj" fmla="val 7742"/>
            </a:avLst>
          </a:prstGeom>
          <a:solidFill>
            <a:srgbClr val="F1EDE4"/>
          </a:solidFill>
          <a:ln w="9525">
            <a:solidFill>
              <a:srgbClr val="F1EDE4"/>
            </a:solidFill>
            <a:prstDash val="solid"/>
          </a:ln>
        </p:spPr>
      </p:sp>
      <p:sp>
        <p:nvSpPr>
          <p:cNvPr id="7" name="Text 5"/>
          <p:cNvSpPr/>
          <p:nvPr/>
        </p:nvSpPr>
        <p:spPr>
          <a:xfrm>
            <a:off x="804672" y="2194560"/>
            <a:ext cx="3749040" cy="1051560"/>
          </a:xfrm>
          <a:prstGeom prst="rect">
            <a:avLst/>
          </a:prstGeom>
          <a:noFill/>
        </p:spPr>
        <p:txBody>
          <a:bodyPr wrap="square" lIns="0" tIns="0" rIns="0" bIns="0" rtlCol="0" anchor="ctr"/>
          <a:lstStyle/>
          <a:p>
            <a:pPr marL="0" indent="0">
              <a:lnSpc>
                <a:spcPct val="112000"/>
              </a:lnSpc>
              <a:buNone/>
            </a:pPr>
            <a:r>
              <a:rPr lang="en-US" sz="1550" i="1" dirty="0">
                <a:solidFill>
                  <a:srgbClr val="22303C"/>
                </a:solidFill>
                <a:latin typeface="Cambria" pitchFamily="34" charset="0"/>
                <a:ea typeface="Cambria" pitchFamily="34" charset="-122"/>
                <a:cs typeface="Cambria" pitchFamily="34" charset="-120"/>
              </a:rPr>
              <a:t>“Patient data will leave the country, or train someone’s model.”</a:t>
            </a:r>
            <a:endParaRPr lang="en-US" sz="1550" dirty="0"/>
          </a:p>
        </p:txBody>
      </p:sp>
      <p:pic>
        <p:nvPicPr>
          <p:cNvPr id="8" name="Image 0" descr="preencoded.png"/>
          <p:cNvPicPr>
            <a:picLocks noChangeAspect="1"/>
          </p:cNvPicPr>
          <p:nvPr/>
        </p:nvPicPr>
        <p:blipFill>
          <a:blip r:embed="rId1"/>
          <a:stretch>
            <a:fillRect/>
          </a:stretch>
        </p:blipFill>
        <p:spPr>
          <a:xfrm>
            <a:off x="4828032" y="2564892"/>
            <a:ext cx="310896" cy="310896"/>
          </a:xfrm>
          <a:prstGeom prst="rect">
            <a:avLst/>
          </a:prstGeom>
        </p:spPr>
      </p:pic>
      <p:sp>
        <p:nvSpPr>
          <p:cNvPr id="9" name="Text 6"/>
          <p:cNvSpPr/>
          <p:nvPr/>
        </p:nvSpPr>
        <p:spPr>
          <a:xfrm>
            <a:off x="5166360" y="2084832"/>
            <a:ext cx="6476695" cy="1325880"/>
          </a:xfrm>
          <a:prstGeom prst="rect">
            <a:avLst/>
          </a:prstGeom>
          <a:noFill/>
        </p:spPr>
        <p:txBody>
          <a:bodyPr wrap="square" lIns="0" tIns="0" rIns="0" bIns="0" rtlCol="0" anchor="ctr"/>
          <a:lstStyle/>
          <a:p>
            <a:pPr marL="0" indent="0">
              <a:lnSpc>
                <a:spcPct val="115000"/>
              </a:lnSpc>
              <a:buNone/>
            </a:pPr>
            <a:r>
              <a:rPr lang="en-US" sz="1200" dirty="0">
                <a:solidFill>
                  <a:srgbClr val="3A4756"/>
                </a:solidFill>
                <a:latin typeface="Calibri" pitchFamily="34" charset="0"/>
                <a:ea typeface="Calibri" pitchFamily="34" charset="-122"/>
                <a:cs typeface="Calibri" pitchFamily="34" charset="-120"/>
              </a:rPr>
              <a:t>Data residency is pinned to India; backups and replicas stay in region. Contracts require zero retention and no training on tenant data. For a no-egress posture, the model runs inside the hospital’s own cell on open-weight models. Embeddings are treated as PHI.</a:t>
            </a:r>
            <a:endParaRPr lang="en-US" sz="1200" dirty="0"/>
          </a:p>
        </p:txBody>
      </p:sp>
      <p:sp>
        <p:nvSpPr>
          <p:cNvPr id="10" name="Shape 7"/>
          <p:cNvSpPr/>
          <p:nvPr/>
        </p:nvSpPr>
        <p:spPr>
          <a:xfrm>
            <a:off x="548640" y="3593592"/>
            <a:ext cx="4206240" cy="1417320"/>
          </a:xfrm>
          <a:prstGeom prst="roundRect">
            <a:avLst>
              <a:gd name="adj" fmla="val 7742"/>
            </a:avLst>
          </a:prstGeom>
          <a:solidFill>
            <a:srgbClr val="F1EDE4"/>
          </a:solidFill>
          <a:ln w="9525">
            <a:solidFill>
              <a:srgbClr val="F1EDE4"/>
            </a:solidFill>
            <a:prstDash val="solid"/>
          </a:ln>
        </p:spPr>
      </p:sp>
      <p:sp>
        <p:nvSpPr>
          <p:cNvPr id="11" name="Text 8"/>
          <p:cNvSpPr/>
          <p:nvPr/>
        </p:nvSpPr>
        <p:spPr>
          <a:xfrm>
            <a:off x="804672" y="3776472"/>
            <a:ext cx="3749040" cy="1051560"/>
          </a:xfrm>
          <a:prstGeom prst="rect">
            <a:avLst/>
          </a:prstGeom>
          <a:noFill/>
        </p:spPr>
        <p:txBody>
          <a:bodyPr wrap="square" lIns="0" tIns="0" rIns="0" bIns="0" rtlCol="0" anchor="ctr"/>
          <a:lstStyle/>
          <a:p>
            <a:pPr marL="0" indent="0">
              <a:lnSpc>
                <a:spcPct val="112000"/>
              </a:lnSpc>
              <a:buNone/>
            </a:pPr>
            <a:r>
              <a:rPr lang="en-US" sz="1550" i="1" dirty="0">
                <a:solidFill>
                  <a:srgbClr val="22303C"/>
                </a:solidFill>
                <a:latin typeface="Cambria" pitchFamily="34" charset="0"/>
                <a:ea typeface="Cambria" pitchFamily="34" charset="-122"/>
                <a:cs typeface="Cambria" pitchFamily="34" charset="-120"/>
              </a:rPr>
              <a:t>“Sharing records outside the hospital is a legal exposure.”</a:t>
            </a:r>
            <a:endParaRPr lang="en-US" sz="1550" dirty="0"/>
          </a:p>
        </p:txBody>
      </p:sp>
      <p:pic>
        <p:nvPicPr>
          <p:cNvPr id="12" name="Image 1" descr="preencoded.png"/>
          <p:cNvPicPr>
            <a:picLocks noChangeAspect="1"/>
          </p:cNvPicPr>
          <p:nvPr/>
        </p:nvPicPr>
        <p:blipFill>
          <a:blip r:embed="rId1"/>
          <a:stretch>
            <a:fillRect/>
          </a:stretch>
        </p:blipFill>
        <p:spPr>
          <a:xfrm>
            <a:off x="4828032" y="4146804"/>
            <a:ext cx="310896" cy="310896"/>
          </a:xfrm>
          <a:prstGeom prst="rect">
            <a:avLst/>
          </a:prstGeom>
        </p:spPr>
      </p:pic>
      <p:sp>
        <p:nvSpPr>
          <p:cNvPr id="13" name="Text 9"/>
          <p:cNvSpPr/>
          <p:nvPr/>
        </p:nvSpPr>
        <p:spPr>
          <a:xfrm>
            <a:off x="5166360" y="3666744"/>
            <a:ext cx="6476695" cy="1325880"/>
          </a:xfrm>
          <a:prstGeom prst="rect">
            <a:avLst/>
          </a:prstGeom>
          <a:noFill/>
        </p:spPr>
        <p:txBody>
          <a:bodyPr wrap="square" lIns="0" tIns="0" rIns="0" bIns="0" rtlCol="0" anchor="ctr"/>
          <a:lstStyle/>
          <a:p>
            <a:pPr marL="0" indent="0">
              <a:lnSpc>
                <a:spcPct val="115000"/>
              </a:lnSpc>
              <a:buNone/>
            </a:pPr>
            <a:r>
              <a:rPr lang="en-US" sz="1200" dirty="0">
                <a:solidFill>
                  <a:srgbClr val="3A4756"/>
                </a:solidFill>
                <a:latin typeface="Calibri" pitchFamily="34" charset="0"/>
                <a:ea typeface="Calibri" pitchFamily="34" charset="-122"/>
                <a:cs typeface="Calibri" pitchFamily="34" charset="-120"/>
              </a:rPr>
              <a:t>Consent is a first-class object: scoped by category, duration and purpose, evaluated on every read, revocable instantly. Every access sits in an append-only, tamper-evident log the patient can also see. This is the DPDPA 2023 posture written into the product.</a:t>
            </a:r>
            <a:endParaRPr lang="en-US" sz="1200" dirty="0"/>
          </a:p>
        </p:txBody>
      </p:sp>
      <p:sp>
        <p:nvSpPr>
          <p:cNvPr id="14" name="Shape 10"/>
          <p:cNvSpPr/>
          <p:nvPr/>
        </p:nvSpPr>
        <p:spPr>
          <a:xfrm>
            <a:off x="548640" y="5175504"/>
            <a:ext cx="4206240" cy="1417320"/>
          </a:xfrm>
          <a:prstGeom prst="roundRect">
            <a:avLst>
              <a:gd name="adj" fmla="val 7742"/>
            </a:avLst>
          </a:prstGeom>
          <a:solidFill>
            <a:srgbClr val="F1EDE4"/>
          </a:solidFill>
          <a:ln w="9525">
            <a:solidFill>
              <a:srgbClr val="F1EDE4"/>
            </a:solidFill>
            <a:prstDash val="solid"/>
          </a:ln>
        </p:spPr>
      </p:sp>
      <p:sp>
        <p:nvSpPr>
          <p:cNvPr id="15" name="Text 11"/>
          <p:cNvSpPr/>
          <p:nvPr/>
        </p:nvSpPr>
        <p:spPr>
          <a:xfrm>
            <a:off x="804672" y="5358384"/>
            <a:ext cx="3749040" cy="1051560"/>
          </a:xfrm>
          <a:prstGeom prst="rect">
            <a:avLst/>
          </a:prstGeom>
          <a:noFill/>
        </p:spPr>
        <p:txBody>
          <a:bodyPr wrap="square" lIns="0" tIns="0" rIns="0" bIns="0" rtlCol="0" anchor="ctr"/>
          <a:lstStyle/>
          <a:p>
            <a:pPr marL="0" indent="0">
              <a:lnSpc>
                <a:spcPct val="112000"/>
              </a:lnSpc>
              <a:buNone/>
            </a:pPr>
            <a:r>
              <a:rPr lang="en-US" sz="1550" i="1" dirty="0">
                <a:solidFill>
                  <a:srgbClr val="22303C"/>
                </a:solidFill>
                <a:latin typeface="Cambria" pitchFamily="34" charset="0"/>
                <a:ea typeface="Cambria" pitchFamily="34" charset="-122"/>
                <a:cs typeface="Cambria" pitchFamily="34" charset="-120"/>
              </a:rPr>
              <a:t>“Doctors will not change how they work. And who is liable?”</a:t>
            </a:r>
            <a:endParaRPr lang="en-US" sz="1550" dirty="0"/>
          </a:p>
        </p:txBody>
      </p:sp>
      <p:pic>
        <p:nvPicPr>
          <p:cNvPr id="16" name="Image 2" descr="preencoded.png"/>
          <p:cNvPicPr>
            <a:picLocks noChangeAspect="1"/>
          </p:cNvPicPr>
          <p:nvPr/>
        </p:nvPicPr>
        <p:blipFill>
          <a:blip r:embed="rId1"/>
          <a:stretch>
            <a:fillRect/>
          </a:stretch>
        </p:blipFill>
        <p:spPr>
          <a:xfrm>
            <a:off x="4828032" y="5728716"/>
            <a:ext cx="310896" cy="310896"/>
          </a:xfrm>
          <a:prstGeom prst="rect">
            <a:avLst/>
          </a:prstGeom>
        </p:spPr>
      </p:pic>
      <p:sp>
        <p:nvSpPr>
          <p:cNvPr id="17" name="Text 12"/>
          <p:cNvSpPr/>
          <p:nvPr/>
        </p:nvSpPr>
        <p:spPr>
          <a:xfrm>
            <a:off x="5166360" y="5248656"/>
            <a:ext cx="6476695" cy="1325880"/>
          </a:xfrm>
          <a:prstGeom prst="rect">
            <a:avLst/>
          </a:prstGeom>
          <a:noFill/>
        </p:spPr>
        <p:txBody>
          <a:bodyPr wrap="square" lIns="0" tIns="0" rIns="0" bIns="0" rtlCol="0" anchor="ctr"/>
          <a:lstStyle/>
          <a:p>
            <a:pPr marL="0" indent="0">
              <a:lnSpc>
                <a:spcPct val="115000"/>
              </a:lnSpc>
              <a:buNone/>
            </a:pPr>
            <a:r>
              <a:rPr lang="en-US" sz="1200" dirty="0">
                <a:solidFill>
                  <a:srgbClr val="3A4756"/>
                </a:solidFill>
                <a:latin typeface="Calibri" pitchFamily="34" charset="0"/>
                <a:ea typeface="Calibri" pitchFamily="34" charset="-122"/>
                <a:cs typeface="Calibri" pitchFamily="34" charset="-120"/>
              </a:rPr>
              <a:t>The only new gesture is a scan. Notes can be dictated. Nothing enters the record without the doctor’s signature, and every override is flagged. Clinical responsibility stays exactly where it is today: with the clinician, now holding a complete file.</a:t>
            </a:r>
            <a:endParaRPr lang="en-US" sz="1200" dirty="0"/>
          </a:p>
        </p:txBody>
      </p:sp>
      <p:sp>
        <p:nvSpPr>
          <p:cNvPr id="18" name="Text 13"/>
          <p:cNvSpPr/>
          <p:nvPr/>
        </p:nvSpPr>
        <p:spPr>
          <a:xfrm>
            <a:off x="11277295" y="6473952"/>
            <a:ext cx="365760" cy="228600"/>
          </a:xfrm>
          <a:prstGeom prst="rect">
            <a:avLst/>
          </a:prstGeom>
          <a:noFill/>
        </p:spPr>
        <p:txBody>
          <a:bodyPr wrap="square" lIns="0" tIns="0" rIns="0" bIns="0" rtlCol="0" anchor="t"/>
          <a:lstStyle/>
          <a:p>
            <a:pPr marL="0" indent="0" algn="r">
              <a:buNone/>
            </a:pPr>
            <a:r>
              <a:rPr lang="en-US" sz="900" dirty="0">
                <a:solidFill>
                  <a:srgbClr val="7D868E"/>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AF7F1"/>
        </a:solidFill>
        <a:effectLst/>
      </p:bgPr>
    </p:bg>
    <p:spTree>
      <p:nvGrpSpPr>
        <p:cNvPr id="1" name=""/>
        <p:cNvGrpSpPr/>
        <p:nvPr/>
      </p:nvGrpSpPr>
      <p:grpSpPr>
        <a:xfrm>
          <a:off x="0" y="0"/>
          <a:ext cx="0" cy="0"/>
          <a:chOff x="0" y="0"/>
          <a:chExt cx="0" cy="0"/>
        </a:xfrm>
      </p:grpSpPr>
      <p:sp>
        <p:nvSpPr>
          <p:cNvPr id="2" name="Text 0"/>
          <p:cNvSpPr/>
          <p:nvPr/>
        </p:nvSpPr>
        <p:spPr>
          <a:xfrm>
            <a:off x="548640" y="502920"/>
            <a:ext cx="5486400" cy="274320"/>
          </a:xfrm>
          <a:prstGeom prst="rect">
            <a:avLst/>
          </a:prstGeom>
          <a:noFill/>
        </p:spPr>
        <p:txBody>
          <a:bodyPr wrap="square" lIns="0" tIns="0" rIns="0" bIns="0" rtlCol="0" anchor="t"/>
          <a:lstStyle/>
          <a:p>
            <a:pPr marL="0" indent="0">
              <a:buNone/>
            </a:pPr>
            <a:r>
              <a:rPr lang="en-US" sz="1050" b="1" kern="0" spc="300" dirty="0">
                <a:solidFill>
                  <a:srgbClr val="0072A8"/>
                </a:solidFill>
                <a:latin typeface="Calibri" pitchFamily="34" charset="0"/>
                <a:ea typeface="Calibri" pitchFamily="34" charset="-122"/>
                <a:cs typeface="Calibri" pitchFamily="34" charset="-120"/>
              </a:rPr>
              <a:t>SECURITY AND COMPLIANCE</a:t>
            </a:r>
            <a:endParaRPr lang="en-US" sz="1050" dirty="0"/>
          </a:p>
        </p:txBody>
      </p:sp>
      <p:sp>
        <p:nvSpPr>
          <p:cNvPr id="3" name="Text 1"/>
          <p:cNvSpPr/>
          <p:nvPr/>
        </p:nvSpPr>
        <p:spPr>
          <a:xfrm>
            <a:off x="548640" y="822960"/>
            <a:ext cx="9144000" cy="731520"/>
          </a:xfrm>
          <a:prstGeom prst="rect">
            <a:avLst/>
          </a:prstGeom>
          <a:noFill/>
        </p:spPr>
        <p:txBody>
          <a:bodyPr wrap="square" lIns="0" tIns="0" rIns="0" bIns="0" rtlCol="0" anchor="t"/>
          <a:lstStyle/>
          <a:p>
            <a:pPr marL="0" indent="0">
              <a:buNone/>
            </a:pPr>
            <a:r>
              <a:rPr lang="en-US" sz="3200" dirty="0">
                <a:solidFill>
                  <a:srgbClr val="22303C"/>
                </a:solidFill>
                <a:latin typeface="Cambria" pitchFamily="34" charset="0"/>
                <a:ea typeface="Cambria" pitchFamily="34" charset="-122"/>
                <a:cs typeface="Cambria" pitchFamily="34" charset="-120"/>
              </a:rPr>
              <a:t>Security is the foundation, not a feature.</a:t>
            </a:r>
            <a:endParaRPr lang="en-US" sz="3200" dirty="0"/>
          </a:p>
        </p:txBody>
      </p:sp>
      <p:sp>
        <p:nvSpPr>
          <p:cNvPr id="4" name="Shape 2"/>
          <p:cNvSpPr/>
          <p:nvPr/>
        </p:nvSpPr>
        <p:spPr>
          <a:xfrm>
            <a:off x="548640" y="1691640"/>
            <a:ext cx="3545738" cy="1207008"/>
          </a:xfrm>
          <a:prstGeom prst="roundRect">
            <a:avLst>
              <a:gd name="adj" fmla="val 9091"/>
            </a:avLst>
          </a:prstGeom>
          <a:solidFill>
            <a:srgbClr val="FFFFFF"/>
          </a:solidFill>
          <a:ln w="9525">
            <a:solidFill>
              <a:srgbClr val="ECE7DD"/>
            </a:solidFill>
            <a:prstDash val="solid"/>
          </a:ln>
          <a:effectLst>
            <a:outerShdw blurRad="101600" dist="25400" dir="5400000" algn="bl" rotWithShape="0">
              <a:srgbClr val="22303C">
                <a:alpha val="10000"/>
              </a:srgbClr>
            </a:outerShdw>
          </a:effectLst>
        </p:spPr>
      </p:sp>
      <p:pic>
        <p:nvPicPr>
          <p:cNvPr id="5" name="Image 0" descr="preencoded.png"/>
          <p:cNvPicPr>
            <a:picLocks noChangeAspect="1"/>
          </p:cNvPicPr>
          <p:nvPr/>
        </p:nvPicPr>
        <p:blipFill>
          <a:blip r:embed="rId1"/>
          <a:stretch>
            <a:fillRect/>
          </a:stretch>
        </p:blipFill>
        <p:spPr>
          <a:xfrm>
            <a:off x="749808" y="1911096"/>
            <a:ext cx="420624" cy="420624"/>
          </a:xfrm>
          <a:prstGeom prst="rect">
            <a:avLst/>
          </a:prstGeom>
        </p:spPr>
      </p:pic>
      <p:sp>
        <p:nvSpPr>
          <p:cNvPr id="6" name="Text 3"/>
          <p:cNvSpPr/>
          <p:nvPr/>
        </p:nvSpPr>
        <p:spPr>
          <a:xfrm>
            <a:off x="1298448" y="1874520"/>
            <a:ext cx="2631338" cy="274320"/>
          </a:xfrm>
          <a:prstGeom prst="rect">
            <a:avLst/>
          </a:prstGeom>
          <a:noFill/>
        </p:spPr>
        <p:txBody>
          <a:bodyPr wrap="square" lIns="0" tIns="0" rIns="0" bIns="0" rtlCol="0" anchor="t"/>
          <a:lstStyle/>
          <a:p>
            <a:pPr marL="0" indent="0">
              <a:buNone/>
            </a:pPr>
            <a:r>
              <a:rPr lang="en-US" sz="1350" b="1" dirty="0">
                <a:solidFill>
                  <a:srgbClr val="22303C"/>
                </a:solidFill>
                <a:latin typeface="Calibri" pitchFamily="34" charset="0"/>
                <a:ea typeface="Calibri" pitchFamily="34" charset="-122"/>
                <a:cs typeface="Calibri" pitchFamily="34" charset="-120"/>
              </a:rPr>
              <a:t>AES-256 at rest</a:t>
            </a:r>
            <a:endParaRPr lang="en-US" sz="1350" dirty="0"/>
          </a:p>
        </p:txBody>
      </p:sp>
      <p:sp>
        <p:nvSpPr>
          <p:cNvPr id="7" name="Text 4"/>
          <p:cNvSpPr/>
          <p:nvPr/>
        </p:nvSpPr>
        <p:spPr>
          <a:xfrm>
            <a:off x="1298448" y="2148840"/>
            <a:ext cx="2631338" cy="731520"/>
          </a:xfrm>
          <a:prstGeom prst="rect">
            <a:avLst/>
          </a:prstGeom>
          <a:noFill/>
        </p:spPr>
        <p:txBody>
          <a:bodyPr wrap="square" lIns="0" tIns="0" rIns="0" bIns="0" rtlCol="0" anchor="t"/>
          <a:lstStyle/>
          <a:p>
            <a:pPr marL="0" indent="0">
              <a:lnSpc>
                <a:spcPct val="110000"/>
              </a:lnSpc>
              <a:buNone/>
            </a:pPr>
            <a:r>
              <a:rPr lang="en-US" sz="1050" dirty="0">
                <a:solidFill>
                  <a:srgbClr val="3A4756"/>
                </a:solidFill>
                <a:latin typeface="Calibri" pitchFamily="34" charset="0"/>
                <a:ea typeface="Calibri" pitchFamily="34" charset="-122"/>
                <a:cs typeface="Calibri" pitchFamily="34" charset="-120"/>
              </a:rPr>
              <a:t>Per-tenant keys. One leaked key exposes one tenant only.</a:t>
            </a:r>
            <a:endParaRPr lang="en-US" sz="1050" dirty="0"/>
          </a:p>
        </p:txBody>
      </p:sp>
      <p:sp>
        <p:nvSpPr>
          <p:cNvPr id="8" name="Shape 5"/>
          <p:cNvSpPr/>
          <p:nvPr/>
        </p:nvSpPr>
        <p:spPr>
          <a:xfrm>
            <a:off x="4322978" y="1691640"/>
            <a:ext cx="3545738" cy="1207008"/>
          </a:xfrm>
          <a:prstGeom prst="roundRect">
            <a:avLst>
              <a:gd name="adj" fmla="val 9091"/>
            </a:avLst>
          </a:prstGeom>
          <a:solidFill>
            <a:srgbClr val="FFFFFF"/>
          </a:solidFill>
          <a:ln w="9525">
            <a:solidFill>
              <a:srgbClr val="ECE7DD"/>
            </a:solidFill>
            <a:prstDash val="solid"/>
          </a:ln>
          <a:effectLst>
            <a:outerShdw blurRad="101600" dist="25400" dir="5400000" algn="bl" rotWithShape="0">
              <a:srgbClr val="22303C">
                <a:alpha val="10000"/>
              </a:srgbClr>
            </a:outerShdw>
          </a:effectLst>
        </p:spPr>
      </p:sp>
      <p:pic>
        <p:nvPicPr>
          <p:cNvPr id="9" name="Image 1" descr="preencoded.png"/>
          <p:cNvPicPr>
            <a:picLocks noChangeAspect="1"/>
          </p:cNvPicPr>
          <p:nvPr/>
        </p:nvPicPr>
        <p:blipFill>
          <a:blip r:embed="rId2"/>
          <a:stretch>
            <a:fillRect/>
          </a:stretch>
        </p:blipFill>
        <p:spPr>
          <a:xfrm>
            <a:off x="4524146" y="1911096"/>
            <a:ext cx="420624" cy="420624"/>
          </a:xfrm>
          <a:prstGeom prst="rect">
            <a:avLst/>
          </a:prstGeom>
        </p:spPr>
      </p:pic>
      <p:sp>
        <p:nvSpPr>
          <p:cNvPr id="10" name="Text 6"/>
          <p:cNvSpPr/>
          <p:nvPr/>
        </p:nvSpPr>
        <p:spPr>
          <a:xfrm>
            <a:off x="5072786" y="1874520"/>
            <a:ext cx="2631338" cy="274320"/>
          </a:xfrm>
          <a:prstGeom prst="rect">
            <a:avLst/>
          </a:prstGeom>
          <a:noFill/>
        </p:spPr>
        <p:txBody>
          <a:bodyPr wrap="square" lIns="0" tIns="0" rIns="0" bIns="0" rtlCol="0" anchor="t"/>
          <a:lstStyle/>
          <a:p>
            <a:pPr marL="0" indent="0">
              <a:buNone/>
            </a:pPr>
            <a:r>
              <a:rPr lang="en-US" sz="1350" b="1" dirty="0">
                <a:solidFill>
                  <a:srgbClr val="22303C"/>
                </a:solidFill>
                <a:latin typeface="Calibri" pitchFamily="34" charset="0"/>
                <a:ea typeface="Calibri" pitchFamily="34" charset="-122"/>
                <a:cs typeface="Calibri" pitchFamily="34" charset="-120"/>
              </a:rPr>
              <a:t>TLS 1.3 in transit</a:t>
            </a:r>
            <a:endParaRPr lang="en-US" sz="1350" dirty="0"/>
          </a:p>
        </p:txBody>
      </p:sp>
      <p:sp>
        <p:nvSpPr>
          <p:cNvPr id="11" name="Text 7"/>
          <p:cNvSpPr/>
          <p:nvPr/>
        </p:nvSpPr>
        <p:spPr>
          <a:xfrm>
            <a:off x="5072786" y="2148840"/>
            <a:ext cx="2631338" cy="731520"/>
          </a:xfrm>
          <a:prstGeom prst="rect">
            <a:avLst/>
          </a:prstGeom>
          <a:noFill/>
        </p:spPr>
        <p:txBody>
          <a:bodyPr wrap="square" lIns="0" tIns="0" rIns="0" bIns="0" rtlCol="0" anchor="t"/>
          <a:lstStyle/>
          <a:p>
            <a:pPr marL="0" indent="0">
              <a:lnSpc>
                <a:spcPct val="110000"/>
              </a:lnSpc>
              <a:buNone/>
            </a:pPr>
            <a:r>
              <a:rPr lang="en-US" sz="1050" dirty="0">
                <a:solidFill>
                  <a:srgbClr val="3A4756"/>
                </a:solidFill>
                <a:latin typeface="Calibri" pitchFamily="34" charset="0"/>
                <a:ea typeface="Calibri" pitchFamily="34" charset="-122"/>
                <a:cs typeface="Calibri" pitchFamily="34" charset="-120"/>
              </a:rPr>
              <a:t>Certificate pinning and root detection in the clinical apps.</a:t>
            </a:r>
            <a:endParaRPr lang="en-US" sz="1050" dirty="0"/>
          </a:p>
        </p:txBody>
      </p:sp>
      <p:sp>
        <p:nvSpPr>
          <p:cNvPr id="12" name="Shape 8"/>
          <p:cNvSpPr/>
          <p:nvPr/>
        </p:nvSpPr>
        <p:spPr>
          <a:xfrm>
            <a:off x="8097317" y="1691640"/>
            <a:ext cx="3545738" cy="1207008"/>
          </a:xfrm>
          <a:prstGeom prst="roundRect">
            <a:avLst>
              <a:gd name="adj" fmla="val 9091"/>
            </a:avLst>
          </a:prstGeom>
          <a:solidFill>
            <a:srgbClr val="FFFFFF"/>
          </a:solidFill>
          <a:ln w="9525">
            <a:solidFill>
              <a:srgbClr val="ECE7DD"/>
            </a:solidFill>
            <a:prstDash val="solid"/>
          </a:ln>
          <a:effectLst>
            <a:outerShdw blurRad="101600" dist="25400" dir="5400000" algn="bl" rotWithShape="0">
              <a:srgbClr val="22303C">
                <a:alpha val="10000"/>
              </a:srgbClr>
            </a:outerShdw>
          </a:effectLst>
        </p:spPr>
      </p:sp>
      <p:pic>
        <p:nvPicPr>
          <p:cNvPr id="13" name="Image 2" descr="preencoded.png"/>
          <p:cNvPicPr>
            <a:picLocks noChangeAspect="1"/>
          </p:cNvPicPr>
          <p:nvPr/>
        </p:nvPicPr>
        <p:blipFill>
          <a:blip r:embed="rId3"/>
          <a:stretch>
            <a:fillRect/>
          </a:stretch>
        </p:blipFill>
        <p:spPr>
          <a:xfrm>
            <a:off x="8298485" y="1911096"/>
            <a:ext cx="420624" cy="420624"/>
          </a:xfrm>
          <a:prstGeom prst="rect">
            <a:avLst/>
          </a:prstGeom>
        </p:spPr>
      </p:pic>
      <p:sp>
        <p:nvSpPr>
          <p:cNvPr id="14" name="Text 9"/>
          <p:cNvSpPr/>
          <p:nvPr/>
        </p:nvSpPr>
        <p:spPr>
          <a:xfrm>
            <a:off x="8847125" y="1874520"/>
            <a:ext cx="2631338" cy="274320"/>
          </a:xfrm>
          <a:prstGeom prst="rect">
            <a:avLst/>
          </a:prstGeom>
          <a:noFill/>
        </p:spPr>
        <p:txBody>
          <a:bodyPr wrap="square" lIns="0" tIns="0" rIns="0" bIns="0" rtlCol="0" anchor="t"/>
          <a:lstStyle/>
          <a:p>
            <a:pPr marL="0" indent="0">
              <a:buNone/>
            </a:pPr>
            <a:r>
              <a:rPr lang="en-US" sz="1350" b="1" dirty="0">
                <a:solidFill>
                  <a:srgbClr val="22303C"/>
                </a:solidFill>
                <a:latin typeface="Calibri" pitchFamily="34" charset="0"/>
                <a:ea typeface="Calibri" pitchFamily="34" charset="-122"/>
                <a:cs typeface="Calibri" pitchFamily="34" charset="-120"/>
              </a:rPr>
              <a:t>Tamper-evident audit</a:t>
            </a:r>
            <a:endParaRPr lang="en-US" sz="1350" dirty="0"/>
          </a:p>
        </p:txBody>
      </p:sp>
      <p:sp>
        <p:nvSpPr>
          <p:cNvPr id="15" name="Text 10"/>
          <p:cNvSpPr/>
          <p:nvPr/>
        </p:nvSpPr>
        <p:spPr>
          <a:xfrm>
            <a:off x="8847125" y="2148840"/>
            <a:ext cx="2631338" cy="731520"/>
          </a:xfrm>
          <a:prstGeom prst="rect">
            <a:avLst/>
          </a:prstGeom>
          <a:noFill/>
        </p:spPr>
        <p:txBody>
          <a:bodyPr wrap="square" lIns="0" tIns="0" rIns="0" bIns="0" rtlCol="0" anchor="t"/>
          <a:lstStyle/>
          <a:p>
            <a:pPr marL="0" indent="0">
              <a:lnSpc>
                <a:spcPct val="110000"/>
              </a:lnSpc>
              <a:buNone/>
            </a:pPr>
            <a:r>
              <a:rPr lang="en-US" sz="1050" dirty="0">
                <a:solidFill>
                  <a:srgbClr val="3A4756"/>
                </a:solidFill>
                <a:latin typeface="Calibri" pitchFamily="34" charset="0"/>
                <a:ea typeface="Calibri" pitchFamily="34" charset="-122"/>
                <a:cs typeface="Calibri" pitchFamily="34" charset="-120"/>
              </a:rPr>
              <a:t>Append-only, hash-chained, anchored daily. Exportable per hospital.</a:t>
            </a:r>
            <a:endParaRPr lang="en-US" sz="1050" dirty="0"/>
          </a:p>
        </p:txBody>
      </p:sp>
      <p:sp>
        <p:nvSpPr>
          <p:cNvPr id="16" name="Shape 11"/>
          <p:cNvSpPr/>
          <p:nvPr/>
        </p:nvSpPr>
        <p:spPr>
          <a:xfrm>
            <a:off x="548640" y="3063240"/>
            <a:ext cx="3545738" cy="1207008"/>
          </a:xfrm>
          <a:prstGeom prst="roundRect">
            <a:avLst>
              <a:gd name="adj" fmla="val 9091"/>
            </a:avLst>
          </a:prstGeom>
          <a:solidFill>
            <a:srgbClr val="FFFFFF"/>
          </a:solidFill>
          <a:ln w="9525">
            <a:solidFill>
              <a:srgbClr val="ECE7DD"/>
            </a:solidFill>
            <a:prstDash val="solid"/>
          </a:ln>
          <a:effectLst>
            <a:outerShdw blurRad="101600" dist="25400" dir="5400000" algn="bl" rotWithShape="0">
              <a:srgbClr val="22303C">
                <a:alpha val="10000"/>
              </a:srgbClr>
            </a:outerShdw>
          </a:effectLst>
        </p:spPr>
      </p:sp>
      <p:pic>
        <p:nvPicPr>
          <p:cNvPr id="17" name="Image 3" descr="preencoded.png"/>
          <p:cNvPicPr>
            <a:picLocks noChangeAspect="1"/>
          </p:cNvPicPr>
          <p:nvPr/>
        </p:nvPicPr>
        <p:blipFill>
          <a:blip r:embed="rId4"/>
          <a:stretch>
            <a:fillRect/>
          </a:stretch>
        </p:blipFill>
        <p:spPr>
          <a:xfrm>
            <a:off x="749808" y="3282696"/>
            <a:ext cx="420624" cy="420624"/>
          </a:xfrm>
          <a:prstGeom prst="rect">
            <a:avLst/>
          </a:prstGeom>
        </p:spPr>
      </p:pic>
      <p:sp>
        <p:nvSpPr>
          <p:cNvPr id="18" name="Text 12"/>
          <p:cNvSpPr/>
          <p:nvPr/>
        </p:nvSpPr>
        <p:spPr>
          <a:xfrm>
            <a:off x="1298448" y="3246120"/>
            <a:ext cx="2631338" cy="274320"/>
          </a:xfrm>
          <a:prstGeom prst="rect">
            <a:avLst/>
          </a:prstGeom>
          <a:noFill/>
        </p:spPr>
        <p:txBody>
          <a:bodyPr wrap="square" lIns="0" tIns="0" rIns="0" bIns="0" rtlCol="0" anchor="t"/>
          <a:lstStyle/>
          <a:p>
            <a:pPr marL="0" indent="0">
              <a:buNone/>
            </a:pPr>
            <a:r>
              <a:rPr lang="en-US" sz="1350" b="1" dirty="0">
                <a:solidFill>
                  <a:srgbClr val="22303C"/>
                </a:solidFill>
                <a:latin typeface="Calibri" pitchFamily="34" charset="0"/>
                <a:ea typeface="Calibri" pitchFamily="34" charset="-122"/>
                <a:cs typeface="Calibri" pitchFamily="34" charset="-120"/>
              </a:rPr>
              <a:t>Data stays in India</a:t>
            </a:r>
            <a:endParaRPr lang="en-US" sz="1350" dirty="0"/>
          </a:p>
        </p:txBody>
      </p:sp>
      <p:sp>
        <p:nvSpPr>
          <p:cNvPr id="19" name="Text 13"/>
          <p:cNvSpPr/>
          <p:nvPr/>
        </p:nvSpPr>
        <p:spPr>
          <a:xfrm>
            <a:off x="1298448" y="3520440"/>
            <a:ext cx="2631338" cy="731520"/>
          </a:xfrm>
          <a:prstGeom prst="rect">
            <a:avLst/>
          </a:prstGeom>
          <a:noFill/>
        </p:spPr>
        <p:txBody>
          <a:bodyPr wrap="square" lIns="0" tIns="0" rIns="0" bIns="0" rtlCol="0" anchor="t"/>
          <a:lstStyle/>
          <a:p>
            <a:pPr marL="0" indent="0">
              <a:lnSpc>
                <a:spcPct val="110000"/>
              </a:lnSpc>
              <a:buNone/>
            </a:pPr>
            <a:r>
              <a:rPr lang="en-US" sz="1050" dirty="0">
                <a:solidFill>
                  <a:srgbClr val="3A4756"/>
                </a:solidFill>
                <a:latin typeface="Calibri" pitchFamily="34" charset="0"/>
                <a:ea typeface="Calibri" pitchFamily="34" charset="-122"/>
                <a:cs typeface="Calibri" pitchFamily="34" charset="-120"/>
              </a:rPr>
              <a:t>Residency pinned per tenant. Backups and replicas never cross regions.</a:t>
            </a:r>
            <a:endParaRPr lang="en-US" sz="1050" dirty="0"/>
          </a:p>
        </p:txBody>
      </p:sp>
      <p:sp>
        <p:nvSpPr>
          <p:cNvPr id="20" name="Shape 14"/>
          <p:cNvSpPr/>
          <p:nvPr/>
        </p:nvSpPr>
        <p:spPr>
          <a:xfrm>
            <a:off x="4322978" y="3063240"/>
            <a:ext cx="3545738" cy="1207008"/>
          </a:xfrm>
          <a:prstGeom prst="roundRect">
            <a:avLst>
              <a:gd name="adj" fmla="val 9091"/>
            </a:avLst>
          </a:prstGeom>
          <a:solidFill>
            <a:srgbClr val="FFFFFF"/>
          </a:solidFill>
          <a:ln w="9525">
            <a:solidFill>
              <a:srgbClr val="ECE7DD"/>
            </a:solidFill>
            <a:prstDash val="solid"/>
          </a:ln>
          <a:effectLst>
            <a:outerShdw blurRad="101600" dist="25400" dir="5400000" algn="bl" rotWithShape="0">
              <a:srgbClr val="22303C">
                <a:alpha val="10000"/>
              </a:srgbClr>
            </a:outerShdw>
          </a:effectLst>
        </p:spPr>
      </p:sp>
      <p:pic>
        <p:nvPicPr>
          <p:cNvPr id="21" name="Image 4" descr="preencoded.png"/>
          <p:cNvPicPr>
            <a:picLocks noChangeAspect="1"/>
          </p:cNvPicPr>
          <p:nvPr/>
        </p:nvPicPr>
        <p:blipFill>
          <a:blip r:embed="rId5"/>
          <a:stretch>
            <a:fillRect/>
          </a:stretch>
        </p:blipFill>
        <p:spPr>
          <a:xfrm>
            <a:off x="4524146" y="3282696"/>
            <a:ext cx="420624" cy="420624"/>
          </a:xfrm>
          <a:prstGeom prst="rect">
            <a:avLst/>
          </a:prstGeom>
        </p:spPr>
      </p:pic>
      <p:sp>
        <p:nvSpPr>
          <p:cNvPr id="22" name="Text 15"/>
          <p:cNvSpPr/>
          <p:nvPr/>
        </p:nvSpPr>
        <p:spPr>
          <a:xfrm>
            <a:off x="5072786" y="3246120"/>
            <a:ext cx="2631338" cy="274320"/>
          </a:xfrm>
          <a:prstGeom prst="rect">
            <a:avLst/>
          </a:prstGeom>
          <a:noFill/>
        </p:spPr>
        <p:txBody>
          <a:bodyPr wrap="square" lIns="0" tIns="0" rIns="0" bIns="0" rtlCol="0" anchor="t"/>
          <a:lstStyle/>
          <a:p>
            <a:pPr marL="0" indent="0">
              <a:buNone/>
            </a:pPr>
            <a:r>
              <a:rPr lang="en-US" sz="1350" b="1" dirty="0">
                <a:solidFill>
                  <a:srgbClr val="22303C"/>
                </a:solidFill>
                <a:latin typeface="Calibri" pitchFamily="34" charset="0"/>
                <a:ea typeface="Calibri" pitchFamily="34" charset="-122"/>
                <a:cs typeface="Calibri" pitchFamily="34" charset="-120"/>
              </a:rPr>
              <a:t>RPO ≤ 5 min · RTO ≤ 1 h</a:t>
            </a:r>
            <a:endParaRPr lang="en-US" sz="1350" dirty="0"/>
          </a:p>
        </p:txBody>
      </p:sp>
      <p:sp>
        <p:nvSpPr>
          <p:cNvPr id="23" name="Text 16"/>
          <p:cNvSpPr/>
          <p:nvPr/>
        </p:nvSpPr>
        <p:spPr>
          <a:xfrm>
            <a:off x="5072786" y="3520440"/>
            <a:ext cx="2631338" cy="731520"/>
          </a:xfrm>
          <a:prstGeom prst="rect">
            <a:avLst/>
          </a:prstGeom>
          <a:noFill/>
        </p:spPr>
        <p:txBody>
          <a:bodyPr wrap="square" lIns="0" tIns="0" rIns="0" bIns="0" rtlCol="0" anchor="t"/>
          <a:lstStyle/>
          <a:p>
            <a:pPr marL="0" indent="0">
              <a:lnSpc>
                <a:spcPct val="110000"/>
              </a:lnSpc>
              <a:buNone/>
            </a:pPr>
            <a:r>
              <a:rPr lang="en-US" sz="1050" dirty="0">
                <a:solidFill>
                  <a:srgbClr val="3A4756"/>
                </a:solidFill>
                <a:latin typeface="Calibri" pitchFamily="34" charset="0"/>
                <a:ea typeface="Calibri" pitchFamily="34" charset="-122"/>
                <a:cs typeface="Calibri" pitchFamily="34" charset="-120"/>
              </a:rPr>
              <a:t>Multi-zone by default. Restore drills. QR and emergency card serve from cache if the core degrades.</a:t>
            </a:r>
            <a:endParaRPr lang="en-US" sz="1050" dirty="0"/>
          </a:p>
        </p:txBody>
      </p:sp>
      <p:sp>
        <p:nvSpPr>
          <p:cNvPr id="24" name="Shape 17"/>
          <p:cNvSpPr/>
          <p:nvPr/>
        </p:nvSpPr>
        <p:spPr>
          <a:xfrm>
            <a:off x="8097317" y="3063240"/>
            <a:ext cx="3545738" cy="1207008"/>
          </a:xfrm>
          <a:prstGeom prst="roundRect">
            <a:avLst>
              <a:gd name="adj" fmla="val 9091"/>
            </a:avLst>
          </a:prstGeom>
          <a:solidFill>
            <a:srgbClr val="FFFFFF"/>
          </a:solidFill>
          <a:ln w="9525">
            <a:solidFill>
              <a:srgbClr val="ECE7DD"/>
            </a:solidFill>
            <a:prstDash val="solid"/>
          </a:ln>
          <a:effectLst>
            <a:outerShdw blurRad="101600" dist="25400" dir="5400000" algn="bl" rotWithShape="0">
              <a:srgbClr val="22303C">
                <a:alpha val="10000"/>
              </a:srgbClr>
            </a:outerShdw>
          </a:effectLst>
        </p:spPr>
      </p:sp>
      <p:pic>
        <p:nvPicPr>
          <p:cNvPr id="25" name="Image 5" descr="preencoded.png"/>
          <p:cNvPicPr>
            <a:picLocks noChangeAspect="1"/>
          </p:cNvPicPr>
          <p:nvPr/>
        </p:nvPicPr>
        <p:blipFill>
          <a:blip r:embed="rId6"/>
          <a:stretch>
            <a:fillRect/>
          </a:stretch>
        </p:blipFill>
        <p:spPr>
          <a:xfrm>
            <a:off x="8298485" y="3282696"/>
            <a:ext cx="420624" cy="420624"/>
          </a:xfrm>
          <a:prstGeom prst="rect">
            <a:avLst/>
          </a:prstGeom>
        </p:spPr>
      </p:pic>
      <p:sp>
        <p:nvSpPr>
          <p:cNvPr id="26" name="Text 18"/>
          <p:cNvSpPr/>
          <p:nvPr/>
        </p:nvSpPr>
        <p:spPr>
          <a:xfrm>
            <a:off x="8847125" y="3246120"/>
            <a:ext cx="2631338" cy="274320"/>
          </a:xfrm>
          <a:prstGeom prst="rect">
            <a:avLst/>
          </a:prstGeom>
          <a:noFill/>
        </p:spPr>
        <p:txBody>
          <a:bodyPr wrap="square" lIns="0" tIns="0" rIns="0" bIns="0" rtlCol="0" anchor="t"/>
          <a:lstStyle/>
          <a:p>
            <a:pPr marL="0" indent="0">
              <a:buNone/>
            </a:pPr>
            <a:r>
              <a:rPr lang="en-US" sz="1350" b="1" dirty="0">
                <a:solidFill>
                  <a:srgbClr val="22303C"/>
                </a:solidFill>
                <a:latin typeface="Calibri" pitchFamily="34" charset="0"/>
                <a:ea typeface="Calibri" pitchFamily="34" charset="-122"/>
                <a:cs typeface="Calibri" pitchFamily="34" charset="-120"/>
              </a:rPr>
              <a:t>QR token, not data</a:t>
            </a:r>
            <a:endParaRPr lang="en-US" sz="1350" dirty="0"/>
          </a:p>
        </p:txBody>
      </p:sp>
      <p:sp>
        <p:nvSpPr>
          <p:cNvPr id="27" name="Text 19"/>
          <p:cNvSpPr/>
          <p:nvPr/>
        </p:nvSpPr>
        <p:spPr>
          <a:xfrm>
            <a:off x="8847125" y="3520440"/>
            <a:ext cx="2631338" cy="731520"/>
          </a:xfrm>
          <a:prstGeom prst="rect">
            <a:avLst/>
          </a:prstGeom>
          <a:noFill/>
        </p:spPr>
        <p:txBody>
          <a:bodyPr wrap="square" lIns="0" tIns="0" rIns="0" bIns="0" rtlCol="0" anchor="t"/>
          <a:lstStyle/>
          <a:p>
            <a:pPr marL="0" indent="0">
              <a:lnSpc>
                <a:spcPct val="110000"/>
              </a:lnSpc>
              <a:buNone/>
            </a:pPr>
            <a:r>
              <a:rPr lang="en-US" sz="1050" dirty="0">
                <a:solidFill>
                  <a:srgbClr val="3A4756"/>
                </a:solidFill>
                <a:latin typeface="Calibri" pitchFamily="34" charset="0"/>
                <a:ea typeface="Calibri" pitchFamily="34" charset="-122"/>
                <a:cs typeface="Calibri" pitchFamily="34" charset="-120"/>
              </a:rPr>
              <a:t>Opaque, bound to the scanning session, rotates every five minutes, rate-limited, anti-replay.</a:t>
            </a:r>
            <a:endParaRPr lang="en-US" sz="1050" dirty="0"/>
          </a:p>
        </p:txBody>
      </p:sp>
      <p:sp>
        <p:nvSpPr>
          <p:cNvPr id="28" name="Shape 20"/>
          <p:cNvSpPr/>
          <p:nvPr/>
        </p:nvSpPr>
        <p:spPr>
          <a:xfrm>
            <a:off x="548640" y="4434840"/>
            <a:ext cx="3545738" cy="1207008"/>
          </a:xfrm>
          <a:prstGeom prst="roundRect">
            <a:avLst>
              <a:gd name="adj" fmla="val 9091"/>
            </a:avLst>
          </a:prstGeom>
          <a:solidFill>
            <a:srgbClr val="FFFFFF"/>
          </a:solidFill>
          <a:ln w="9525">
            <a:solidFill>
              <a:srgbClr val="ECE7DD"/>
            </a:solidFill>
            <a:prstDash val="solid"/>
          </a:ln>
          <a:effectLst>
            <a:outerShdw blurRad="101600" dist="25400" dir="5400000" algn="bl" rotWithShape="0">
              <a:srgbClr val="22303C">
                <a:alpha val="10000"/>
              </a:srgbClr>
            </a:outerShdw>
          </a:effectLst>
        </p:spPr>
      </p:sp>
      <p:pic>
        <p:nvPicPr>
          <p:cNvPr id="29" name="Image 6" descr="preencoded.png"/>
          <p:cNvPicPr>
            <a:picLocks noChangeAspect="1"/>
          </p:cNvPicPr>
          <p:nvPr/>
        </p:nvPicPr>
        <p:blipFill>
          <a:blip r:embed="rId7"/>
          <a:stretch>
            <a:fillRect/>
          </a:stretch>
        </p:blipFill>
        <p:spPr>
          <a:xfrm>
            <a:off x="749808" y="4654296"/>
            <a:ext cx="420624" cy="420624"/>
          </a:xfrm>
          <a:prstGeom prst="rect">
            <a:avLst/>
          </a:prstGeom>
        </p:spPr>
      </p:pic>
      <p:sp>
        <p:nvSpPr>
          <p:cNvPr id="30" name="Text 21"/>
          <p:cNvSpPr/>
          <p:nvPr/>
        </p:nvSpPr>
        <p:spPr>
          <a:xfrm>
            <a:off x="1298448" y="4617720"/>
            <a:ext cx="2631338" cy="274320"/>
          </a:xfrm>
          <a:prstGeom prst="rect">
            <a:avLst/>
          </a:prstGeom>
          <a:noFill/>
        </p:spPr>
        <p:txBody>
          <a:bodyPr wrap="square" lIns="0" tIns="0" rIns="0" bIns="0" rtlCol="0" anchor="t"/>
          <a:lstStyle/>
          <a:p>
            <a:pPr marL="0" indent="0">
              <a:buNone/>
            </a:pPr>
            <a:r>
              <a:rPr lang="en-US" sz="1350" b="1" dirty="0">
                <a:solidFill>
                  <a:srgbClr val="22303C"/>
                </a:solidFill>
                <a:latin typeface="Calibri" pitchFamily="34" charset="0"/>
                <a:ea typeface="Calibri" pitchFamily="34" charset="-122"/>
                <a:cs typeface="Calibri" pitchFamily="34" charset="-120"/>
              </a:rPr>
              <a:t>Your identity provider</a:t>
            </a:r>
            <a:endParaRPr lang="en-US" sz="1350" dirty="0"/>
          </a:p>
        </p:txBody>
      </p:sp>
      <p:sp>
        <p:nvSpPr>
          <p:cNvPr id="31" name="Text 22"/>
          <p:cNvSpPr/>
          <p:nvPr/>
        </p:nvSpPr>
        <p:spPr>
          <a:xfrm>
            <a:off x="1298448" y="4892040"/>
            <a:ext cx="2631338" cy="731520"/>
          </a:xfrm>
          <a:prstGeom prst="rect">
            <a:avLst/>
          </a:prstGeom>
          <a:noFill/>
        </p:spPr>
        <p:txBody>
          <a:bodyPr wrap="square" lIns="0" tIns="0" rIns="0" bIns="0" rtlCol="0" anchor="t"/>
          <a:lstStyle/>
          <a:p>
            <a:pPr marL="0" indent="0">
              <a:lnSpc>
                <a:spcPct val="110000"/>
              </a:lnSpc>
              <a:buNone/>
            </a:pPr>
            <a:r>
              <a:rPr lang="en-US" sz="1050" dirty="0">
                <a:solidFill>
                  <a:srgbClr val="3A4756"/>
                </a:solidFill>
                <a:latin typeface="Calibri" pitchFamily="34" charset="0"/>
                <a:ea typeface="Calibri" pitchFamily="34" charset="-122"/>
                <a:cs typeface="Calibri" pitchFamily="34" charset="-120"/>
              </a:rPr>
              <a:t>Doctors sign in through hospital SSO with MFA enforced. Professional-registry (HPR) verification ready.</a:t>
            </a:r>
            <a:endParaRPr lang="en-US" sz="1050" dirty="0"/>
          </a:p>
        </p:txBody>
      </p:sp>
      <p:sp>
        <p:nvSpPr>
          <p:cNvPr id="32" name="Shape 23"/>
          <p:cNvSpPr/>
          <p:nvPr/>
        </p:nvSpPr>
        <p:spPr>
          <a:xfrm>
            <a:off x="4322978" y="4434840"/>
            <a:ext cx="3545738" cy="1207008"/>
          </a:xfrm>
          <a:prstGeom prst="roundRect">
            <a:avLst>
              <a:gd name="adj" fmla="val 9091"/>
            </a:avLst>
          </a:prstGeom>
          <a:solidFill>
            <a:srgbClr val="FFFFFF"/>
          </a:solidFill>
          <a:ln w="9525">
            <a:solidFill>
              <a:srgbClr val="ECE7DD"/>
            </a:solidFill>
            <a:prstDash val="solid"/>
          </a:ln>
          <a:effectLst>
            <a:outerShdw blurRad="101600" dist="25400" dir="5400000" algn="bl" rotWithShape="0">
              <a:srgbClr val="22303C">
                <a:alpha val="10000"/>
              </a:srgbClr>
            </a:outerShdw>
          </a:effectLst>
        </p:spPr>
      </p:sp>
      <p:pic>
        <p:nvPicPr>
          <p:cNvPr id="33" name="Image 7" descr="preencoded.png"/>
          <p:cNvPicPr>
            <a:picLocks noChangeAspect="1"/>
          </p:cNvPicPr>
          <p:nvPr/>
        </p:nvPicPr>
        <p:blipFill>
          <a:blip r:embed="rId8"/>
          <a:stretch>
            <a:fillRect/>
          </a:stretch>
        </p:blipFill>
        <p:spPr>
          <a:xfrm>
            <a:off x="4524146" y="4654296"/>
            <a:ext cx="420624" cy="420624"/>
          </a:xfrm>
          <a:prstGeom prst="rect">
            <a:avLst/>
          </a:prstGeom>
        </p:spPr>
      </p:pic>
      <p:sp>
        <p:nvSpPr>
          <p:cNvPr id="34" name="Text 24"/>
          <p:cNvSpPr/>
          <p:nvPr/>
        </p:nvSpPr>
        <p:spPr>
          <a:xfrm>
            <a:off x="5072786" y="4617720"/>
            <a:ext cx="2631338" cy="274320"/>
          </a:xfrm>
          <a:prstGeom prst="rect">
            <a:avLst/>
          </a:prstGeom>
          <a:noFill/>
        </p:spPr>
        <p:txBody>
          <a:bodyPr wrap="square" lIns="0" tIns="0" rIns="0" bIns="0" rtlCol="0" anchor="t"/>
          <a:lstStyle/>
          <a:p>
            <a:pPr marL="0" indent="0">
              <a:buNone/>
            </a:pPr>
            <a:r>
              <a:rPr lang="en-US" sz="1350" b="1" dirty="0">
                <a:solidFill>
                  <a:srgbClr val="22303C"/>
                </a:solidFill>
                <a:latin typeface="Calibri" pitchFamily="34" charset="0"/>
                <a:ea typeface="Calibri" pitchFamily="34" charset="-122"/>
                <a:cs typeface="Calibri" pitchFamily="34" charset="-120"/>
              </a:rPr>
              <a:t>ABHA and FHIR aligned</a:t>
            </a:r>
            <a:endParaRPr lang="en-US" sz="1350" dirty="0"/>
          </a:p>
        </p:txBody>
      </p:sp>
      <p:sp>
        <p:nvSpPr>
          <p:cNvPr id="35" name="Text 25"/>
          <p:cNvSpPr/>
          <p:nvPr/>
        </p:nvSpPr>
        <p:spPr>
          <a:xfrm>
            <a:off x="5072786" y="4892040"/>
            <a:ext cx="2631338" cy="731520"/>
          </a:xfrm>
          <a:prstGeom prst="rect">
            <a:avLst/>
          </a:prstGeom>
          <a:noFill/>
        </p:spPr>
        <p:txBody>
          <a:bodyPr wrap="square" lIns="0" tIns="0" rIns="0" bIns="0" rtlCol="0" anchor="t"/>
          <a:lstStyle/>
          <a:p>
            <a:pPr marL="0" indent="0">
              <a:lnSpc>
                <a:spcPct val="110000"/>
              </a:lnSpc>
              <a:buNone/>
            </a:pPr>
            <a:r>
              <a:rPr lang="en-US" sz="1050" dirty="0">
                <a:solidFill>
                  <a:srgbClr val="3A4756"/>
                </a:solidFill>
                <a:latin typeface="Calibri" pitchFamily="34" charset="0"/>
                <a:ea typeface="Calibri" pitchFamily="34" charset="-122"/>
                <a:cs typeface="Calibri" pitchFamily="34" charset="-120"/>
              </a:rPr>
              <a:t>ABDM federation for patient identity. FHIR R4-aligned data model with provenance on every record.</a:t>
            </a:r>
            <a:endParaRPr lang="en-US" sz="1050" dirty="0"/>
          </a:p>
        </p:txBody>
      </p:sp>
      <p:sp>
        <p:nvSpPr>
          <p:cNvPr id="36" name="Shape 26"/>
          <p:cNvSpPr/>
          <p:nvPr/>
        </p:nvSpPr>
        <p:spPr>
          <a:xfrm>
            <a:off x="8097317" y="4434840"/>
            <a:ext cx="3545738" cy="1207008"/>
          </a:xfrm>
          <a:prstGeom prst="roundRect">
            <a:avLst>
              <a:gd name="adj" fmla="val 9091"/>
            </a:avLst>
          </a:prstGeom>
          <a:solidFill>
            <a:srgbClr val="FFFFFF"/>
          </a:solidFill>
          <a:ln w="9525">
            <a:solidFill>
              <a:srgbClr val="ECE7DD"/>
            </a:solidFill>
            <a:prstDash val="solid"/>
          </a:ln>
          <a:effectLst>
            <a:outerShdw blurRad="101600" dist="25400" dir="5400000" algn="bl" rotWithShape="0">
              <a:srgbClr val="22303C">
                <a:alpha val="10000"/>
              </a:srgbClr>
            </a:outerShdw>
          </a:effectLst>
        </p:spPr>
      </p:sp>
      <p:pic>
        <p:nvPicPr>
          <p:cNvPr id="37" name="Image 8" descr="preencoded.png"/>
          <p:cNvPicPr>
            <a:picLocks noChangeAspect="1"/>
          </p:cNvPicPr>
          <p:nvPr/>
        </p:nvPicPr>
        <p:blipFill>
          <a:blip r:embed="rId9"/>
          <a:stretch>
            <a:fillRect/>
          </a:stretch>
        </p:blipFill>
        <p:spPr>
          <a:xfrm>
            <a:off x="8298485" y="4654296"/>
            <a:ext cx="420624" cy="420624"/>
          </a:xfrm>
          <a:prstGeom prst="rect">
            <a:avLst/>
          </a:prstGeom>
        </p:spPr>
      </p:pic>
      <p:sp>
        <p:nvSpPr>
          <p:cNvPr id="38" name="Text 27"/>
          <p:cNvSpPr/>
          <p:nvPr/>
        </p:nvSpPr>
        <p:spPr>
          <a:xfrm>
            <a:off x="8847125" y="4617720"/>
            <a:ext cx="2631338" cy="274320"/>
          </a:xfrm>
          <a:prstGeom prst="rect">
            <a:avLst/>
          </a:prstGeom>
          <a:noFill/>
        </p:spPr>
        <p:txBody>
          <a:bodyPr wrap="square" lIns="0" tIns="0" rIns="0" bIns="0" rtlCol="0" anchor="t"/>
          <a:lstStyle/>
          <a:p>
            <a:pPr marL="0" indent="0">
              <a:buNone/>
            </a:pPr>
            <a:r>
              <a:rPr lang="en-US" sz="1350" b="1" dirty="0">
                <a:solidFill>
                  <a:srgbClr val="22303C"/>
                </a:solidFill>
                <a:latin typeface="Calibri" pitchFamily="34" charset="0"/>
                <a:ea typeface="Calibri" pitchFamily="34" charset="-122"/>
                <a:cs typeface="Calibri" pitchFamily="34" charset="-120"/>
              </a:rPr>
              <a:t>No standing access to PHI</a:t>
            </a:r>
            <a:endParaRPr lang="en-US" sz="1350" dirty="0"/>
          </a:p>
        </p:txBody>
      </p:sp>
      <p:sp>
        <p:nvSpPr>
          <p:cNvPr id="39" name="Text 28"/>
          <p:cNvSpPr/>
          <p:nvPr/>
        </p:nvSpPr>
        <p:spPr>
          <a:xfrm>
            <a:off x="8847125" y="4892040"/>
            <a:ext cx="2631338" cy="731520"/>
          </a:xfrm>
          <a:prstGeom prst="rect">
            <a:avLst/>
          </a:prstGeom>
          <a:noFill/>
        </p:spPr>
        <p:txBody>
          <a:bodyPr wrap="square" lIns="0" tIns="0" rIns="0" bIns="0" rtlCol="0" anchor="t"/>
          <a:lstStyle/>
          <a:p>
            <a:pPr marL="0" indent="0">
              <a:lnSpc>
                <a:spcPct val="110000"/>
              </a:lnSpc>
              <a:buNone/>
            </a:pPr>
            <a:r>
              <a:rPr lang="en-US" sz="1050" dirty="0">
                <a:solidFill>
                  <a:srgbClr val="3A4756"/>
                </a:solidFill>
                <a:latin typeface="Calibri" pitchFamily="34" charset="0"/>
                <a:ea typeface="Calibri" pitchFamily="34" charset="-122"/>
                <a:cs typeface="Calibri" pitchFamily="34" charset="-120"/>
              </a:rPr>
              <a:t>Admin access is just-in-time and audited. Static and dynamic analysis in CI; independent penetration tests.</a:t>
            </a:r>
            <a:endParaRPr lang="en-US" sz="1050" dirty="0"/>
          </a:p>
        </p:txBody>
      </p:sp>
      <p:sp>
        <p:nvSpPr>
          <p:cNvPr id="40" name="Text 29"/>
          <p:cNvSpPr/>
          <p:nvPr/>
        </p:nvSpPr>
        <p:spPr>
          <a:xfrm>
            <a:off x="548640" y="5916168"/>
            <a:ext cx="1463040" cy="274320"/>
          </a:xfrm>
          <a:prstGeom prst="rect">
            <a:avLst/>
          </a:prstGeom>
          <a:noFill/>
        </p:spPr>
        <p:txBody>
          <a:bodyPr wrap="square" lIns="0" tIns="0" rIns="0" bIns="0" rtlCol="0" anchor="t"/>
          <a:lstStyle/>
          <a:p>
            <a:pPr marL="0" indent="0">
              <a:buNone/>
            </a:pPr>
            <a:r>
              <a:rPr lang="en-US" sz="1000" b="1" kern="0" spc="300" dirty="0">
                <a:solidFill>
                  <a:srgbClr val="7D868E"/>
                </a:solidFill>
                <a:latin typeface="Calibri" pitchFamily="34" charset="0"/>
                <a:ea typeface="Calibri" pitchFamily="34" charset="-122"/>
                <a:cs typeface="Calibri" pitchFamily="34" charset="-120"/>
              </a:rPr>
              <a:t>Design targets</a:t>
            </a:r>
            <a:endParaRPr lang="en-US" sz="1000" dirty="0"/>
          </a:p>
        </p:txBody>
      </p:sp>
      <p:sp>
        <p:nvSpPr>
          <p:cNvPr id="41" name="Text 30"/>
          <p:cNvSpPr/>
          <p:nvPr/>
        </p:nvSpPr>
        <p:spPr>
          <a:xfrm>
            <a:off x="2286000" y="5852160"/>
            <a:ext cx="2926080" cy="292608"/>
          </a:xfrm>
          <a:prstGeom prst="rect">
            <a:avLst/>
          </a:prstGeom>
          <a:noFill/>
        </p:spPr>
        <p:txBody>
          <a:bodyPr wrap="square" lIns="0" tIns="0" rIns="0" bIns="0" rtlCol="0" anchor="t"/>
          <a:lstStyle/>
          <a:p>
            <a:pPr marL="0" indent="0">
              <a:buNone/>
            </a:pPr>
            <a:r>
              <a:rPr lang="en-US" sz="1600" dirty="0">
                <a:solidFill>
                  <a:srgbClr val="22303C"/>
                </a:solidFill>
                <a:latin typeface="Cambria" pitchFamily="34" charset="0"/>
                <a:ea typeface="Cambria" pitchFamily="34" charset="-122"/>
                <a:cs typeface="Cambria" pitchFamily="34" charset="-120"/>
              </a:rPr>
              <a:t>p95 under 500 ms</a:t>
            </a:r>
            <a:endParaRPr lang="en-US" sz="1600" dirty="0"/>
          </a:p>
        </p:txBody>
      </p:sp>
      <p:sp>
        <p:nvSpPr>
          <p:cNvPr id="42" name="Text 31"/>
          <p:cNvSpPr/>
          <p:nvPr/>
        </p:nvSpPr>
        <p:spPr>
          <a:xfrm>
            <a:off x="2286000" y="6144768"/>
            <a:ext cx="2926080" cy="228600"/>
          </a:xfrm>
          <a:prstGeom prst="rect">
            <a:avLst/>
          </a:prstGeom>
          <a:noFill/>
        </p:spPr>
        <p:txBody>
          <a:bodyPr wrap="square" lIns="0" tIns="0" rIns="0" bIns="0" rtlCol="0" anchor="t"/>
          <a:lstStyle/>
          <a:p>
            <a:pPr marL="0" indent="0">
              <a:buNone/>
            </a:pPr>
            <a:r>
              <a:rPr lang="en-US" sz="1050" dirty="0">
                <a:solidFill>
                  <a:srgbClr val="7D868E"/>
                </a:solidFill>
                <a:latin typeface="Calibri" pitchFamily="34" charset="0"/>
                <a:ea typeface="Calibri" pitchFamily="34" charset="-122"/>
                <a:cs typeface="Calibri" pitchFamily="34" charset="-120"/>
              </a:rPr>
              <a:t>QR to patient</a:t>
            </a:r>
            <a:endParaRPr lang="en-US" sz="1050" dirty="0"/>
          </a:p>
        </p:txBody>
      </p:sp>
      <p:sp>
        <p:nvSpPr>
          <p:cNvPr id="43" name="Text 32"/>
          <p:cNvSpPr/>
          <p:nvPr/>
        </p:nvSpPr>
        <p:spPr>
          <a:xfrm>
            <a:off x="5394960" y="5852160"/>
            <a:ext cx="2926080" cy="292608"/>
          </a:xfrm>
          <a:prstGeom prst="rect">
            <a:avLst/>
          </a:prstGeom>
          <a:noFill/>
        </p:spPr>
        <p:txBody>
          <a:bodyPr wrap="square" lIns="0" tIns="0" rIns="0" bIns="0" rtlCol="0" anchor="t"/>
          <a:lstStyle/>
          <a:p>
            <a:pPr marL="0" indent="0">
              <a:buNone/>
            </a:pPr>
            <a:r>
              <a:rPr lang="en-US" sz="1600" dirty="0">
                <a:solidFill>
                  <a:srgbClr val="22303C"/>
                </a:solidFill>
                <a:latin typeface="Cambria" pitchFamily="34" charset="0"/>
                <a:ea typeface="Cambria" pitchFamily="34" charset="-122"/>
                <a:cs typeface="Cambria" pitchFamily="34" charset="-120"/>
              </a:rPr>
              <a:t>under 1 s</a:t>
            </a:r>
            <a:endParaRPr lang="en-US" sz="1600" dirty="0"/>
          </a:p>
        </p:txBody>
      </p:sp>
      <p:sp>
        <p:nvSpPr>
          <p:cNvPr id="44" name="Text 33"/>
          <p:cNvSpPr/>
          <p:nvPr/>
        </p:nvSpPr>
        <p:spPr>
          <a:xfrm>
            <a:off x="5394960" y="6144768"/>
            <a:ext cx="2926080" cy="228600"/>
          </a:xfrm>
          <a:prstGeom prst="rect">
            <a:avLst/>
          </a:prstGeom>
          <a:noFill/>
        </p:spPr>
        <p:txBody>
          <a:bodyPr wrap="square" lIns="0" tIns="0" rIns="0" bIns="0" rtlCol="0" anchor="t"/>
          <a:lstStyle/>
          <a:p>
            <a:pPr marL="0" indent="0">
              <a:buNone/>
            </a:pPr>
            <a:r>
              <a:rPr lang="en-US" sz="1050" dirty="0">
                <a:solidFill>
                  <a:srgbClr val="7D868E"/>
                </a:solidFill>
                <a:latin typeface="Calibri" pitchFamily="34" charset="0"/>
                <a:ea typeface="Calibri" pitchFamily="34" charset="-122"/>
                <a:cs typeface="Calibri" pitchFamily="34" charset="-120"/>
              </a:rPr>
              <a:t>Patient 360° load</a:t>
            </a:r>
            <a:endParaRPr lang="en-US" sz="1050" dirty="0"/>
          </a:p>
        </p:txBody>
      </p:sp>
      <p:sp>
        <p:nvSpPr>
          <p:cNvPr id="45" name="Text 34"/>
          <p:cNvSpPr/>
          <p:nvPr/>
        </p:nvSpPr>
        <p:spPr>
          <a:xfrm>
            <a:off x="8503920" y="5852160"/>
            <a:ext cx="2926080" cy="292608"/>
          </a:xfrm>
          <a:prstGeom prst="rect">
            <a:avLst/>
          </a:prstGeom>
          <a:noFill/>
        </p:spPr>
        <p:txBody>
          <a:bodyPr wrap="square" lIns="0" tIns="0" rIns="0" bIns="0" rtlCol="0" anchor="t"/>
          <a:lstStyle/>
          <a:p>
            <a:pPr marL="0" indent="0">
              <a:buNone/>
            </a:pPr>
            <a:r>
              <a:rPr lang="en-US" sz="1600" dirty="0">
                <a:solidFill>
                  <a:srgbClr val="22303C"/>
                </a:solidFill>
                <a:latin typeface="Cambria" pitchFamily="34" charset="0"/>
                <a:ea typeface="Cambria" pitchFamily="34" charset="-122"/>
                <a:cs typeface="Cambria" pitchFamily="34" charset="-120"/>
              </a:rPr>
              <a:t>p95 under 2.5 s</a:t>
            </a:r>
            <a:endParaRPr lang="en-US" sz="1600" dirty="0"/>
          </a:p>
        </p:txBody>
      </p:sp>
      <p:sp>
        <p:nvSpPr>
          <p:cNvPr id="46" name="Text 35"/>
          <p:cNvSpPr/>
          <p:nvPr/>
        </p:nvSpPr>
        <p:spPr>
          <a:xfrm>
            <a:off x="8503920" y="6144768"/>
            <a:ext cx="2926080" cy="228600"/>
          </a:xfrm>
          <a:prstGeom prst="rect">
            <a:avLst/>
          </a:prstGeom>
          <a:noFill/>
        </p:spPr>
        <p:txBody>
          <a:bodyPr wrap="square" lIns="0" tIns="0" rIns="0" bIns="0" rtlCol="0" anchor="t"/>
          <a:lstStyle/>
          <a:p>
            <a:pPr marL="0" indent="0">
              <a:buNone/>
            </a:pPr>
            <a:r>
              <a:rPr lang="en-US" sz="1050" dirty="0">
                <a:solidFill>
                  <a:srgbClr val="7D868E"/>
                </a:solidFill>
                <a:latin typeface="Calibri" pitchFamily="34" charset="0"/>
                <a:ea typeface="Calibri" pitchFamily="34" charset="-122"/>
                <a:cs typeface="Calibri" pitchFamily="34" charset="-120"/>
              </a:rPr>
              <a:t>AI brief at scan</a:t>
            </a:r>
            <a:endParaRPr lang="en-US" sz="1050" dirty="0"/>
          </a:p>
        </p:txBody>
      </p:sp>
      <p:sp>
        <p:nvSpPr>
          <p:cNvPr id="47" name="Text 36"/>
          <p:cNvSpPr/>
          <p:nvPr/>
        </p:nvSpPr>
        <p:spPr>
          <a:xfrm>
            <a:off x="11277295" y="6473952"/>
            <a:ext cx="365760" cy="228600"/>
          </a:xfrm>
          <a:prstGeom prst="rect">
            <a:avLst/>
          </a:prstGeom>
          <a:noFill/>
        </p:spPr>
        <p:txBody>
          <a:bodyPr wrap="square" lIns="0" tIns="0" rIns="0" bIns="0" rtlCol="0" anchor="t"/>
          <a:lstStyle/>
          <a:p>
            <a:pPr marL="0" indent="0" algn="r">
              <a:buNone/>
            </a:pPr>
            <a:r>
              <a:rPr lang="en-US" sz="900" dirty="0">
                <a:solidFill>
                  <a:srgbClr val="7D868E"/>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AF7F1"/>
        </a:solidFill>
        <a:effectLst/>
      </p:bgPr>
    </p:bg>
    <p:spTree>
      <p:nvGrpSpPr>
        <p:cNvPr id="1" name=""/>
        <p:cNvGrpSpPr/>
        <p:nvPr/>
      </p:nvGrpSpPr>
      <p:grpSpPr>
        <a:xfrm>
          <a:off x="0" y="0"/>
          <a:ext cx="0" cy="0"/>
          <a:chOff x="0" y="0"/>
          <a:chExt cx="0" cy="0"/>
        </a:xfrm>
      </p:grpSpPr>
      <p:sp>
        <p:nvSpPr>
          <p:cNvPr id="2" name="Text 0"/>
          <p:cNvSpPr/>
          <p:nvPr/>
        </p:nvSpPr>
        <p:spPr>
          <a:xfrm>
            <a:off x="548640" y="502920"/>
            <a:ext cx="5486400" cy="274320"/>
          </a:xfrm>
          <a:prstGeom prst="rect">
            <a:avLst/>
          </a:prstGeom>
          <a:noFill/>
        </p:spPr>
        <p:txBody>
          <a:bodyPr wrap="square" lIns="0" tIns="0" rIns="0" bIns="0" rtlCol="0" anchor="t"/>
          <a:lstStyle/>
          <a:p>
            <a:pPr marL="0" indent="0">
              <a:buNone/>
            </a:pPr>
            <a:r>
              <a:rPr lang="en-US" sz="1050" b="1" kern="0" spc="300" dirty="0">
                <a:solidFill>
                  <a:srgbClr val="0072A8"/>
                </a:solidFill>
                <a:latin typeface="Calibri" pitchFamily="34" charset="0"/>
                <a:ea typeface="Calibri" pitchFamily="34" charset="-122"/>
                <a:cs typeface="Calibri" pitchFamily="34" charset="-120"/>
              </a:rPr>
              <a:t>WHY NOW</a:t>
            </a:r>
            <a:endParaRPr lang="en-US" sz="1050" dirty="0"/>
          </a:p>
        </p:txBody>
      </p:sp>
      <p:sp>
        <p:nvSpPr>
          <p:cNvPr id="3" name="Text 1"/>
          <p:cNvSpPr/>
          <p:nvPr/>
        </p:nvSpPr>
        <p:spPr>
          <a:xfrm>
            <a:off x="548640" y="822960"/>
            <a:ext cx="9144000" cy="731520"/>
          </a:xfrm>
          <a:prstGeom prst="rect">
            <a:avLst/>
          </a:prstGeom>
          <a:noFill/>
        </p:spPr>
        <p:txBody>
          <a:bodyPr wrap="square" lIns="0" tIns="0" rIns="0" bIns="0" rtlCol="0" anchor="t"/>
          <a:lstStyle/>
          <a:p>
            <a:pPr marL="0" indent="0">
              <a:buNone/>
            </a:pPr>
            <a:r>
              <a:rPr lang="en-US" sz="3200" dirty="0">
                <a:solidFill>
                  <a:srgbClr val="22303C"/>
                </a:solidFill>
                <a:latin typeface="Cambria" pitchFamily="34" charset="0"/>
                <a:ea typeface="Cambria" pitchFamily="34" charset="-122"/>
                <a:cs typeface="Cambria" pitchFamily="34" charset="-120"/>
              </a:rPr>
              <a:t>Possible now. Not possible five years ago.</a:t>
            </a:r>
            <a:endParaRPr lang="en-US" sz="3200" dirty="0"/>
          </a:p>
        </p:txBody>
      </p:sp>
      <p:sp>
        <p:nvSpPr>
          <p:cNvPr id="4" name="Shape 2"/>
          <p:cNvSpPr/>
          <p:nvPr/>
        </p:nvSpPr>
        <p:spPr>
          <a:xfrm>
            <a:off x="548640" y="1828800"/>
            <a:ext cx="2567864" cy="3566160"/>
          </a:xfrm>
          <a:prstGeom prst="roundRect">
            <a:avLst>
              <a:gd name="adj" fmla="val 4273"/>
            </a:avLst>
          </a:prstGeom>
          <a:solidFill>
            <a:srgbClr val="FFFFFF"/>
          </a:solidFill>
          <a:ln w="9525">
            <a:solidFill>
              <a:srgbClr val="ECE7DD"/>
            </a:solidFill>
            <a:prstDash val="solid"/>
          </a:ln>
          <a:effectLst>
            <a:outerShdw blurRad="101600" dist="25400" dir="5400000" algn="bl" rotWithShape="0">
              <a:srgbClr val="22303C">
                <a:alpha val="10000"/>
              </a:srgbClr>
            </a:outerShdw>
          </a:effectLst>
        </p:spPr>
      </p:sp>
      <p:pic>
        <p:nvPicPr>
          <p:cNvPr id="5" name="Image 0" descr="preencoded.png"/>
          <p:cNvPicPr>
            <a:picLocks noChangeAspect="1"/>
          </p:cNvPicPr>
          <p:nvPr/>
        </p:nvPicPr>
        <p:blipFill>
          <a:blip r:embed="rId1"/>
          <a:stretch>
            <a:fillRect/>
          </a:stretch>
        </p:blipFill>
        <p:spPr>
          <a:xfrm>
            <a:off x="804672" y="2121408"/>
            <a:ext cx="603504" cy="603504"/>
          </a:xfrm>
          <a:prstGeom prst="rect">
            <a:avLst/>
          </a:prstGeom>
        </p:spPr>
      </p:pic>
      <p:sp>
        <p:nvSpPr>
          <p:cNvPr id="6" name="Text 3"/>
          <p:cNvSpPr/>
          <p:nvPr/>
        </p:nvSpPr>
        <p:spPr>
          <a:xfrm>
            <a:off x="804672" y="2926080"/>
            <a:ext cx="2110664" cy="685800"/>
          </a:xfrm>
          <a:prstGeom prst="rect">
            <a:avLst/>
          </a:prstGeom>
          <a:noFill/>
        </p:spPr>
        <p:txBody>
          <a:bodyPr wrap="square" lIns="0" tIns="0" rIns="0" bIns="0" rtlCol="0" anchor="t"/>
          <a:lstStyle/>
          <a:p>
            <a:pPr marL="0" indent="0">
              <a:lnSpc>
                <a:spcPct val="105000"/>
              </a:lnSpc>
              <a:buNone/>
            </a:pPr>
            <a:r>
              <a:rPr lang="en-US" sz="1700" b="1" dirty="0">
                <a:solidFill>
                  <a:srgbClr val="22303C"/>
                </a:solidFill>
                <a:latin typeface="Cambria" pitchFamily="34" charset="0"/>
                <a:ea typeface="Cambria" pitchFamily="34" charset="-122"/>
                <a:cs typeface="Cambria" pitchFamily="34" charset="-120"/>
              </a:rPr>
              <a:t>ABDM and ABHA exist</a:t>
            </a:r>
            <a:endParaRPr lang="en-US" sz="1700" dirty="0"/>
          </a:p>
        </p:txBody>
      </p:sp>
      <p:sp>
        <p:nvSpPr>
          <p:cNvPr id="7" name="Text 4"/>
          <p:cNvSpPr/>
          <p:nvPr/>
        </p:nvSpPr>
        <p:spPr>
          <a:xfrm>
            <a:off x="804672" y="3703320"/>
            <a:ext cx="2110664" cy="1554480"/>
          </a:xfrm>
          <a:prstGeom prst="rect">
            <a:avLst/>
          </a:prstGeom>
          <a:noFill/>
        </p:spPr>
        <p:txBody>
          <a:bodyPr wrap="square" lIns="0" tIns="0" rIns="0" bIns="0" rtlCol="0" anchor="t"/>
          <a:lstStyle/>
          <a:p>
            <a:pPr marL="0" indent="0">
              <a:lnSpc>
                <a:spcPct val="115000"/>
              </a:lnSpc>
              <a:buNone/>
            </a:pPr>
            <a:r>
              <a:rPr lang="en-US" sz="1200" dirty="0">
                <a:solidFill>
                  <a:srgbClr val="3A4756"/>
                </a:solidFill>
                <a:latin typeface="Calibri" pitchFamily="34" charset="0"/>
                <a:ea typeface="Calibri" pitchFamily="34" charset="-122"/>
                <a:cs typeface="Calibri" pitchFamily="34" charset="-120"/>
              </a:rPr>
              <a:t>A national health identity is already in the patient’s hands. Mirai links to it instead of inventing another number.</a:t>
            </a:r>
            <a:endParaRPr lang="en-US" sz="1200" dirty="0"/>
          </a:p>
        </p:txBody>
      </p:sp>
      <p:sp>
        <p:nvSpPr>
          <p:cNvPr id="8" name="Shape 5"/>
          <p:cNvSpPr/>
          <p:nvPr/>
        </p:nvSpPr>
        <p:spPr>
          <a:xfrm>
            <a:off x="3390824" y="1828800"/>
            <a:ext cx="2567864" cy="3566160"/>
          </a:xfrm>
          <a:prstGeom prst="roundRect">
            <a:avLst>
              <a:gd name="adj" fmla="val 4273"/>
            </a:avLst>
          </a:prstGeom>
          <a:solidFill>
            <a:srgbClr val="FFFFFF"/>
          </a:solidFill>
          <a:ln w="9525">
            <a:solidFill>
              <a:srgbClr val="ECE7DD"/>
            </a:solidFill>
            <a:prstDash val="solid"/>
          </a:ln>
          <a:effectLst>
            <a:outerShdw blurRad="101600" dist="25400" dir="5400000" algn="bl" rotWithShape="0">
              <a:srgbClr val="22303C">
                <a:alpha val="10000"/>
              </a:srgbClr>
            </a:outerShdw>
          </a:effectLst>
        </p:spPr>
      </p:sp>
      <p:pic>
        <p:nvPicPr>
          <p:cNvPr id="9" name="Image 1" descr="preencoded.png"/>
          <p:cNvPicPr>
            <a:picLocks noChangeAspect="1"/>
          </p:cNvPicPr>
          <p:nvPr/>
        </p:nvPicPr>
        <p:blipFill>
          <a:blip r:embed="rId2"/>
          <a:stretch>
            <a:fillRect/>
          </a:stretch>
        </p:blipFill>
        <p:spPr>
          <a:xfrm>
            <a:off x="3646856" y="2121408"/>
            <a:ext cx="603504" cy="603504"/>
          </a:xfrm>
          <a:prstGeom prst="rect">
            <a:avLst/>
          </a:prstGeom>
        </p:spPr>
      </p:pic>
      <p:sp>
        <p:nvSpPr>
          <p:cNvPr id="10" name="Text 6"/>
          <p:cNvSpPr/>
          <p:nvPr/>
        </p:nvSpPr>
        <p:spPr>
          <a:xfrm>
            <a:off x="3646856" y="2926080"/>
            <a:ext cx="2110664" cy="685800"/>
          </a:xfrm>
          <a:prstGeom prst="rect">
            <a:avLst/>
          </a:prstGeom>
          <a:noFill/>
        </p:spPr>
        <p:txBody>
          <a:bodyPr wrap="square" lIns="0" tIns="0" rIns="0" bIns="0" rtlCol="0" anchor="t"/>
          <a:lstStyle/>
          <a:p>
            <a:pPr marL="0" indent="0">
              <a:lnSpc>
                <a:spcPct val="105000"/>
              </a:lnSpc>
              <a:buNone/>
            </a:pPr>
            <a:r>
              <a:rPr lang="en-US" sz="1700" b="1" dirty="0">
                <a:solidFill>
                  <a:srgbClr val="22303C"/>
                </a:solidFill>
                <a:latin typeface="Cambria" pitchFamily="34" charset="0"/>
                <a:ea typeface="Cambria" pitchFamily="34" charset="-122"/>
                <a:cs typeface="Cambria" pitchFamily="34" charset="-120"/>
              </a:rPr>
              <a:t>DPDPA 2023 is law</a:t>
            </a:r>
            <a:endParaRPr lang="en-US" sz="1700" dirty="0"/>
          </a:p>
        </p:txBody>
      </p:sp>
      <p:sp>
        <p:nvSpPr>
          <p:cNvPr id="11" name="Text 7"/>
          <p:cNvSpPr/>
          <p:nvPr/>
        </p:nvSpPr>
        <p:spPr>
          <a:xfrm>
            <a:off x="3646856" y="3703320"/>
            <a:ext cx="2110664" cy="1554480"/>
          </a:xfrm>
          <a:prstGeom prst="rect">
            <a:avLst/>
          </a:prstGeom>
          <a:noFill/>
        </p:spPr>
        <p:txBody>
          <a:bodyPr wrap="square" lIns="0" tIns="0" rIns="0" bIns="0" rtlCol="0" anchor="t"/>
          <a:lstStyle/>
          <a:p>
            <a:pPr marL="0" indent="0">
              <a:lnSpc>
                <a:spcPct val="115000"/>
              </a:lnSpc>
              <a:buNone/>
            </a:pPr>
            <a:r>
              <a:rPr lang="en-US" sz="1200" dirty="0">
                <a:solidFill>
                  <a:srgbClr val="3A4756"/>
                </a:solidFill>
                <a:latin typeface="Calibri" pitchFamily="34" charset="0"/>
                <a:ea typeface="Calibri" pitchFamily="34" charset="-122"/>
                <a:cs typeface="Calibri" pitchFamily="34" charset="-120"/>
              </a:rPr>
              <a:t>Consent, purpose limitation and data rights are now statutory. A product built on them is the compliant path, not the risky one.</a:t>
            </a:r>
            <a:endParaRPr lang="en-US" sz="1200" dirty="0"/>
          </a:p>
        </p:txBody>
      </p:sp>
      <p:sp>
        <p:nvSpPr>
          <p:cNvPr id="12" name="Shape 8"/>
          <p:cNvSpPr/>
          <p:nvPr/>
        </p:nvSpPr>
        <p:spPr>
          <a:xfrm>
            <a:off x="6233008" y="1828800"/>
            <a:ext cx="2567864" cy="3566160"/>
          </a:xfrm>
          <a:prstGeom prst="roundRect">
            <a:avLst>
              <a:gd name="adj" fmla="val 4273"/>
            </a:avLst>
          </a:prstGeom>
          <a:solidFill>
            <a:srgbClr val="FFFFFF"/>
          </a:solidFill>
          <a:ln w="9525">
            <a:solidFill>
              <a:srgbClr val="ECE7DD"/>
            </a:solidFill>
            <a:prstDash val="solid"/>
          </a:ln>
          <a:effectLst>
            <a:outerShdw blurRad="101600" dist="25400" dir="5400000" algn="bl" rotWithShape="0">
              <a:srgbClr val="22303C">
                <a:alpha val="10000"/>
              </a:srgbClr>
            </a:outerShdw>
          </a:effectLst>
        </p:spPr>
      </p:sp>
      <p:pic>
        <p:nvPicPr>
          <p:cNvPr id="13" name="Image 2" descr="preencoded.png"/>
          <p:cNvPicPr>
            <a:picLocks noChangeAspect="1"/>
          </p:cNvPicPr>
          <p:nvPr/>
        </p:nvPicPr>
        <p:blipFill>
          <a:blip r:embed="rId3"/>
          <a:stretch>
            <a:fillRect/>
          </a:stretch>
        </p:blipFill>
        <p:spPr>
          <a:xfrm>
            <a:off x="6489040" y="2121408"/>
            <a:ext cx="603504" cy="603504"/>
          </a:xfrm>
          <a:prstGeom prst="rect">
            <a:avLst/>
          </a:prstGeom>
        </p:spPr>
      </p:pic>
      <p:sp>
        <p:nvSpPr>
          <p:cNvPr id="14" name="Text 9"/>
          <p:cNvSpPr/>
          <p:nvPr/>
        </p:nvSpPr>
        <p:spPr>
          <a:xfrm>
            <a:off x="6489040" y="2926080"/>
            <a:ext cx="2110664" cy="685800"/>
          </a:xfrm>
          <a:prstGeom prst="rect">
            <a:avLst/>
          </a:prstGeom>
          <a:noFill/>
        </p:spPr>
        <p:txBody>
          <a:bodyPr wrap="square" lIns="0" tIns="0" rIns="0" bIns="0" rtlCol="0" anchor="t"/>
          <a:lstStyle/>
          <a:p>
            <a:pPr marL="0" indent="0">
              <a:lnSpc>
                <a:spcPct val="105000"/>
              </a:lnSpc>
              <a:buNone/>
            </a:pPr>
            <a:r>
              <a:rPr lang="en-US" sz="1700" b="1" dirty="0">
                <a:solidFill>
                  <a:srgbClr val="22303C"/>
                </a:solidFill>
                <a:latin typeface="Cambria" pitchFamily="34" charset="0"/>
                <a:ea typeface="Cambria" pitchFamily="34" charset="-122"/>
                <a:cs typeface="Cambria" pitchFamily="34" charset="-120"/>
              </a:rPr>
              <a:t>AI can be grounded and checked</a:t>
            </a:r>
            <a:endParaRPr lang="en-US" sz="1700" dirty="0"/>
          </a:p>
        </p:txBody>
      </p:sp>
      <p:sp>
        <p:nvSpPr>
          <p:cNvPr id="15" name="Text 10"/>
          <p:cNvSpPr/>
          <p:nvPr/>
        </p:nvSpPr>
        <p:spPr>
          <a:xfrm>
            <a:off x="6489040" y="3703320"/>
            <a:ext cx="2110664" cy="1554480"/>
          </a:xfrm>
          <a:prstGeom prst="rect">
            <a:avLst/>
          </a:prstGeom>
          <a:noFill/>
        </p:spPr>
        <p:txBody>
          <a:bodyPr wrap="square" lIns="0" tIns="0" rIns="0" bIns="0" rtlCol="0" anchor="t"/>
          <a:lstStyle/>
          <a:p>
            <a:pPr marL="0" indent="0">
              <a:lnSpc>
                <a:spcPct val="115000"/>
              </a:lnSpc>
              <a:buNone/>
            </a:pPr>
            <a:r>
              <a:rPr lang="en-US" sz="1200" dirty="0">
                <a:solidFill>
                  <a:srgbClr val="3A4756"/>
                </a:solidFill>
                <a:latin typeface="Calibri" pitchFamily="34" charset="0"/>
                <a:ea typeface="Calibri" pitchFamily="34" charset="-122"/>
                <a:cs typeface="Calibri" pitchFamily="34" charset="-120"/>
              </a:rPr>
              <a:t>Language models can read a whole file and write a specialty-specific brief, and each claim can be verified against the source before it is shown.</a:t>
            </a:r>
            <a:endParaRPr lang="en-US" sz="1200" dirty="0"/>
          </a:p>
        </p:txBody>
      </p:sp>
      <p:sp>
        <p:nvSpPr>
          <p:cNvPr id="16" name="Shape 11"/>
          <p:cNvSpPr/>
          <p:nvPr/>
        </p:nvSpPr>
        <p:spPr>
          <a:xfrm>
            <a:off x="9075191" y="1828800"/>
            <a:ext cx="2567864" cy="3566160"/>
          </a:xfrm>
          <a:prstGeom prst="roundRect">
            <a:avLst>
              <a:gd name="adj" fmla="val 4273"/>
            </a:avLst>
          </a:prstGeom>
          <a:solidFill>
            <a:srgbClr val="FFFFFF"/>
          </a:solidFill>
          <a:ln w="9525">
            <a:solidFill>
              <a:srgbClr val="ECE7DD"/>
            </a:solidFill>
            <a:prstDash val="solid"/>
          </a:ln>
          <a:effectLst>
            <a:outerShdw blurRad="101600" dist="25400" dir="5400000" algn="bl" rotWithShape="0">
              <a:srgbClr val="22303C">
                <a:alpha val="10000"/>
              </a:srgbClr>
            </a:outerShdw>
          </a:effectLst>
        </p:spPr>
      </p:sp>
      <p:pic>
        <p:nvPicPr>
          <p:cNvPr id="17" name="Image 3" descr="preencoded.png"/>
          <p:cNvPicPr>
            <a:picLocks noChangeAspect="1"/>
          </p:cNvPicPr>
          <p:nvPr/>
        </p:nvPicPr>
        <p:blipFill>
          <a:blip r:embed="rId4"/>
          <a:stretch>
            <a:fillRect/>
          </a:stretch>
        </p:blipFill>
        <p:spPr>
          <a:xfrm>
            <a:off x="9331223" y="2121408"/>
            <a:ext cx="603504" cy="603504"/>
          </a:xfrm>
          <a:prstGeom prst="rect">
            <a:avLst/>
          </a:prstGeom>
        </p:spPr>
      </p:pic>
      <p:sp>
        <p:nvSpPr>
          <p:cNvPr id="18" name="Text 12"/>
          <p:cNvSpPr/>
          <p:nvPr/>
        </p:nvSpPr>
        <p:spPr>
          <a:xfrm>
            <a:off x="9331223" y="2926080"/>
            <a:ext cx="2110664" cy="685800"/>
          </a:xfrm>
          <a:prstGeom prst="rect">
            <a:avLst/>
          </a:prstGeom>
          <a:noFill/>
        </p:spPr>
        <p:txBody>
          <a:bodyPr wrap="square" lIns="0" tIns="0" rIns="0" bIns="0" rtlCol="0" anchor="t"/>
          <a:lstStyle/>
          <a:p>
            <a:pPr marL="0" indent="0">
              <a:lnSpc>
                <a:spcPct val="105000"/>
              </a:lnSpc>
              <a:buNone/>
            </a:pPr>
            <a:r>
              <a:rPr lang="en-US" sz="1700" b="1" dirty="0">
                <a:solidFill>
                  <a:srgbClr val="22303C"/>
                </a:solidFill>
                <a:latin typeface="Cambria" pitchFamily="34" charset="0"/>
                <a:ea typeface="Cambria" pitchFamily="34" charset="-122"/>
                <a:cs typeface="Cambria" pitchFamily="34" charset="-120"/>
              </a:rPr>
              <a:t>A phone in every pocket</a:t>
            </a:r>
            <a:endParaRPr lang="en-US" sz="1700" dirty="0"/>
          </a:p>
        </p:txBody>
      </p:sp>
      <p:sp>
        <p:nvSpPr>
          <p:cNvPr id="19" name="Text 13"/>
          <p:cNvSpPr/>
          <p:nvPr/>
        </p:nvSpPr>
        <p:spPr>
          <a:xfrm>
            <a:off x="9331223" y="3703320"/>
            <a:ext cx="2110664" cy="1554480"/>
          </a:xfrm>
          <a:prstGeom prst="rect">
            <a:avLst/>
          </a:prstGeom>
          <a:noFill/>
        </p:spPr>
        <p:txBody>
          <a:bodyPr wrap="square" lIns="0" tIns="0" rIns="0" bIns="0" rtlCol="0" anchor="t"/>
          <a:lstStyle/>
          <a:p>
            <a:pPr marL="0" indent="0">
              <a:lnSpc>
                <a:spcPct val="115000"/>
              </a:lnSpc>
              <a:buNone/>
            </a:pPr>
            <a:r>
              <a:rPr lang="en-US" sz="1200" dirty="0">
                <a:solidFill>
                  <a:srgbClr val="3A4756"/>
                </a:solidFill>
                <a:latin typeface="Calibri" pitchFamily="34" charset="0"/>
                <a:ea typeface="Calibri" pitchFamily="34" charset="-122"/>
                <a:cs typeface="Calibri" pitchFamily="34" charset="-120"/>
              </a:rPr>
              <a:t>No smart card, no kiosk, no new hardware in the OPD. The patient’s phone presents the QR; the doctor’s phone scans it.</a:t>
            </a:r>
            <a:endParaRPr lang="en-US" sz="1200" dirty="0"/>
          </a:p>
        </p:txBody>
      </p:sp>
      <p:sp>
        <p:nvSpPr>
          <p:cNvPr id="20" name="Text 14"/>
          <p:cNvSpPr/>
          <p:nvPr/>
        </p:nvSpPr>
        <p:spPr>
          <a:xfrm>
            <a:off x="548640" y="5715000"/>
            <a:ext cx="11094415" cy="457200"/>
          </a:xfrm>
          <a:prstGeom prst="rect">
            <a:avLst/>
          </a:prstGeom>
          <a:noFill/>
        </p:spPr>
        <p:txBody>
          <a:bodyPr wrap="square" lIns="0" tIns="0" rIns="0" bIns="0" rtlCol="0" anchor="t"/>
          <a:lstStyle/>
          <a:p>
            <a:pPr marL="0" indent="0">
              <a:buNone/>
            </a:pPr>
            <a:r>
              <a:rPr lang="en-US" sz="1500" i="1" dirty="0">
                <a:solidFill>
                  <a:srgbClr val="5C6873"/>
                </a:solidFill>
                <a:latin typeface="Cambria" pitchFamily="34" charset="0"/>
                <a:ea typeface="Cambria" pitchFamily="34" charset="-122"/>
                <a:cs typeface="Cambria" pitchFamily="34" charset="-120"/>
              </a:rPr>
              <a:t>The pieces were assembled by others. Mirai is the layer that puts them in front of a clinician in fourteen seconds.</a:t>
            </a:r>
            <a:endParaRPr lang="en-US" sz="1500" dirty="0"/>
          </a:p>
        </p:txBody>
      </p:sp>
      <p:sp>
        <p:nvSpPr>
          <p:cNvPr id="21" name="Text 15"/>
          <p:cNvSpPr/>
          <p:nvPr/>
        </p:nvSpPr>
        <p:spPr>
          <a:xfrm>
            <a:off x="11277295" y="6473952"/>
            <a:ext cx="365760" cy="228600"/>
          </a:xfrm>
          <a:prstGeom prst="rect">
            <a:avLst/>
          </a:prstGeom>
          <a:noFill/>
        </p:spPr>
        <p:txBody>
          <a:bodyPr wrap="square" lIns="0" tIns="0" rIns="0" bIns="0" rtlCol="0" anchor="t"/>
          <a:lstStyle/>
          <a:p>
            <a:pPr marL="0" indent="0" algn="r">
              <a:buNone/>
            </a:pPr>
            <a:r>
              <a:rPr lang="en-US" sz="900" dirty="0">
                <a:solidFill>
                  <a:srgbClr val="7D868E"/>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AF7F1"/>
        </a:solidFill>
        <a:effectLst/>
      </p:bgPr>
    </p:bg>
    <p:spTree>
      <p:nvGrpSpPr>
        <p:cNvPr id="1" name=""/>
        <p:cNvGrpSpPr/>
        <p:nvPr/>
      </p:nvGrpSpPr>
      <p:grpSpPr>
        <a:xfrm>
          <a:off x="0" y="0"/>
          <a:ext cx="0" cy="0"/>
          <a:chOff x="0" y="0"/>
          <a:chExt cx="0" cy="0"/>
        </a:xfrm>
      </p:grpSpPr>
      <p:sp>
        <p:nvSpPr>
          <p:cNvPr id="2" name="Text 0"/>
          <p:cNvSpPr/>
          <p:nvPr/>
        </p:nvSpPr>
        <p:spPr>
          <a:xfrm>
            <a:off x="548640" y="502920"/>
            <a:ext cx="5486400" cy="274320"/>
          </a:xfrm>
          <a:prstGeom prst="rect">
            <a:avLst/>
          </a:prstGeom>
          <a:noFill/>
        </p:spPr>
        <p:txBody>
          <a:bodyPr wrap="square" lIns="0" tIns="0" rIns="0" bIns="0" rtlCol="0" anchor="t"/>
          <a:lstStyle/>
          <a:p>
            <a:pPr marL="0" indent="0">
              <a:buNone/>
            </a:pPr>
            <a:r>
              <a:rPr lang="en-US" sz="1050" b="1" kern="0" spc="300" dirty="0">
                <a:solidFill>
                  <a:srgbClr val="0072A8"/>
                </a:solidFill>
                <a:latin typeface="Calibri" pitchFamily="34" charset="0"/>
                <a:ea typeface="Calibri" pitchFamily="34" charset="-122"/>
                <a:cs typeface="Calibri" pitchFamily="34" charset="-120"/>
              </a:rPr>
              <a:t>THE ROLLOUT NINETY DAYS</a:t>
            </a:r>
            <a:endParaRPr lang="en-US" sz="1050" dirty="0"/>
          </a:p>
        </p:txBody>
      </p:sp>
      <p:sp>
        <p:nvSpPr>
          <p:cNvPr id="3" name="Text 1"/>
          <p:cNvSpPr/>
          <p:nvPr/>
        </p:nvSpPr>
        <p:spPr>
          <a:xfrm>
            <a:off x="548640" y="822960"/>
            <a:ext cx="11094415" cy="731520"/>
          </a:xfrm>
          <a:prstGeom prst="rect">
            <a:avLst/>
          </a:prstGeom>
          <a:noFill/>
        </p:spPr>
        <p:txBody>
          <a:bodyPr wrap="square" lIns="0" tIns="0" rIns="0" bIns="0" rtlCol="0" anchor="t"/>
          <a:lstStyle/>
          <a:p>
            <a:pPr marL="0" indent="0">
              <a:buNone/>
            </a:pPr>
            <a:r>
              <a:rPr lang="en-US" sz="3000" dirty="0">
                <a:solidFill>
                  <a:srgbClr val="22303C"/>
                </a:solidFill>
                <a:latin typeface="Cambria" pitchFamily="34" charset="0"/>
                <a:ea typeface="Cambria" pitchFamily="34" charset="-122"/>
                <a:cs typeface="Cambria" pitchFamily="34" charset="-120"/>
              </a:rPr>
              <a:t>A 90-day pilot in two departments that share patients.</a:t>
            </a:r>
            <a:endParaRPr lang="en-US" sz="3000" dirty="0"/>
          </a:p>
        </p:txBody>
      </p:sp>
      <p:sp>
        <p:nvSpPr>
          <p:cNvPr id="4" name="Shape 2"/>
          <p:cNvSpPr/>
          <p:nvPr/>
        </p:nvSpPr>
        <p:spPr>
          <a:xfrm>
            <a:off x="548640" y="1783080"/>
            <a:ext cx="420624" cy="420624"/>
          </a:xfrm>
          <a:prstGeom prst="ellipse">
            <a:avLst/>
          </a:prstGeom>
          <a:solidFill>
            <a:srgbClr val="0072A8"/>
          </a:solidFill>
          <a:ln w="12700">
            <a:solidFill>
              <a:srgbClr val="0072A8"/>
            </a:solidFill>
            <a:prstDash val="solid"/>
          </a:ln>
        </p:spPr>
      </p:sp>
      <p:sp>
        <p:nvSpPr>
          <p:cNvPr id="5" name="Text 3"/>
          <p:cNvSpPr/>
          <p:nvPr/>
        </p:nvSpPr>
        <p:spPr>
          <a:xfrm>
            <a:off x="548640" y="1783080"/>
            <a:ext cx="420624" cy="420624"/>
          </a:xfrm>
          <a:prstGeom prst="rect">
            <a:avLst/>
          </a:prstGeom>
          <a:noFill/>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Shape 4"/>
          <p:cNvSpPr/>
          <p:nvPr/>
        </p:nvSpPr>
        <p:spPr>
          <a:xfrm>
            <a:off x="1060704" y="1993392"/>
            <a:ext cx="1408176" cy="0"/>
          </a:xfrm>
          <a:prstGeom prst="line">
            <a:avLst/>
          </a:prstGeom>
          <a:noFill/>
          <a:ln w="9525">
            <a:solidFill>
              <a:srgbClr val="CCE2EF"/>
            </a:solidFill>
            <a:prstDash val="solid"/>
          </a:ln>
        </p:spPr>
      </p:sp>
      <p:sp>
        <p:nvSpPr>
          <p:cNvPr id="7" name="Text 5"/>
          <p:cNvSpPr/>
          <p:nvPr/>
        </p:nvSpPr>
        <p:spPr>
          <a:xfrm>
            <a:off x="548640" y="2350008"/>
            <a:ext cx="1828800" cy="228600"/>
          </a:xfrm>
          <a:prstGeom prst="rect">
            <a:avLst/>
          </a:prstGeom>
          <a:noFill/>
        </p:spPr>
        <p:txBody>
          <a:bodyPr wrap="square" lIns="0" tIns="0" rIns="0" bIns="0" rtlCol="0" anchor="t"/>
          <a:lstStyle/>
          <a:p>
            <a:pPr marL="0" indent="0">
              <a:buNone/>
            </a:pPr>
            <a:r>
              <a:rPr lang="en-US" sz="1050" b="1" dirty="0">
                <a:solidFill>
                  <a:srgbClr val="0072A8"/>
                </a:solidFill>
                <a:latin typeface="Calibri" pitchFamily="34" charset="0"/>
                <a:ea typeface="Calibri" pitchFamily="34" charset="-122"/>
                <a:cs typeface="Calibri" pitchFamily="34" charset="-120"/>
              </a:rPr>
              <a:t>Weeks 0 to 2</a:t>
            </a:r>
            <a:endParaRPr lang="en-US" sz="1050" dirty="0"/>
          </a:p>
        </p:txBody>
      </p:sp>
      <p:sp>
        <p:nvSpPr>
          <p:cNvPr id="8" name="Text 6"/>
          <p:cNvSpPr/>
          <p:nvPr/>
        </p:nvSpPr>
        <p:spPr>
          <a:xfrm>
            <a:off x="548640" y="2587752"/>
            <a:ext cx="1828800" cy="320040"/>
          </a:xfrm>
          <a:prstGeom prst="rect">
            <a:avLst/>
          </a:prstGeom>
          <a:noFill/>
        </p:spPr>
        <p:txBody>
          <a:bodyPr wrap="square" lIns="0" tIns="0" rIns="0" bIns="0" rtlCol="0" anchor="t"/>
          <a:lstStyle/>
          <a:p>
            <a:pPr marL="0" indent="0">
              <a:buNone/>
            </a:pPr>
            <a:r>
              <a:rPr lang="en-US" sz="1400" b="1" dirty="0">
                <a:solidFill>
                  <a:srgbClr val="22303C"/>
                </a:solidFill>
                <a:latin typeface="Calibri" pitchFamily="34" charset="0"/>
                <a:ea typeface="Calibri" pitchFamily="34" charset="-122"/>
                <a:cs typeface="Calibri" pitchFamily="34" charset="-120"/>
              </a:rPr>
              <a:t>Provision and connect</a:t>
            </a:r>
            <a:endParaRPr lang="en-US" sz="1400" dirty="0"/>
          </a:p>
        </p:txBody>
      </p:sp>
      <p:sp>
        <p:nvSpPr>
          <p:cNvPr id="9" name="Text 7"/>
          <p:cNvSpPr/>
          <p:nvPr/>
        </p:nvSpPr>
        <p:spPr>
          <a:xfrm>
            <a:off x="548640" y="3163570"/>
            <a:ext cx="1737360" cy="1463040"/>
          </a:xfrm>
          <a:prstGeom prst="rect">
            <a:avLst/>
          </a:prstGeom>
          <a:noFill/>
        </p:spPr>
        <p:txBody>
          <a:bodyPr wrap="square" lIns="0" tIns="0" rIns="0" bIns="0" rtlCol="0" anchor="t"/>
          <a:lstStyle/>
          <a:p>
            <a:pPr marL="0" indent="0">
              <a:lnSpc>
                <a:spcPct val="112000"/>
              </a:lnSpc>
              <a:buNone/>
            </a:pPr>
            <a:r>
              <a:rPr lang="en-US" sz="1100" dirty="0">
                <a:solidFill>
                  <a:srgbClr val="3A4756"/>
                </a:solidFill>
                <a:latin typeface="Calibri" pitchFamily="34" charset="0"/>
                <a:ea typeface="Calibri" pitchFamily="34" charset="-122"/>
                <a:cs typeface="Calibri" pitchFamily="34" charset="-120"/>
              </a:rPr>
              <a:t>Tenant provisioned. LIS connected for finalised reports through a sandbox feed. Doctor SSO live.</a:t>
            </a:r>
            <a:endParaRPr lang="en-US" sz="1100" dirty="0"/>
          </a:p>
        </p:txBody>
      </p:sp>
      <p:sp>
        <p:nvSpPr>
          <p:cNvPr id="10" name="Shape 8"/>
          <p:cNvSpPr/>
          <p:nvPr/>
        </p:nvSpPr>
        <p:spPr>
          <a:xfrm>
            <a:off x="2560320" y="1783080"/>
            <a:ext cx="420624" cy="420624"/>
          </a:xfrm>
          <a:prstGeom prst="ellipse">
            <a:avLst/>
          </a:prstGeom>
          <a:solidFill>
            <a:srgbClr val="0072A8"/>
          </a:solidFill>
          <a:ln w="12700">
            <a:solidFill>
              <a:srgbClr val="0072A8"/>
            </a:solidFill>
            <a:prstDash val="solid"/>
          </a:ln>
        </p:spPr>
      </p:sp>
      <p:sp>
        <p:nvSpPr>
          <p:cNvPr id="11" name="Text 9"/>
          <p:cNvSpPr/>
          <p:nvPr/>
        </p:nvSpPr>
        <p:spPr>
          <a:xfrm>
            <a:off x="2560320" y="1783080"/>
            <a:ext cx="420624" cy="420624"/>
          </a:xfrm>
          <a:prstGeom prst="rect">
            <a:avLst/>
          </a:prstGeom>
          <a:noFill/>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Shape 10"/>
          <p:cNvSpPr/>
          <p:nvPr/>
        </p:nvSpPr>
        <p:spPr>
          <a:xfrm>
            <a:off x="3072384" y="1993392"/>
            <a:ext cx="1408176" cy="0"/>
          </a:xfrm>
          <a:prstGeom prst="line">
            <a:avLst/>
          </a:prstGeom>
          <a:noFill/>
          <a:ln w="9525">
            <a:solidFill>
              <a:srgbClr val="CCE2EF"/>
            </a:solidFill>
            <a:prstDash val="solid"/>
          </a:ln>
        </p:spPr>
      </p:sp>
      <p:sp>
        <p:nvSpPr>
          <p:cNvPr id="13" name="Text 11"/>
          <p:cNvSpPr/>
          <p:nvPr/>
        </p:nvSpPr>
        <p:spPr>
          <a:xfrm>
            <a:off x="2560320" y="2350008"/>
            <a:ext cx="1828800" cy="228600"/>
          </a:xfrm>
          <a:prstGeom prst="rect">
            <a:avLst/>
          </a:prstGeom>
          <a:noFill/>
        </p:spPr>
        <p:txBody>
          <a:bodyPr wrap="square" lIns="0" tIns="0" rIns="0" bIns="0" rtlCol="0" anchor="t"/>
          <a:lstStyle/>
          <a:p>
            <a:pPr marL="0" indent="0">
              <a:buNone/>
            </a:pPr>
            <a:r>
              <a:rPr lang="en-US" sz="1050" b="1" dirty="0">
                <a:solidFill>
                  <a:srgbClr val="0072A8"/>
                </a:solidFill>
                <a:latin typeface="Calibri" pitchFamily="34" charset="0"/>
                <a:ea typeface="Calibri" pitchFamily="34" charset="-122"/>
                <a:cs typeface="Calibri" pitchFamily="34" charset="-120"/>
              </a:rPr>
              <a:t>Weeks 2 to 6</a:t>
            </a:r>
            <a:endParaRPr lang="en-US" sz="1050" dirty="0"/>
          </a:p>
        </p:txBody>
      </p:sp>
      <p:sp>
        <p:nvSpPr>
          <p:cNvPr id="14" name="Text 12"/>
          <p:cNvSpPr/>
          <p:nvPr/>
        </p:nvSpPr>
        <p:spPr>
          <a:xfrm>
            <a:off x="2560320" y="2587752"/>
            <a:ext cx="1828800" cy="320040"/>
          </a:xfrm>
          <a:prstGeom prst="rect">
            <a:avLst/>
          </a:prstGeom>
          <a:noFill/>
        </p:spPr>
        <p:txBody>
          <a:bodyPr wrap="square" lIns="0" tIns="0" rIns="0" bIns="0" rtlCol="0" anchor="t"/>
          <a:lstStyle/>
          <a:p>
            <a:pPr marL="0" indent="0">
              <a:buNone/>
            </a:pPr>
            <a:r>
              <a:rPr lang="en-US" sz="1400" b="1" dirty="0">
                <a:solidFill>
                  <a:srgbClr val="22303C"/>
                </a:solidFill>
                <a:latin typeface="Calibri" pitchFamily="34" charset="0"/>
                <a:ea typeface="Calibri" pitchFamily="34" charset="-122"/>
                <a:cs typeface="Calibri" pitchFamily="34" charset="-120"/>
              </a:rPr>
              <a:t>Scan in two OPDs</a:t>
            </a:r>
            <a:endParaRPr lang="en-US" sz="1400" dirty="0"/>
          </a:p>
        </p:txBody>
      </p:sp>
      <p:sp>
        <p:nvSpPr>
          <p:cNvPr id="15" name="Text 13"/>
          <p:cNvSpPr/>
          <p:nvPr/>
        </p:nvSpPr>
        <p:spPr>
          <a:xfrm>
            <a:off x="2560320" y="3163570"/>
            <a:ext cx="1737360" cy="1463040"/>
          </a:xfrm>
          <a:prstGeom prst="rect">
            <a:avLst/>
          </a:prstGeom>
          <a:noFill/>
        </p:spPr>
        <p:txBody>
          <a:bodyPr wrap="square" lIns="0" tIns="0" rIns="0" bIns="0" rtlCol="0" anchor="t"/>
          <a:lstStyle/>
          <a:p>
            <a:pPr marL="0" indent="0">
              <a:lnSpc>
                <a:spcPct val="112000"/>
              </a:lnSpc>
              <a:buNone/>
            </a:pPr>
            <a:r>
              <a:rPr lang="en-US" sz="1100" dirty="0">
                <a:solidFill>
                  <a:srgbClr val="3A4756"/>
                </a:solidFill>
                <a:latin typeface="Calibri" pitchFamily="34" charset="0"/>
                <a:ea typeface="Calibri" pitchFamily="34" charset="-122"/>
                <a:cs typeface="Calibri" pitchFamily="34" charset="-120"/>
              </a:rPr>
              <a:t>Endocrinology and Cardiology scan patients. Briefs generated at scan. Clinicians rate every brief.</a:t>
            </a:r>
            <a:endParaRPr lang="en-US" sz="1100" dirty="0"/>
          </a:p>
        </p:txBody>
      </p:sp>
      <p:sp>
        <p:nvSpPr>
          <p:cNvPr id="16" name="Shape 14"/>
          <p:cNvSpPr/>
          <p:nvPr/>
        </p:nvSpPr>
        <p:spPr>
          <a:xfrm>
            <a:off x="4572000" y="1783080"/>
            <a:ext cx="420624" cy="420624"/>
          </a:xfrm>
          <a:prstGeom prst="ellipse">
            <a:avLst/>
          </a:prstGeom>
          <a:solidFill>
            <a:srgbClr val="0072A8"/>
          </a:solidFill>
          <a:ln w="12700">
            <a:solidFill>
              <a:srgbClr val="0072A8"/>
            </a:solidFill>
            <a:prstDash val="solid"/>
          </a:ln>
        </p:spPr>
      </p:sp>
      <p:sp>
        <p:nvSpPr>
          <p:cNvPr id="17" name="Text 15"/>
          <p:cNvSpPr/>
          <p:nvPr/>
        </p:nvSpPr>
        <p:spPr>
          <a:xfrm>
            <a:off x="4572000" y="1783080"/>
            <a:ext cx="420624" cy="420624"/>
          </a:xfrm>
          <a:prstGeom prst="rect">
            <a:avLst/>
          </a:prstGeom>
          <a:noFill/>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8" name="Shape 16"/>
          <p:cNvSpPr/>
          <p:nvPr/>
        </p:nvSpPr>
        <p:spPr>
          <a:xfrm>
            <a:off x="5084064" y="1993392"/>
            <a:ext cx="1408176" cy="0"/>
          </a:xfrm>
          <a:prstGeom prst="line">
            <a:avLst/>
          </a:prstGeom>
          <a:noFill/>
          <a:ln w="9525">
            <a:solidFill>
              <a:srgbClr val="CCE2EF"/>
            </a:solidFill>
            <a:prstDash val="solid"/>
          </a:ln>
        </p:spPr>
      </p:sp>
      <p:sp>
        <p:nvSpPr>
          <p:cNvPr id="19" name="Text 17"/>
          <p:cNvSpPr/>
          <p:nvPr/>
        </p:nvSpPr>
        <p:spPr>
          <a:xfrm>
            <a:off x="4572000" y="2350008"/>
            <a:ext cx="1828800" cy="228600"/>
          </a:xfrm>
          <a:prstGeom prst="rect">
            <a:avLst/>
          </a:prstGeom>
          <a:noFill/>
        </p:spPr>
        <p:txBody>
          <a:bodyPr wrap="square" lIns="0" tIns="0" rIns="0" bIns="0" rtlCol="0" anchor="t"/>
          <a:lstStyle/>
          <a:p>
            <a:pPr marL="0" indent="0">
              <a:buNone/>
            </a:pPr>
            <a:r>
              <a:rPr lang="en-US" sz="1050" b="1" dirty="0">
                <a:solidFill>
                  <a:srgbClr val="0072A8"/>
                </a:solidFill>
                <a:latin typeface="Calibri" pitchFamily="34" charset="0"/>
                <a:ea typeface="Calibri" pitchFamily="34" charset="-122"/>
                <a:cs typeface="Calibri" pitchFamily="34" charset="-120"/>
              </a:rPr>
              <a:t>Weeks 6 to 10</a:t>
            </a:r>
            <a:endParaRPr lang="en-US" sz="1050" dirty="0"/>
          </a:p>
        </p:txBody>
      </p:sp>
      <p:sp>
        <p:nvSpPr>
          <p:cNvPr id="20" name="Text 18"/>
          <p:cNvSpPr/>
          <p:nvPr/>
        </p:nvSpPr>
        <p:spPr>
          <a:xfrm>
            <a:off x="4572000" y="2587752"/>
            <a:ext cx="1828800" cy="320040"/>
          </a:xfrm>
          <a:prstGeom prst="rect">
            <a:avLst/>
          </a:prstGeom>
          <a:noFill/>
        </p:spPr>
        <p:txBody>
          <a:bodyPr wrap="square" lIns="0" tIns="0" rIns="0" bIns="0" rtlCol="0" anchor="t"/>
          <a:lstStyle/>
          <a:p>
            <a:pPr marL="0" indent="0">
              <a:buNone/>
            </a:pPr>
            <a:r>
              <a:rPr lang="en-US" sz="1400" b="1" dirty="0">
                <a:solidFill>
                  <a:srgbClr val="22303C"/>
                </a:solidFill>
                <a:latin typeface="Calibri" pitchFamily="34" charset="0"/>
                <a:ea typeface="Calibri" pitchFamily="34" charset="-122"/>
                <a:cs typeface="Calibri" pitchFamily="34" charset="-120"/>
              </a:rPr>
              <a:t>Shared care</a:t>
            </a:r>
            <a:endParaRPr lang="en-US" sz="1400" dirty="0"/>
          </a:p>
        </p:txBody>
      </p:sp>
      <p:sp>
        <p:nvSpPr>
          <p:cNvPr id="21" name="Text 19"/>
          <p:cNvSpPr/>
          <p:nvPr/>
        </p:nvSpPr>
        <p:spPr>
          <a:xfrm>
            <a:off x="4572000" y="3163570"/>
            <a:ext cx="1737360" cy="1463040"/>
          </a:xfrm>
          <a:prstGeom prst="rect">
            <a:avLst/>
          </a:prstGeom>
          <a:noFill/>
        </p:spPr>
        <p:txBody>
          <a:bodyPr wrap="square" lIns="0" tIns="0" rIns="0" bIns="0" rtlCol="0" anchor="t"/>
          <a:lstStyle/>
          <a:p>
            <a:pPr marL="0" indent="0">
              <a:lnSpc>
                <a:spcPct val="112000"/>
              </a:lnSpc>
              <a:buNone/>
            </a:pPr>
            <a:r>
              <a:rPr lang="en-US" sz="1100" dirty="0">
                <a:solidFill>
                  <a:srgbClr val="3A4756"/>
                </a:solidFill>
                <a:latin typeface="Calibri" pitchFamily="34" charset="0"/>
                <a:ea typeface="Calibri" pitchFamily="34" charset="-122"/>
                <a:cs typeface="Calibri" pitchFamily="34" charset="-120"/>
              </a:rPr>
              <a:t>Co-management grants across the two departments. Patients see reports and manage consent on their phones.</a:t>
            </a:r>
            <a:endParaRPr lang="en-US" sz="1100" dirty="0"/>
          </a:p>
        </p:txBody>
      </p:sp>
      <p:sp>
        <p:nvSpPr>
          <p:cNvPr id="22" name="Shape 20"/>
          <p:cNvSpPr/>
          <p:nvPr/>
        </p:nvSpPr>
        <p:spPr>
          <a:xfrm>
            <a:off x="6583680" y="1783080"/>
            <a:ext cx="420624" cy="420624"/>
          </a:xfrm>
          <a:prstGeom prst="ellipse">
            <a:avLst/>
          </a:prstGeom>
          <a:solidFill>
            <a:srgbClr val="0072A8"/>
          </a:solidFill>
          <a:ln w="12700">
            <a:solidFill>
              <a:srgbClr val="0072A8"/>
            </a:solidFill>
            <a:prstDash val="solid"/>
          </a:ln>
        </p:spPr>
      </p:sp>
      <p:sp>
        <p:nvSpPr>
          <p:cNvPr id="23" name="Text 21"/>
          <p:cNvSpPr/>
          <p:nvPr/>
        </p:nvSpPr>
        <p:spPr>
          <a:xfrm>
            <a:off x="6583680" y="1783080"/>
            <a:ext cx="420624" cy="420624"/>
          </a:xfrm>
          <a:prstGeom prst="rect">
            <a:avLst/>
          </a:prstGeom>
          <a:noFill/>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4" name="Text 22"/>
          <p:cNvSpPr/>
          <p:nvPr/>
        </p:nvSpPr>
        <p:spPr>
          <a:xfrm>
            <a:off x="6583680" y="2350008"/>
            <a:ext cx="1828800" cy="228600"/>
          </a:xfrm>
          <a:prstGeom prst="rect">
            <a:avLst/>
          </a:prstGeom>
          <a:noFill/>
        </p:spPr>
        <p:txBody>
          <a:bodyPr wrap="square" lIns="0" tIns="0" rIns="0" bIns="0" rtlCol="0" anchor="t"/>
          <a:lstStyle/>
          <a:p>
            <a:pPr marL="0" indent="0">
              <a:buNone/>
            </a:pPr>
            <a:r>
              <a:rPr lang="en-US" sz="1050" b="1" dirty="0">
                <a:solidFill>
                  <a:srgbClr val="0072A8"/>
                </a:solidFill>
                <a:latin typeface="Calibri" pitchFamily="34" charset="0"/>
                <a:ea typeface="Calibri" pitchFamily="34" charset="-122"/>
                <a:cs typeface="Calibri" pitchFamily="34" charset="-120"/>
              </a:rPr>
              <a:t>Weeks 10 to 12</a:t>
            </a:r>
            <a:endParaRPr lang="en-US" sz="1050" dirty="0"/>
          </a:p>
        </p:txBody>
      </p:sp>
      <p:sp>
        <p:nvSpPr>
          <p:cNvPr id="25" name="Text 23"/>
          <p:cNvSpPr/>
          <p:nvPr/>
        </p:nvSpPr>
        <p:spPr>
          <a:xfrm>
            <a:off x="6583680" y="2587752"/>
            <a:ext cx="1828800" cy="320040"/>
          </a:xfrm>
          <a:prstGeom prst="rect">
            <a:avLst/>
          </a:prstGeom>
          <a:noFill/>
        </p:spPr>
        <p:txBody>
          <a:bodyPr wrap="square" lIns="0" tIns="0" rIns="0" bIns="0" rtlCol="0" anchor="t"/>
          <a:lstStyle/>
          <a:p>
            <a:pPr marL="0" indent="0">
              <a:buNone/>
            </a:pPr>
            <a:r>
              <a:rPr lang="en-US" sz="1400" b="1" dirty="0">
                <a:solidFill>
                  <a:srgbClr val="22303C"/>
                </a:solidFill>
                <a:latin typeface="Calibri" pitchFamily="34" charset="0"/>
                <a:ea typeface="Calibri" pitchFamily="34" charset="-122"/>
                <a:cs typeface="Calibri" pitchFamily="34" charset="-120"/>
              </a:rPr>
              <a:t>Measure and decide</a:t>
            </a:r>
            <a:endParaRPr lang="en-US" sz="1400" dirty="0"/>
          </a:p>
        </p:txBody>
      </p:sp>
      <p:sp>
        <p:nvSpPr>
          <p:cNvPr id="26" name="Text 24"/>
          <p:cNvSpPr/>
          <p:nvPr/>
        </p:nvSpPr>
        <p:spPr>
          <a:xfrm>
            <a:off x="6583680" y="3163570"/>
            <a:ext cx="1737360" cy="1463040"/>
          </a:xfrm>
          <a:prstGeom prst="rect">
            <a:avLst/>
          </a:prstGeom>
          <a:noFill/>
        </p:spPr>
        <p:txBody>
          <a:bodyPr wrap="square" lIns="0" tIns="0" rIns="0" bIns="0" rtlCol="0" anchor="t"/>
          <a:lstStyle/>
          <a:p>
            <a:pPr marL="0" indent="0">
              <a:lnSpc>
                <a:spcPct val="112000"/>
              </a:lnSpc>
              <a:buNone/>
            </a:pPr>
            <a:r>
              <a:rPr lang="en-US" sz="1100" dirty="0">
                <a:solidFill>
                  <a:srgbClr val="3A4756"/>
                </a:solidFill>
                <a:latin typeface="Calibri" pitchFamily="34" charset="0"/>
                <a:ea typeface="Calibri" pitchFamily="34" charset="-122"/>
                <a:cs typeface="Calibri" pitchFamily="34" charset="-120"/>
              </a:rPr>
              <a:t>Results reviewed with this panel. Decision on hospital-wide rollout.</a:t>
            </a:r>
            <a:endParaRPr lang="en-US" sz="1100" dirty="0"/>
          </a:p>
        </p:txBody>
      </p:sp>
      <p:sp>
        <p:nvSpPr>
          <p:cNvPr id="27" name="Shape 25"/>
          <p:cNvSpPr/>
          <p:nvPr/>
        </p:nvSpPr>
        <p:spPr>
          <a:xfrm>
            <a:off x="8732520" y="1691640"/>
            <a:ext cx="2910535" cy="2834640"/>
          </a:xfrm>
          <a:prstGeom prst="roundRect">
            <a:avLst>
              <a:gd name="adj" fmla="val 3871"/>
            </a:avLst>
          </a:prstGeom>
          <a:solidFill>
            <a:srgbClr val="FFFFFF"/>
          </a:solidFill>
          <a:ln w="9525">
            <a:solidFill>
              <a:srgbClr val="ECE7DD"/>
            </a:solidFill>
            <a:prstDash val="solid"/>
          </a:ln>
          <a:effectLst>
            <a:outerShdw blurRad="101600" dist="25400" dir="5400000" algn="bl" rotWithShape="0">
              <a:srgbClr val="22303C">
                <a:alpha val="10000"/>
              </a:srgbClr>
            </a:outerShdw>
          </a:effectLst>
        </p:spPr>
      </p:sp>
      <p:sp>
        <p:nvSpPr>
          <p:cNvPr id="28" name="Text 26"/>
          <p:cNvSpPr/>
          <p:nvPr/>
        </p:nvSpPr>
        <p:spPr>
          <a:xfrm>
            <a:off x="9006840" y="1874520"/>
            <a:ext cx="2361895" cy="320040"/>
          </a:xfrm>
          <a:prstGeom prst="rect">
            <a:avLst/>
          </a:prstGeom>
          <a:noFill/>
        </p:spPr>
        <p:txBody>
          <a:bodyPr wrap="square" lIns="0" tIns="0" rIns="0" bIns="0" rtlCol="0" anchor="t"/>
          <a:lstStyle/>
          <a:p>
            <a:pPr marL="0" indent="0">
              <a:buNone/>
            </a:pPr>
            <a:r>
              <a:rPr lang="en-US" sz="1700" dirty="0">
                <a:solidFill>
                  <a:srgbClr val="22303C"/>
                </a:solidFill>
                <a:latin typeface="Cambria" pitchFamily="34" charset="0"/>
                <a:ea typeface="Cambria" pitchFamily="34" charset="-122"/>
                <a:cs typeface="Cambria" pitchFamily="34" charset="-120"/>
              </a:rPr>
              <a:t>What we will report</a:t>
            </a:r>
            <a:endParaRPr lang="en-US" sz="1700" dirty="0"/>
          </a:p>
        </p:txBody>
      </p:sp>
      <p:sp>
        <p:nvSpPr>
          <p:cNvPr id="29" name="Text 27"/>
          <p:cNvSpPr/>
          <p:nvPr/>
        </p:nvSpPr>
        <p:spPr>
          <a:xfrm>
            <a:off x="9006840" y="2286000"/>
            <a:ext cx="2361895" cy="2194560"/>
          </a:xfrm>
          <a:prstGeom prst="rect">
            <a:avLst/>
          </a:prstGeom>
          <a:noFill/>
        </p:spPr>
        <p:txBody>
          <a:bodyPr wrap="square" lIns="0" tIns="0" rIns="0" bIns="0" rtlCol="0" anchor="t"/>
          <a:lstStyle/>
          <a:p>
            <a:pPr marL="342900" indent="-342900">
              <a:spcAft>
                <a:spcPts val="500"/>
              </a:spcAft>
              <a:buSzPct val="100000"/>
              <a:buChar char="•"/>
            </a:pPr>
            <a:r>
              <a:rPr lang="en-US" sz="1150" dirty="0">
                <a:solidFill>
                  <a:srgbClr val="3A4756"/>
                </a:solidFill>
                <a:latin typeface="Calibri" pitchFamily="34" charset="0"/>
                <a:ea typeface="Calibri" pitchFamily="34" charset="-122"/>
                <a:cs typeface="Calibri" pitchFamily="34" charset="-120"/>
              </a:rPr>
              <a:t>Scan-to-chart time, against the 14 s target</a:t>
            </a:r>
            <a:endParaRPr lang="en-US" sz="1150" dirty="0"/>
          </a:p>
          <a:p>
            <a:pPr marL="342900" indent="-342900">
              <a:spcAft>
                <a:spcPts val="500"/>
              </a:spcAft>
              <a:buSzPct val="100000"/>
              <a:buChar char="•"/>
            </a:pPr>
            <a:r>
              <a:rPr lang="en-US" sz="1150" dirty="0">
                <a:solidFill>
                  <a:srgbClr val="3A4756"/>
                </a:solidFill>
                <a:latin typeface="Calibri" pitchFamily="34" charset="0"/>
                <a:ea typeface="Calibri" pitchFamily="34" charset="-122"/>
                <a:cs typeface="Calibri" pitchFamily="34" charset="-120"/>
              </a:rPr>
              <a:t>Minutes per consult, before and after</a:t>
            </a:r>
            <a:endParaRPr lang="en-US" sz="1150" dirty="0"/>
          </a:p>
          <a:p>
            <a:pPr marL="342900" indent="-342900">
              <a:spcAft>
                <a:spcPts val="500"/>
              </a:spcAft>
              <a:buSzPct val="100000"/>
              <a:buChar char="•"/>
            </a:pPr>
            <a:r>
              <a:rPr lang="en-US" sz="1150" dirty="0">
                <a:solidFill>
                  <a:srgbClr val="3A4756"/>
                </a:solidFill>
                <a:latin typeface="Calibri" pitchFamily="34" charset="0"/>
                <a:ea typeface="Calibri" pitchFamily="34" charset="-122"/>
                <a:cs typeface="Calibri" pitchFamily="34" charset="-120"/>
              </a:rPr>
              <a:t>Repeat investigations ordered</a:t>
            </a:r>
            <a:endParaRPr lang="en-US" sz="1150" dirty="0"/>
          </a:p>
          <a:p>
            <a:pPr marL="342900" indent="-342900">
              <a:spcAft>
                <a:spcPts val="500"/>
              </a:spcAft>
              <a:buSzPct val="100000"/>
              <a:buChar char="•"/>
            </a:pPr>
            <a:r>
              <a:rPr lang="en-US" sz="1150" dirty="0">
                <a:solidFill>
                  <a:srgbClr val="3A4756"/>
                </a:solidFill>
                <a:latin typeface="Calibri" pitchFamily="34" charset="0"/>
                <a:ea typeface="Calibri" pitchFamily="34" charset="-122"/>
                <a:cs typeface="Calibri" pitchFamily="34" charset="-120"/>
              </a:rPr>
              <a:t>Consent approvals, revocations, emergency accesses</a:t>
            </a:r>
            <a:endParaRPr lang="en-US" sz="1150" dirty="0"/>
          </a:p>
          <a:p>
            <a:pPr marL="342900" indent="-342900">
              <a:spcAft>
                <a:spcPts val="500"/>
              </a:spcAft>
              <a:buSzPct val="100000"/>
              <a:buChar char="•"/>
            </a:pPr>
            <a:r>
              <a:rPr lang="en-US" sz="1150" dirty="0">
                <a:solidFill>
                  <a:srgbClr val="3A4756"/>
                </a:solidFill>
                <a:latin typeface="Calibri" pitchFamily="34" charset="0"/>
                <a:ea typeface="Calibri" pitchFamily="34" charset="-122"/>
                <a:cs typeface="Calibri" pitchFamily="34" charset="-120"/>
              </a:rPr>
              <a:t>Brief accuracy, as rated by your clinicians</a:t>
            </a:r>
            <a:endParaRPr lang="en-US" sz="1150" dirty="0"/>
          </a:p>
        </p:txBody>
      </p:sp>
      <p:sp>
        <p:nvSpPr>
          <p:cNvPr id="30" name="Shape 28"/>
          <p:cNvSpPr/>
          <p:nvPr/>
        </p:nvSpPr>
        <p:spPr>
          <a:xfrm>
            <a:off x="548640" y="4800600"/>
            <a:ext cx="11094415" cy="1463040"/>
          </a:xfrm>
          <a:prstGeom prst="roundRect">
            <a:avLst>
              <a:gd name="adj" fmla="val 7500"/>
            </a:avLst>
          </a:prstGeom>
          <a:solidFill>
            <a:srgbClr val="22303C"/>
          </a:solidFill>
          <a:ln w="9525">
            <a:solidFill>
              <a:srgbClr val="22303C"/>
            </a:solidFill>
            <a:prstDash val="solid"/>
          </a:ln>
        </p:spPr>
      </p:sp>
      <p:sp>
        <p:nvSpPr>
          <p:cNvPr id="31" name="Text 29"/>
          <p:cNvSpPr/>
          <p:nvPr/>
        </p:nvSpPr>
        <p:spPr>
          <a:xfrm>
            <a:off x="868680" y="5001768"/>
            <a:ext cx="2743200" cy="274320"/>
          </a:xfrm>
          <a:prstGeom prst="rect">
            <a:avLst/>
          </a:prstGeom>
          <a:noFill/>
        </p:spPr>
        <p:txBody>
          <a:bodyPr wrap="square" lIns="0" tIns="0" rIns="0" bIns="0" rtlCol="0" anchor="t"/>
          <a:lstStyle/>
          <a:p>
            <a:pPr marL="0" indent="0">
              <a:buNone/>
            </a:pPr>
            <a:r>
              <a:rPr lang="en-US" sz="1050" b="1" kern="0" spc="300" dirty="0">
                <a:solidFill>
                  <a:srgbClr val="61AFDA"/>
                </a:solidFill>
                <a:latin typeface="Calibri" pitchFamily="34" charset="0"/>
                <a:ea typeface="Calibri" pitchFamily="34" charset="-122"/>
                <a:cs typeface="Calibri" pitchFamily="34" charset="-120"/>
              </a:rPr>
              <a:t>What we ask of you</a:t>
            </a:r>
            <a:endParaRPr lang="en-US" sz="1050" dirty="0"/>
          </a:p>
        </p:txBody>
      </p:sp>
      <p:pic>
        <p:nvPicPr>
          <p:cNvPr id="32" name="Image 0" descr="preencoded.png"/>
          <p:cNvPicPr>
            <a:picLocks noChangeAspect="1"/>
          </p:cNvPicPr>
          <p:nvPr/>
        </p:nvPicPr>
        <p:blipFill>
          <a:blip r:embed="rId1"/>
          <a:stretch>
            <a:fillRect/>
          </a:stretch>
        </p:blipFill>
        <p:spPr>
          <a:xfrm>
            <a:off x="868680" y="5367528"/>
            <a:ext cx="457200" cy="457200"/>
          </a:xfrm>
          <a:prstGeom prst="rect">
            <a:avLst/>
          </a:prstGeom>
        </p:spPr>
      </p:pic>
      <p:sp>
        <p:nvSpPr>
          <p:cNvPr id="33" name="Text 30"/>
          <p:cNvSpPr/>
          <p:nvPr/>
        </p:nvSpPr>
        <p:spPr>
          <a:xfrm>
            <a:off x="1435608" y="5303520"/>
            <a:ext cx="2926080" cy="274320"/>
          </a:xfrm>
          <a:prstGeom prst="rect">
            <a:avLst/>
          </a:prstGeom>
          <a:noFill/>
        </p:spPr>
        <p:txBody>
          <a:bodyPr wrap="square" lIns="0" tIns="0" rIns="0" bIns="0" rtlCol="0" anchor="t"/>
          <a:lstStyle/>
          <a:p>
            <a:pPr marL="0" indent="0">
              <a:buNone/>
            </a:pPr>
            <a:r>
              <a:rPr lang="en-US" sz="1350" b="1" dirty="0">
                <a:solidFill>
                  <a:srgbClr val="FFFFFF"/>
                </a:solidFill>
                <a:latin typeface="Calibri" pitchFamily="34" charset="0"/>
                <a:ea typeface="Calibri" pitchFamily="34" charset="-122"/>
                <a:cs typeface="Calibri" pitchFamily="34" charset="-120"/>
              </a:rPr>
              <a:t>Your clinical judgment</a:t>
            </a:r>
            <a:endParaRPr lang="en-US" sz="1350" dirty="0"/>
          </a:p>
        </p:txBody>
      </p:sp>
      <p:sp>
        <p:nvSpPr>
          <p:cNvPr id="34" name="Text 31"/>
          <p:cNvSpPr/>
          <p:nvPr/>
        </p:nvSpPr>
        <p:spPr>
          <a:xfrm>
            <a:off x="1435608" y="5586984"/>
            <a:ext cx="2926080" cy="548640"/>
          </a:xfrm>
          <a:prstGeom prst="rect">
            <a:avLst/>
          </a:prstGeom>
          <a:noFill/>
        </p:spPr>
        <p:txBody>
          <a:bodyPr wrap="square" lIns="0" tIns="0" rIns="0" bIns="0" rtlCol="0" anchor="t"/>
          <a:lstStyle/>
          <a:p>
            <a:pPr marL="0" indent="0">
              <a:lnSpc>
                <a:spcPct val="112000"/>
              </a:lnSpc>
              <a:buNone/>
            </a:pPr>
            <a:r>
              <a:rPr lang="en-US" sz="1100" dirty="0">
                <a:solidFill>
                  <a:srgbClr val="B9C6D1"/>
                </a:solidFill>
                <a:latin typeface="Calibri" pitchFamily="34" charset="0"/>
                <a:ea typeface="Calibri" pitchFamily="34" charset="-122"/>
                <a:cs typeface="Calibri" pitchFamily="34" charset="-120"/>
              </a:rPr>
              <a:t>Senior clinicians review the golden sets that gate our AI.</a:t>
            </a:r>
            <a:endParaRPr lang="en-US" sz="1100" dirty="0"/>
          </a:p>
        </p:txBody>
      </p:sp>
      <p:pic>
        <p:nvPicPr>
          <p:cNvPr id="35" name="Image 1" descr="preencoded.png"/>
          <p:cNvPicPr>
            <a:picLocks noChangeAspect="1"/>
          </p:cNvPicPr>
          <p:nvPr/>
        </p:nvPicPr>
        <p:blipFill>
          <a:blip r:embed="rId2"/>
          <a:stretch>
            <a:fillRect/>
          </a:stretch>
        </p:blipFill>
        <p:spPr>
          <a:xfrm>
            <a:off x="4480560" y="5367528"/>
            <a:ext cx="457200" cy="457200"/>
          </a:xfrm>
          <a:prstGeom prst="rect">
            <a:avLst/>
          </a:prstGeom>
        </p:spPr>
      </p:pic>
      <p:sp>
        <p:nvSpPr>
          <p:cNvPr id="36" name="Text 32"/>
          <p:cNvSpPr/>
          <p:nvPr/>
        </p:nvSpPr>
        <p:spPr>
          <a:xfrm>
            <a:off x="5047488" y="5303520"/>
            <a:ext cx="2926080" cy="274320"/>
          </a:xfrm>
          <a:prstGeom prst="rect">
            <a:avLst/>
          </a:prstGeom>
          <a:noFill/>
        </p:spPr>
        <p:txBody>
          <a:bodyPr wrap="square" lIns="0" tIns="0" rIns="0" bIns="0" rtlCol="0" anchor="t"/>
          <a:lstStyle/>
          <a:p>
            <a:pPr marL="0" indent="0">
              <a:buNone/>
            </a:pPr>
            <a:r>
              <a:rPr lang="en-US" sz="1350" b="1" dirty="0">
                <a:solidFill>
                  <a:srgbClr val="FFFFFF"/>
                </a:solidFill>
                <a:latin typeface="Calibri" pitchFamily="34" charset="0"/>
                <a:ea typeface="Calibri" pitchFamily="34" charset="-122"/>
                <a:cs typeface="Calibri" pitchFamily="34" charset="-120"/>
              </a:rPr>
              <a:t>Two departments, ninety days</a:t>
            </a:r>
            <a:endParaRPr lang="en-US" sz="1350" dirty="0"/>
          </a:p>
        </p:txBody>
      </p:sp>
      <p:sp>
        <p:nvSpPr>
          <p:cNvPr id="37" name="Text 33"/>
          <p:cNvSpPr/>
          <p:nvPr/>
        </p:nvSpPr>
        <p:spPr>
          <a:xfrm>
            <a:off x="5047488" y="5586984"/>
            <a:ext cx="2926080" cy="548640"/>
          </a:xfrm>
          <a:prstGeom prst="rect">
            <a:avLst/>
          </a:prstGeom>
          <a:noFill/>
        </p:spPr>
        <p:txBody>
          <a:bodyPr wrap="square" lIns="0" tIns="0" rIns="0" bIns="0" rtlCol="0" anchor="t"/>
          <a:lstStyle/>
          <a:p>
            <a:pPr marL="0" indent="0">
              <a:lnSpc>
                <a:spcPct val="112000"/>
              </a:lnSpc>
              <a:buNone/>
            </a:pPr>
            <a:r>
              <a:rPr lang="en-US" sz="1100" dirty="0">
                <a:solidFill>
                  <a:srgbClr val="B9C6D1"/>
                </a:solidFill>
                <a:latin typeface="Calibri" pitchFamily="34" charset="0"/>
                <a:ea typeface="Calibri" pitchFamily="34" charset="-122"/>
                <a:cs typeface="Calibri" pitchFamily="34" charset="-120"/>
              </a:rPr>
              <a:t>A pilot in the OPDs that already co-manage patients.</a:t>
            </a:r>
            <a:endParaRPr lang="en-US" sz="1100" dirty="0"/>
          </a:p>
        </p:txBody>
      </p:sp>
      <p:pic>
        <p:nvPicPr>
          <p:cNvPr id="38" name="Image 2" descr="preencoded.png"/>
          <p:cNvPicPr>
            <a:picLocks noChangeAspect="1"/>
          </p:cNvPicPr>
          <p:nvPr/>
        </p:nvPicPr>
        <p:blipFill>
          <a:blip r:embed="rId3"/>
          <a:stretch>
            <a:fillRect/>
          </a:stretch>
        </p:blipFill>
        <p:spPr>
          <a:xfrm>
            <a:off x="8092440" y="5367528"/>
            <a:ext cx="457200" cy="457200"/>
          </a:xfrm>
          <a:prstGeom prst="rect">
            <a:avLst/>
          </a:prstGeom>
        </p:spPr>
      </p:pic>
      <p:sp>
        <p:nvSpPr>
          <p:cNvPr id="39" name="Text 34"/>
          <p:cNvSpPr/>
          <p:nvPr/>
        </p:nvSpPr>
        <p:spPr>
          <a:xfrm>
            <a:off x="8659368" y="5303520"/>
            <a:ext cx="2926080" cy="274320"/>
          </a:xfrm>
          <a:prstGeom prst="rect">
            <a:avLst/>
          </a:prstGeom>
          <a:noFill/>
        </p:spPr>
        <p:txBody>
          <a:bodyPr wrap="square" lIns="0" tIns="0" rIns="0" bIns="0" rtlCol="0" anchor="t"/>
          <a:lstStyle/>
          <a:p>
            <a:pPr marL="0" indent="0">
              <a:buNone/>
            </a:pPr>
            <a:r>
              <a:rPr lang="en-US" sz="1350" b="1" dirty="0">
                <a:solidFill>
                  <a:srgbClr val="FFFFFF"/>
                </a:solidFill>
                <a:latin typeface="Calibri" pitchFamily="34" charset="0"/>
                <a:ea typeface="Calibri" pitchFamily="34" charset="-122"/>
                <a:cs typeface="Calibri" pitchFamily="34" charset="-120"/>
              </a:rPr>
              <a:t>Investment</a:t>
            </a:r>
            <a:endParaRPr lang="en-US" sz="1350" dirty="0"/>
          </a:p>
        </p:txBody>
      </p:sp>
      <p:sp>
        <p:nvSpPr>
          <p:cNvPr id="40" name="Text 35"/>
          <p:cNvSpPr/>
          <p:nvPr/>
        </p:nvSpPr>
        <p:spPr>
          <a:xfrm>
            <a:off x="8659368" y="5586984"/>
            <a:ext cx="2926080" cy="548640"/>
          </a:xfrm>
          <a:prstGeom prst="rect">
            <a:avLst/>
          </a:prstGeom>
          <a:noFill/>
        </p:spPr>
        <p:txBody>
          <a:bodyPr wrap="square" lIns="0" tIns="0" rIns="0" bIns="0" rtlCol="0" anchor="t"/>
          <a:lstStyle/>
          <a:p>
            <a:pPr marL="0" indent="0">
              <a:lnSpc>
                <a:spcPct val="112000"/>
              </a:lnSpc>
              <a:buNone/>
            </a:pPr>
            <a:r>
              <a:rPr lang="en-US" sz="1100" dirty="0">
                <a:solidFill>
                  <a:srgbClr val="B9C6D1"/>
                </a:solidFill>
                <a:latin typeface="Calibri" pitchFamily="34" charset="0"/>
                <a:ea typeface="Calibri" pitchFamily="34" charset="-122"/>
                <a:cs typeface="Calibri" pitchFamily="34" charset="-120"/>
              </a:rPr>
              <a:t>To take Mirai from this pilot to every OPD in the hospital.</a:t>
            </a:r>
            <a:endParaRPr lang="en-US" sz="1100" dirty="0"/>
          </a:p>
        </p:txBody>
      </p:sp>
      <p:sp>
        <p:nvSpPr>
          <p:cNvPr id="41" name="Text 36"/>
          <p:cNvSpPr/>
          <p:nvPr/>
        </p:nvSpPr>
        <p:spPr>
          <a:xfrm>
            <a:off x="11277295" y="6473952"/>
            <a:ext cx="365760" cy="228600"/>
          </a:xfrm>
          <a:prstGeom prst="rect">
            <a:avLst/>
          </a:prstGeom>
          <a:noFill/>
        </p:spPr>
        <p:txBody>
          <a:bodyPr wrap="square" lIns="0" tIns="0" rIns="0" bIns="0" rtlCol="0" anchor="t"/>
          <a:lstStyle/>
          <a:p>
            <a:pPr marL="0" indent="0" algn="r">
              <a:buNone/>
            </a:pPr>
            <a:r>
              <a:rPr lang="en-US" sz="900" dirty="0">
                <a:solidFill>
                  <a:srgbClr val="7D868E"/>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22303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548640" y="2103120"/>
            <a:ext cx="822960" cy="822960"/>
          </a:xfrm>
          <a:prstGeom prst="rect">
            <a:avLst/>
          </a:prstGeom>
        </p:spPr>
      </p:pic>
      <p:sp>
        <p:nvSpPr>
          <p:cNvPr id="3" name="Text 0"/>
          <p:cNvSpPr/>
          <p:nvPr/>
        </p:nvSpPr>
        <p:spPr>
          <a:xfrm>
            <a:off x="548640" y="3063240"/>
            <a:ext cx="7680960" cy="1645920"/>
          </a:xfrm>
          <a:prstGeom prst="rect">
            <a:avLst/>
          </a:prstGeom>
          <a:noFill/>
        </p:spPr>
        <p:txBody>
          <a:bodyPr wrap="square" lIns="0" tIns="0" rIns="0" bIns="0" rtlCol="0" anchor="t"/>
          <a:lstStyle/>
          <a:p>
            <a:pPr marL="0" indent="0">
              <a:lnSpc>
                <a:spcPct val="105000"/>
              </a:lnSpc>
              <a:buNone/>
            </a:pPr>
            <a:r>
              <a:rPr lang="en-US" sz="4000" dirty="0">
                <a:solidFill>
                  <a:srgbClr val="FFFFFF"/>
                </a:solidFill>
                <a:latin typeface="Cambria" pitchFamily="34" charset="0"/>
                <a:ea typeface="Cambria" pitchFamily="34" charset="-122"/>
                <a:cs typeface="Cambria" pitchFamily="34" charset="-120"/>
              </a:rPr>
              <a:t>The chart is ready before the patient sits down.</a:t>
            </a:r>
            <a:endParaRPr lang="en-US" sz="4000" dirty="0"/>
          </a:p>
        </p:txBody>
      </p:sp>
      <p:sp>
        <p:nvSpPr>
          <p:cNvPr id="4" name="Text 1"/>
          <p:cNvSpPr/>
          <p:nvPr/>
        </p:nvSpPr>
        <p:spPr>
          <a:xfrm>
            <a:off x="548640" y="4937760"/>
            <a:ext cx="5486400" cy="320040"/>
          </a:xfrm>
          <a:prstGeom prst="rect">
            <a:avLst/>
          </a:prstGeom>
          <a:noFill/>
        </p:spPr>
        <p:txBody>
          <a:bodyPr wrap="square" lIns="0" tIns="0" rIns="0" bIns="0" rtlCol="0" anchor="t"/>
          <a:lstStyle/>
          <a:p>
            <a:pPr marL="0" indent="0">
              <a:buNone/>
            </a:pPr>
            <a:r>
              <a:rPr lang="en-US" sz="1400" dirty="0">
                <a:solidFill>
                  <a:srgbClr val="61AFDA"/>
                </a:solidFill>
                <a:latin typeface="Calibri" pitchFamily="34" charset="0"/>
                <a:ea typeface="Calibri" pitchFamily="34" charset="-122"/>
                <a:cs typeface="Calibri" pitchFamily="34" charset="-120"/>
              </a:rPr>
              <a:t>Mirai · mirai.health</a:t>
            </a:r>
            <a:endParaRPr lang="en-US" sz="1400" dirty="0"/>
          </a:p>
        </p:txBody>
      </p:sp>
      <p:sp>
        <p:nvSpPr>
          <p:cNvPr id="5" name="Text 2"/>
          <p:cNvSpPr/>
          <p:nvPr/>
        </p:nvSpPr>
        <p:spPr>
          <a:xfrm>
            <a:off x="548640" y="5303520"/>
            <a:ext cx="6858000" cy="365760"/>
          </a:xfrm>
          <a:prstGeom prst="rect">
            <a:avLst/>
          </a:prstGeom>
          <a:noFill/>
        </p:spPr>
        <p:txBody>
          <a:bodyPr wrap="square" lIns="0" tIns="0" rIns="0" bIns="0" rtlCol="0" anchor="t"/>
          <a:lstStyle/>
          <a:p>
            <a:pPr marL="0" indent="0">
              <a:buNone/>
            </a:pPr>
            <a:r>
              <a:rPr lang="en-US" sz="1200" dirty="0">
                <a:solidFill>
                  <a:srgbClr val="8FA1B0"/>
                </a:solidFill>
                <a:latin typeface="Calibri" pitchFamily="34" charset="0"/>
                <a:ea typeface="Calibri" pitchFamily="34" charset="-122"/>
                <a:cs typeface="Calibri" pitchFamily="34" charset="-120"/>
              </a:rPr>
              <a:t>Interactive prototype, architecture and component design available for the panel’s review.</a:t>
            </a:r>
            <a:endParaRPr lang="en-US" sz="1200" dirty="0"/>
          </a:p>
        </p:txBody>
      </p:sp>
      <p:pic>
        <p:nvPicPr>
          <p:cNvPr id="6" name="Image 1" descr="preencoded.png"/>
          <p:cNvPicPr>
            <a:picLocks noChangeAspect="1"/>
          </p:cNvPicPr>
          <p:nvPr/>
        </p:nvPicPr>
        <p:blipFill>
          <a:blip r:embed="rId2"/>
          <a:stretch>
            <a:fillRect/>
          </a:stretch>
        </p:blipFill>
        <p:spPr>
          <a:xfrm>
            <a:off x="9006840" y="685800"/>
            <a:ext cx="2691726" cy="5852160"/>
          </a:xfrm>
          <a:prstGeom prst="rect">
            <a:avLst/>
          </a:prstGeom>
          <a:effectLst>
            <a:outerShdw blurRad="101600" dist="25400" dir="5400000" algn="bl" rotWithShape="0">
              <a:srgbClr val="22303C">
                <a:alpha val="10000"/>
              </a:srgbClr>
            </a:outerShdw>
          </a:effec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12649</Words>
  <Application>WPS Presentation</Application>
  <PresentationFormat>On-screen Show (16:9)</PresentationFormat>
  <Paragraphs>506</Paragraphs>
  <Slides>18</Slides>
  <Notes>18</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18</vt:i4>
      </vt:variant>
    </vt:vector>
  </HeadingPairs>
  <TitlesOfParts>
    <vt:vector size="34" baseType="lpstr">
      <vt:lpstr>Arial</vt:lpstr>
      <vt:lpstr>SimSun</vt:lpstr>
      <vt:lpstr>Wingdings</vt:lpstr>
      <vt:lpstr>Cambria</vt:lpstr>
      <vt:lpstr>苹方-简</vt:lpstr>
      <vt:lpstr>Cambria</vt:lpstr>
      <vt:lpstr>Cambria</vt:lpstr>
      <vt:lpstr>Calibri</vt:lpstr>
      <vt:lpstr>Calibri</vt:lpstr>
      <vt:lpstr>Calibri</vt:lpstr>
      <vt:lpstr>Helvetica Neue</vt:lpstr>
      <vt:lpstr>Microsoft YaHei</vt:lpstr>
      <vt:lpstr>汉仪旗黑</vt:lpstr>
      <vt:lpstr>Arial Unicode MS</vt:lpstr>
      <vt:lpstr>宋体-简</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Mirai — Investor panel</dc:title>
  <dc:creator>Mirai</dc:creator>
  <dc:subject>PptxGenJS Presentation</dc:subject>
  <cp:lastModifiedBy>Pallav Parikh</cp:lastModifiedBy>
  <cp:revision>2</cp:revision>
  <dcterms:created xsi:type="dcterms:W3CDTF">2026-09-01T20:45:46Z</dcterms:created>
  <dcterms:modified xsi:type="dcterms:W3CDTF">2026-09-01T20:45:46Z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1033-12.1.26050.26050</vt:lpwstr>
  </property>
  <property fmtid="{D5CDD505-2E9C-101B-9397-08002B2CF9AE}" pid="3" name="ICV">
    <vt:lpwstr>1CEFAC537995C8247A39976A785ED5D5_42</vt:lpwstr>
  </property>
</Properties>
</file>